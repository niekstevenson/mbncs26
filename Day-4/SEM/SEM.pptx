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3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58" r:id="rId30"/>
    <p:sldId id="259" r:id="rId31"/>
    <p:sldId id="260" r:id="rId32"/>
    <p:sldId id="261" r:id="rId33"/>
    <p:sldId id="309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4" r:id="rId46"/>
    <p:sldId id="305" r:id="rId47"/>
    <p:sldId id="308" r:id="rId48"/>
    <p:sldId id="313" r:id="rId49"/>
    <p:sldId id="314" r:id="rId50"/>
    <p:sldId id="315" r:id="rId51"/>
    <p:sldId id="316" r:id="rId52"/>
  </p:sldIdLst>
  <p:sldSz cx="9144000" cy="5143500" type="screen16x9"/>
  <p:notesSz cx="6858000" cy="9144000"/>
  <p:embeddedFontLst>
    <p:embeddedFont>
      <p:font typeface="Jolly Lodger" panose="02000000000000000000" pitchFamily="2" charset="0"/>
      <p:regular r:id="rId54"/>
    </p:embeddedFont>
    <p:embeddedFont>
      <p:font typeface="Proxima Nova" panose="02000506030000020004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4"/>
    <p:restoredTop sz="94658"/>
  </p:normalViewPr>
  <p:slideViewPr>
    <p:cSldViewPr snapToGrid="0">
      <p:cViewPr varScale="1">
        <p:scale>
          <a:sx n="127" d="100"/>
          <a:sy n="127" d="100"/>
        </p:scale>
        <p:origin x="184" y="7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463e4c5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463e4c5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4f62a1f4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4f62a1f4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4f62a1f4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4f62a1f4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4f62a1f4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4f62a1f4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4f62a1f4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4f62a1f4d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4f62a1f4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4f62a1f4d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4f62a1f4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4f62a1f4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4f62a1f4d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4f62a1f4d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f62a1f4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4f62a1f4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4f62a1f4d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4f62a1f4d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4f62a1f4d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4f62a1f4d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f62a1f4d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f62a1f4d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1a7310ec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1a7310ec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4f62a1f4d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4f62a1f4d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1a7310ec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1a7310ec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4f62a1f4d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4f62a1f4d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4f62a1f4d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4f62a1f4d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4f62a1f4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4f62a1f4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4f62a1f4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4f62a1f4d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1a7310ec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1a7310ec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4f62a1f4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4f62a1f4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1a7310ec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1a7310ec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4f62a1f4d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4f62a1f4d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19b19cf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19b19cf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19b19cf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19b19cf2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19b19cf2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19b19cf2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b196909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b196909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1bc19fa58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1bc19fa58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bb3974203_0_1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1bb3974203_0_1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1bb3974203_0_1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1bb3974203_0_1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1bb3974203_0_1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1bb3974203_0_1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463e4c59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463e4c59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b1969092a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b1969092a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1a7310ec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1a7310ec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4f62a1f4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4f62a1f4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1a1d231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1a1d231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b1969092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b1969092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b196909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b196909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b1969092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7b1969092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b196909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b1969092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b1969092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b1969092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8bc443e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8bc443e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b1969092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7b1969092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b1969092a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7b1969092a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b1969092a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b1969092a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1a7310ec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71a7310ec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34aae6058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34aae6058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34aae6058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34aae6058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34aae6058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34aae6058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34aae6058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34aae6058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Bayesian hierarchical SEM for model-based psychological research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39"/>
            <a:ext cx="8123100" cy="13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Niek Stevenson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Individual differences</a:t>
            </a:r>
            <a:endParaRPr sz="3020"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Cronbach’s divide (1957, 1975)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Individual differences</a:t>
            </a:r>
            <a:endParaRPr sz="302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Cronbach’s divide (1957, 1975)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Cognitive models target experimental manipulations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Individual differences</a:t>
            </a:r>
            <a:endParaRPr sz="3020"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Cronbach’s divide (1957, 1975)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Cognitive models target experimental manipulations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Individual differences are increasingly of interest</a:t>
            </a:r>
            <a:endParaRPr sz="2400">
              <a:solidFill>
                <a:schemeClr val="accent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</a:pPr>
            <a:r>
              <a:rPr lang="nl" sz="2400">
                <a:solidFill>
                  <a:schemeClr val="accent1"/>
                </a:solidFill>
              </a:rPr>
              <a:t>Performance across multiple tasks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EAMs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5" y="1017725"/>
            <a:ext cx="5168776" cy="3863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2"/>
          <p:cNvCxnSpPr/>
          <p:nvPr/>
        </p:nvCxnSpPr>
        <p:spPr>
          <a:xfrm>
            <a:off x="4627475" y="1880950"/>
            <a:ext cx="0" cy="1894500"/>
          </a:xfrm>
          <a:prstGeom prst="straightConnector1">
            <a:avLst/>
          </a:prstGeom>
          <a:noFill/>
          <a:ln w="22000" cap="flat" cmpd="sng">
            <a:solidFill>
              <a:srgbClr val="595959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129" name="Google Shape;129;p22"/>
          <p:cNvSpPr txBox="1"/>
          <p:nvPr/>
        </p:nvSpPr>
        <p:spPr>
          <a:xfrm>
            <a:off x="4742445" y="2519638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2745157" y="2072813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241145" y="2439013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t0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EAMs</a:t>
            </a: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Are people with higher drift rates more efficient across tasks?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5" y="1813328"/>
            <a:ext cx="4104475" cy="30682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3"/>
          <p:cNvCxnSpPr/>
          <p:nvPr/>
        </p:nvCxnSpPr>
        <p:spPr>
          <a:xfrm>
            <a:off x="3770901" y="2498807"/>
            <a:ext cx="0" cy="1504500"/>
          </a:xfrm>
          <a:prstGeom prst="straightConnector1">
            <a:avLst/>
          </a:prstGeom>
          <a:noFill/>
          <a:ln w="17475" cap="flat" cmpd="sng">
            <a:solidFill>
              <a:srgbClr val="595959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140" name="Google Shape;140;p23"/>
          <p:cNvSpPr txBox="1"/>
          <p:nvPr/>
        </p:nvSpPr>
        <p:spPr>
          <a:xfrm>
            <a:off x="3862198" y="3005983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2276171" y="2651164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1081849" y="2941960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t0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EAMs</a:t>
            </a:r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Are people with higher drift rates more efficient across tasks?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Higher thresholds more cautious across tasks?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5" y="1813328"/>
            <a:ext cx="4104475" cy="30682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4"/>
          <p:cNvCxnSpPr/>
          <p:nvPr/>
        </p:nvCxnSpPr>
        <p:spPr>
          <a:xfrm>
            <a:off x="3770901" y="2498807"/>
            <a:ext cx="0" cy="1504500"/>
          </a:xfrm>
          <a:prstGeom prst="straightConnector1">
            <a:avLst/>
          </a:prstGeom>
          <a:noFill/>
          <a:ln w="17475" cap="flat" cmpd="sng">
            <a:solidFill>
              <a:srgbClr val="595959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151" name="Google Shape;151;p24"/>
          <p:cNvSpPr txBox="1"/>
          <p:nvPr/>
        </p:nvSpPr>
        <p:spPr>
          <a:xfrm>
            <a:off x="3862198" y="3005983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2276171" y="2651164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1081849" y="2941960"/>
            <a:ext cx="4872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850" tIns="83850" rIns="83850" bIns="83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65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t0</a:t>
            </a:r>
            <a:endParaRPr sz="165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Correlational Challenges</a:t>
            </a:r>
            <a:endParaRPr sz="3020"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Correlational Challenges</a:t>
            </a:r>
            <a:endParaRPr sz="3020"/>
          </a:p>
        </p:txBody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Dimensionality</a:t>
            </a:r>
            <a:endParaRPr sz="240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Correlational Challenges</a:t>
            </a:r>
            <a:endParaRPr sz="3020"/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Dimensionality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Interpretation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Dimensionality</a:t>
            </a:r>
            <a:endParaRPr sz="3020"/>
          </a:p>
        </p:txBody>
      </p:sp>
      <p:sp>
        <p:nvSpPr>
          <p:cNvPr id="177" name="Google Shape;17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Correlations grow quadratically with the number of constructs</a:t>
            </a:r>
            <a:endParaRPr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Dimensionality</a:t>
            </a:r>
            <a:endParaRPr sz="3020"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Correlations grow quadratically with the number of constructs</a:t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001" y="1762374"/>
            <a:ext cx="4940174" cy="304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Interpretation</a:t>
            </a:r>
            <a:endParaRPr sz="3020"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Too many correlations muddy the water</a:t>
            </a:r>
            <a:endParaRPr sz="21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Interpretation</a:t>
            </a:r>
            <a:endParaRPr sz="3020"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Too many correlations muddy the water</a:t>
            </a:r>
            <a:endParaRPr sz="2100">
              <a:solidFill>
                <a:schemeClr val="accen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Often the question of interest spans tasks/contexts</a:t>
            </a:r>
            <a:endParaRPr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Interpretation</a:t>
            </a:r>
            <a:endParaRPr sz="3020"/>
          </a:p>
        </p:txBody>
      </p:sp>
      <p:sp>
        <p:nvSpPr>
          <p:cNvPr id="202" name="Google Shape;20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Too many correlations muddy the water</a:t>
            </a:r>
            <a:endParaRPr sz="2100">
              <a:solidFill>
                <a:schemeClr val="accen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Often the question of interest spans tasks/contexts</a:t>
            </a:r>
            <a:endParaRPr sz="2100">
              <a:solidFill>
                <a:schemeClr val="accent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○"/>
            </a:pPr>
            <a:r>
              <a:rPr lang="nl" sz="2100">
                <a:solidFill>
                  <a:schemeClr val="accent1"/>
                </a:solidFill>
              </a:rPr>
              <a:t>“Are drift rates consistent across tasks?”</a:t>
            </a:r>
            <a:endParaRPr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Factor analysis </a:t>
            </a:r>
            <a:endParaRPr sz="30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Factor analysis </a:t>
            </a:r>
            <a:endParaRPr sz="3020"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Dimensionality reduction tool</a:t>
            </a:r>
            <a:endParaRPr sz="2100">
              <a:solidFill>
                <a:schemeClr val="accen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Facilitates interpretation</a:t>
            </a:r>
            <a:endParaRPr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Factor analysis </a:t>
            </a:r>
            <a:endParaRPr sz="3020"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Dimensionality reduction tool</a:t>
            </a:r>
            <a:endParaRPr sz="2100">
              <a:solidFill>
                <a:schemeClr val="accen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Facilitates interpretation</a:t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220" name="Google Shape;220;p35"/>
          <p:cNvPicPr preferRelativeResize="0"/>
          <p:nvPr/>
        </p:nvPicPr>
        <p:blipFill rotWithShape="1">
          <a:blip r:embed="rId3">
            <a:alphaModFix/>
          </a:blip>
          <a:srcRect r="71320"/>
          <a:stretch/>
        </p:blipFill>
        <p:spPr>
          <a:xfrm>
            <a:off x="152375" y="2201775"/>
            <a:ext cx="2535148" cy="275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Factor analysis </a:t>
            </a:r>
            <a:endParaRPr sz="3020"/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Dimensionality reduction tool</a:t>
            </a:r>
            <a:endParaRPr sz="2100">
              <a:solidFill>
                <a:schemeClr val="accen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</a:pPr>
            <a:r>
              <a:rPr lang="nl" sz="2100">
                <a:solidFill>
                  <a:schemeClr val="accent1"/>
                </a:solidFill>
              </a:rPr>
              <a:t>Facilitates interpretation</a:t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227" name="Google Shape;2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75" y="2201775"/>
            <a:ext cx="8839250" cy="275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Conventional Approach</a:t>
            </a:r>
            <a:endParaRPr sz="3020"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Two-step: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Conventional Approach</a:t>
            </a:r>
            <a:endParaRPr sz="3020"/>
          </a:p>
        </p:txBody>
      </p:sp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Two-step:</a:t>
            </a:r>
            <a:endParaRPr sz="2400">
              <a:solidFill>
                <a:schemeClr val="accent1"/>
              </a:solidFill>
            </a:endParaRPr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AutoNum type="arabicPeriod"/>
            </a:pPr>
            <a:r>
              <a:rPr lang="nl" sz="2400">
                <a:solidFill>
                  <a:schemeClr val="accent1"/>
                </a:solidFill>
              </a:rPr>
              <a:t>Get parameters per person per task/condition</a:t>
            </a:r>
            <a:endParaRPr sz="2400">
              <a:solidFill>
                <a:schemeClr val="accent1"/>
              </a:solidFill>
            </a:endParaRPr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AutoNum type="arabicPeriod"/>
            </a:pPr>
            <a:r>
              <a:rPr lang="nl" sz="2400">
                <a:solidFill>
                  <a:schemeClr val="accent1"/>
                </a:solidFill>
              </a:rPr>
              <a:t>Correlate/run FA/SEM</a:t>
            </a: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Two-step Approach</a:t>
            </a:r>
            <a:endParaRPr sz="3020"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Two-step model ignores uncertainty in participant level estimates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Unaccounted variance dilutes relationship estimates:</a:t>
            </a:r>
            <a:endParaRPr sz="2100"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2700" i="1">
                <a:solidFill>
                  <a:schemeClr val="dk1"/>
                </a:solidFill>
              </a:rPr>
              <a:t> 						   </a:t>
            </a:r>
            <a:endParaRPr sz="3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Two-step Approach</a:t>
            </a:r>
            <a:endParaRPr sz="3020"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311700" y="1160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Two-step model ignores uncertainty in participant level estimates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Unaccounted variance dilutes relationship estimates:</a:t>
            </a:r>
            <a:endParaRPr sz="2100"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2700" i="1">
                <a:solidFill>
                  <a:schemeClr val="dk1"/>
                </a:solidFill>
              </a:rPr>
              <a:t> 						   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3456550" y="3299450"/>
            <a:ext cx="28281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Attenuation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1" name="Google Shape;27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5975" y="2138375"/>
            <a:ext cx="4209075" cy="29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3"/>
          <p:cNvSpPr txBox="1"/>
          <p:nvPr/>
        </p:nvSpPr>
        <p:spPr>
          <a:xfrm>
            <a:off x="3530975" y="4349625"/>
            <a:ext cx="33987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4400" b="1">
                <a:solidFill>
                  <a:schemeClr val="lt1"/>
                </a:solidFill>
                <a:latin typeface="Jolly Lodger"/>
                <a:ea typeface="Jolly Lodger"/>
                <a:cs typeface="Jolly Lodger"/>
                <a:sym typeface="Jolly Lodger"/>
              </a:rPr>
              <a:t>Attenuation</a:t>
            </a:r>
            <a:endParaRPr sz="4400" b="1">
              <a:solidFill>
                <a:schemeClr val="lt1"/>
              </a:solidFill>
              <a:latin typeface="Jolly Lodger"/>
              <a:ea typeface="Jolly Lodger"/>
              <a:cs typeface="Jolly Lodger"/>
              <a:sym typeface="Jolly Lodg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Model </a:t>
            </a:r>
            <a:endParaRPr/>
          </a:p>
        </p:txBody>
      </p:sp>
      <p:sp>
        <p:nvSpPr>
          <p:cNvPr id="278" name="Google Shape;278;p4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100"/>
              <a:buFont typeface="Proxima Nova"/>
              <a:buChar char="●"/>
            </a:pPr>
            <a:r>
              <a:rPr lang="nl" sz="21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Account for uncertainty at all data-levels</a:t>
            </a:r>
            <a:endParaRPr sz="21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2100"/>
              <a:buFont typeface="Proxima Nova"/>
              <a:buChar char="●"/>
            </a:pPr>
            <a:r>
              <a:rPr lang="nl" sz="21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Provides accurate estimates of the relationships</a:t>
            </a:r>
            <a:endParaRPr sz="21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Cognitive Models</a:t>
            </a:r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Typically applied in a mean-variance group-model for subject </a:t>
            </a:r>
            <a:r>
              <a:rPr lang="nl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n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85" name="Google Shape;285;p45" title="[32,39,41,&quot;https://www.codecogs.com/eqnedit.php?latex=v_%7Bi%7D%20%5Csim%20%5Cmathcal%7BN%7D(%5Cmu_v%2C%20%5Csigma_v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50" y="1602450"/>
            <a:ext cx="2099524" cy="3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Cognitive Models</a:t>
            </a:r>
            <a:endParaRPr/>
          </a:p>
        </p:txBody>
      </p:sp>
      <p:sp>
        <p:nvSpPr>
          <p:cNvPr id="291" name="Google Shape;291;p46"/>
          <p:cNvSpPr txBox="1">
            <a:spLocks noGrp="1"/>
          </p:cNvSpPr>
          <p:nvPr>
            <p:ph type="body" idx="1"/>
          </p:nvPr>
        </p:nvSpPr>
        <p:spPr>
          <a:xfrm>
            <a:off x="311700" y="114373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Typically applied in a mean-variance group-model for subject </a:t>
            </a:r>
            <a:r>
              <a:rPr lang="nl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n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Factor Analysis: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2" name="Google Shape;292;p46" title="[0,0,0,&quot;https://www.codecogs.com/eqnedit.php?latex=v_%7Bi1%7D%2C%20v_%7Bi2%7D%2C%20v_%7Bi3%7D%20%5Csim%20%5Cmathcal%7BMVN%7D(%5Cmu_%7Bv1%7D%2C%20%5Cmu_%7Bv2%7D%2C%20%5Cmu_%7Bv3%7D%2C%20%5CLambda%20%5CLambda%5ET%20%2B%20%5COmega%20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975" y="2541700"/>
            <a:ext cx="5789135" cy="3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6" title="[32,39,41,&quot;https://www.codecogs.com/eqnedit.php?latex=v_%7Bi%7D%20%5Csim%20%5Cmathcal%7BN%7D(%5Cmu_v%2C%20%5Csigma_v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050" y="1602450"/>
            <a:ext cx="2099524" cy="3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6" title="[32,39,41,&quot;https://www.codecogs.com/eqnedit.php?latex=p(%5Cmu%2C%20%5CLambda%2C%20%5COmega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9663" y="3554800"/>
            <a:ext cx="1250025" cy="3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6"/>
          <p:cNvSpPr txBox="1"/>
          <p:nvPr/>
        </p:nvSpPr>
        <p:spPr>
          <a:xfrm>
            <a:off x="1931950" y="3458625"/>
            <a:ext cx="7431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prior: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Cognitive Models</a:t>
            </a:r>
            <a:endParaRPr/>
          </a:p>
        </p:txBody>
      </p:sp>
      <p:sp>
        <p:nvSpPr>
          <p:cNvPr id="301" name="Google Shape;301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Typically applied in a mean-variance group-model for subject </a:t>
            </a:r>
            <a:r>
              <a:rPr lang="nl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n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➔"/>
            </a:pPr>
            <a:r>
              <a:rPr lang="nl">
                <a:solidFill>
                  <a:schemeClr val="dk1"/>
                </a:solidFill>
              </a:rPr>
              <a:t>Still attenuates as correlations estimated in a second step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Factor Analysis: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2" name="Google Shape;302;p47" title="[32,39,41,&quot;https://www.codecogs.com/eqnedit.php?latex=v_%7Bi%7D%20%5Csim%20%5Cmathcal%7BN%7D(%5Cmu_v%2C%20%5Csigma_v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50" y="1602450"/>
            <a:ext cx="2099524" cy="3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7" title="[0,0,0,&quot;https://www.codecogs.com/eqnedit.php?latex=v_%7Bi1%7D%2C%20v_%7Bi2%7D%2C%20v_%7Bi3%7D%20%5Csim%20%5Cmathcal%7BMVN%7D(%5Cmu_%7Bv1%7D%2C%20%5Cmu_%7Bv2%7D%2C%20%5Cmu_%7Bv3%7D%2C%20%5CLambda%20%5CLambda%5ET%20%2B%20%5COmega%20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050" y="2827850"/>
            <a:ext cx="5789135" cy="3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1700" y="53275"/>
            <a:ext cx="7841649" cy="244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Structural equation models</a:t>
            </a:r>
            <a:endParaRPr/>
          </a:p>
        </p:txBody>
      </p:sp>
      <p:sp>
        <p:nvSpPr>
          <p:cNvPr id="310" name="Google Shape;31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48450" y="152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What are structural equation models?</a:t>
            </a:r>
            <a:endParaRPr sz="3020"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r="9264"/>
          <a:stretch/>
        </p:blipFill>
        <p:spPr>
          <a:xfrm>
            <a:off x="775550" y="688025"/>
            <a:ext cx="6413567" cy="43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471100" y="4663450"/>
            <a:ext cx="367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222222"/>
                </a:solidFill>
                <a:highlight>
                  <a:srgbClr val="FFFFFF"/>
                </a:highlight>
              </a:rPr>
              <a:t>Song &amp; Lee (2012). </a:t>
            </a:r>
            <a:r>
              <a:rPr lang="nl" sz="1000" i="1">
                <a:solidFill>
                  <a:srgbClr val="222222"/>
                </a:solidFill>
                <a:highlight>
                  <a:srgbClr val="FFFFFF"/>
                </a:highlight>
              </a:rPr>
              <a:t>Journal of Mathematical Psychology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1440200" y="4495800"/>
            <a:ext cx="746700" cy="40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434343"/>
                </a:solidFill>
              </a:rPr>
              <a:t>Waist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440200" y="3680450"/>
            <a:ext cx="746700" cy="40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434343"/>
                </a:solidFill>
              </a:rPr>
              <a:t>Hip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 rot="-3759744">
            <a:off x="3657710" y="3171633"/>
            <a:ext cx="686580" cy="2810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/>
          <p:nvPr/>
        </p:nvSpPr>
        <p:spPr>
          <a:xfrm rot="3153070">
            <a:off x="3748353" y="1902506"/>
            <a:ext cx="665074" cy="25843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48450" y="152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What are structural equation models?</a:t>
            </a:r>
            <a:endParaRPr sz="3020"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r="9264"/>
          <a:stretch/>
        </p:blipFill>
        <p:spPr>
          <a:xfrm>
            <a:off x="775550" y="688025"/>
            <a:ext cx="6413567" cy="43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471100" y="4663450"/>
            <a:ext cx="367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222222"/>
                </a:solidFill>
                <a:highlight>
                  <a:srgbClr val="FFFFFF"/>
                </a:highlight>
              </a:rPr>
              <a:t>Song &amp; Lee (2012). </a:t>
            </a:r>
            <a:r>
              <a:rPr lang="nl" sz="1000" i="1">
                <a:solidFill>
                  <a:srgbClr val="222222"/>
                </a:solidFill>
                <a:highlight>
                  <a:srgbClr val="FFFFFF"/>
                </a:highlight>
              </a:rPr>
              <a:t>Journal of Mathematical Psychology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1440200" y="4495800"/>
            <a:ext cx="746700" cy="40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434343"/>
                </a:solidFill>
              </a:rPr>
              <a:t>Waist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440200" y="3680450"/>
            <a:ext cx="746700" cy="40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434343"/>
                </a:solidFill>
              </a:rPr>
              <a:t>Hip</a:t>
            </a:r>
            <a:endParaRPr sz="1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What are structural equation models?</a:t>
            </a:r>
            <a:endParaRPr sz="302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Catch-most tool to test psychological hypotheses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Tests for higher-order latent constructs and their relationships</a:t>
            </a:r>
            <a:endParaRPr sz="2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Catch-most tool to test psychological hypotheses</a:t>
            </a:r>
            <a:endParaRPr sz="240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>
                <a:solidFill>
                  <a:schemeClr val="accent1"/>
                </a:solidFill>
              </a:rPr>
              <a:t>Tests for higher-order latent constructs and their relationships</a:t>
            </a:r>
            <a:endParaRPr sz="2400">
              <a:solidFill>
                <a:schemeClr val="accent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</a:pPr>
            <a:r>
              <a:rPr lang="nl" sz="1800">
                <a:solidFill>
                  <a:schemeClr val="accent1"/>
                </a:solidFill>
              </a:rPr>
              <a:t>Are BMI, hip index and waist index related (Obesity)</a:t>
            </a:r>
            <a:endParaRPr sz="1800">
              <a:solidFill>
                <a:schemeClr val="accent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</a:pPr>
            <a:r>
              <a:rPr lang="nl" sz="1800">
                <a:solidFill>
                  <a:schemeClr val="accent1"/>
                </a:solidFill>
              </a:rPr>
              <a:t>Do obesity and blood pressure predict kidney disease severity?</a:t>
            </a:r>
            <a:endParaRPr sz="18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i="1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What are structural equation models?</a:t>
            </a:r>
            <a:endParaRPr sz="3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 dirty="0">
                <a:solidFill>
                  <a:schemeClr val="accent1"/>
                </a:solidFill>
              </a:rPr>
              <a:t>Catch-most tool to test psychological hypotheses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</a:pPr>
            <a:r>
              <a:rPr lang="nl" sz="2400" dirty="0">
                <a:solidFill>
                  <a:schemeClr val="accent1"/>
                </a:solidFill>
              </a:rPr>
              <a:t>Tests for higher-order latent constructs and their relationships</a:t>
            </a:r>
            <a:endParaRPr sz="2400" dirty="0">
              <a:solidFill>
                <a:schemeClr val="accent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</a:pPr>
            <a:r>
              <a:rPr lang="nl" sz="1800" dirty="0">
                <a:solidFill>
                  <a:schemeClr val="accent1"/>
                </a:solidFill>
              </a:rPr>
              <a:t>Are BMI, hip index and waist index related (Obesity)</a:t>
            </a:r>
            <a:endParaRPr sz="1800" dirty="0">
              <a:solidFill>
                <a:schemeClr val="accent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</a:pPr>
            <a:r>
              <a:rPr lang="nl" sz="1800" dirty="0">
                <a:solidFill>
                  <a:schemeClr val="accent1"/>
                </a:solidFill>
              </a:rPr>
              <a:t>Do obesity and blood pressure predict kidney disease severity?</a:t>
            </a:r>
            <a:endParaRPr sz="18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2400" dirty="0">
                <a:solidFill>
                  <a:schemeClr val="accent1"/>
                </a:solidFill>
              </a:rPr>
              <a:t>Measurement model: 			</a:t>
            </a:r>
            <a:r>
              <a:rPr lang="nl" sz="2400" i="1" dirty="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y = λη + kx + ε</a:t>
            </a:r>
            <a:endParaRPr sz="2400" i="1" dirty="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2400" dirty="0">
                <a:solidFill>
                  <a:schemeClr val="accent1"/>
                </a:solidFill>
              </a:rPr>
              <a:t>Structural model: 				</a:t>
            </a:r>
            <a:r>
              <a:rPr lang="nl" sz="2400" i="1" dirty="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η = πη + bx + δ</a:t>
            </a:r>
            <a:endParaRPr sz="2400" i="1" dirty="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What are structural equation models?</a:t>
            </a:r>
            <a:endParaRPr sz="3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Structural equation models</a:t>
            </a:r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sz="2400" dirty="0">
                <a:solidFill>
                  <a:schemeClr val="dk1"/>
                </a:solidFill>
              </a:rPr>
              <a:t>Overarching framework for linking variables/parameters to latent factors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sz="2400" dirty="0">
                <a:solidFill>
                  <a:schemeClr val="dk1"/>
                </a:solidFill>
              </a:rPr>
              <a:t>Allows for higher order relationships between the latent factors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sz="2400" dirty="0">
                <a:solidFill>
                  <a:schemeClr val="dk1"/>
                </a:solidFill>
              </a:rPr>
              <a:t>Relationships between external covariates and latent factors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nl" sz="24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22" name="Google Shape;322;p50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Application EAMs</a:t>
            </a:r>
            <a:endParaRPr sz="302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356725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Application EAMs</a:t>
            </a:r>
            <a:endParaRPr sz="3020"/>
          </a:p>
        </p:txBody>
      </p:sp>
      <p:sp>
        <p:nvSpPr>
          <p:cNvPr id="328" name="Google Shape;328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8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b="1">
                <a:solidFill>
                  <a:schemeClr val="accent1"/>
                </a:solidFill>
              </a:rPr>
              <a:t>Seven</a:t>
            </a:r>
            <a:r>
              <a:rPr lang="nl" sz="2300">
                <a:solidFill>
                  <a:schemeClr val="accent1"/>
                </a:solidFill>
              </a:rPr>
              <a:t> </a:t>
            </a:r>
            <a:r>
              <a:rPr lang="nl" sz="2300" b="1">
                <a:solidFill>
                  <a:schemeClr val="accent1"/>
                </a:solidFill>
              </a:rPr>
              <a:t>conflict decision-making tasks</a:t>
            </a:r>
            <a:r>
              <a:rPr lang="nl" sz="2300">
                <a:solidFill>
                  <a:schemeClr val="accent1"/>
                </a:solidFill>
              </a:rPr>
              <a:t> (Eisenberg et al., 2019; </a:t>
            </a:r>
            <a:r>
              <a:rPr lang="nl" sz="2300" i="1">
                <a:solidFill>
                  <a:schemeClr val="accent1"/>
                </a:solidFill>
              </a:rPr>
              <a:t>Nat. Com.</a:t>
            </a:r>
            <a:r>
              <a:rPr lang="nl" sz="2300">
                <a:solidFill>
                  <a:schemeClr val="accent1"/>
                </a:solidFill>
              </a:rPr>
              <a:t>)</a:t>
            </a:r>
            <a:endParaRPr sz="2300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190 participants, around 100 trials per person per task</a:t>
            </a:r>
            <a:endParaRPr sz="2300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What decision-making processes are shared across tasks</a:t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52"/>
          <p:cNvPicPr preferRelativeResize="0"/>
          <p:nvPr/>
        </p:nvPicPr>
        <p:blipFill rotWithShape="1">
          <a:blip r:embed="rId3">
            <a:alphaModFix/>
          </a:blip>
          <a:srcRect l="-1780" r="1780"/>
          <a:stretch/>
        </p:blipFill>
        <p:spPr>
          <a:xfrm>
            <a:off x="-148416" y="349000"/>
            <a:ext cx="7958229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52"/>
          <p:cNvCxnSpPr/>
          <p:nvPr/>
        </p:nvCxnSpPr>
        <p:spPr>
          <a:xfrm rot="10800000" flipH="1">
            <a:off x="3528875" y="1747500"/>
            <a:ext cx="1043100" cy="300"/>
          </a:xfrm>
          <a:prstGeom prst="straightConnector1">
            <a:avLst/>
          </a:prstGeom>
          <a:noFill/>
          <a:ln w="22000" cap="flat" cmpd="sng">
            <a:solidFill>
              <a:srgbClr val="1155C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5" name="Google Shape;335;p52"/>
          <p:cNvSpPr txBox="1"/>
          <p:nvPr/>
        </p:nvSpPr>
        <p:spPr>
          <a:xfrm>
            <a:off x="3891150" y="1364819"/>
            <a:ext cx="3630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6" name="Google Shape;336;p52"/>
          <p:cNvSpPr txBox="1"/>
          <p:nvPr/>
        </p:nvSpPr>
        <p:spPr>
          <a:xfrm>
            <a:off x="1431791" y="2273892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t0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37" name="Google Shape;337;p52"/>
          <p:cNvCxnSpPr/>
          <p:nvPr/>
        </p:nvCxnSpPr>
        <p:spPr>
          <a:xfrm>
            <a:off x="6657233" y="1495937"/>
            <a:ext cx="9300" cy="2407500"/>
          </a:xfrm>
          <a:prstGeom prst="straightConnector1">
            <a:avLst/>
          </a:prstGeom>
          <a:noFill/>
          <a:ln w="22000" cap="flat" cmpd="sng">
            <a:solidFill>
              <a:srgbClr val="595959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338" name="Google Shape;338;p52"/>
          <p:cNvSpPr txBox="1"/>
          <p:nvPr/>
        </p:nvSpPr>
        <p:spPr>
          <a:xfrm>
            <a:off x="6748245" y="2344838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39" name="Google Shape;339;p52"/>
          <p:cNvCxnSpPr/>
          <p:nvPr/>
        </p:nvCxnSpPr>
        <p:spPr>
          <a:xfrm rot="10800000" flipH="1">
            <a:off x="2538450" y="1872800"/>
            <a:ext cx="1198500" cy="823800"/>
          </a:xfrm>
          <a:prstGeom prst="straightConnector1">
            <a:avLst/>
          </a:prstGeom>
          <a:noFill/>
          <a:ln w="3300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52"/>
          <p:cNvSpPr txBox="1"/>
          <p:nvPr/>
        </p:nvSpPr>
        <p:spPr>
          <a:xfrm>
            <a:off x="3340387" y="1872806"/>
            <a:ext cx="613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600" tIns="105600" rIns="105600" bIns="105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079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 sz="2079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1" name="Google Shape;341;p52"/>
          <p:cNvSpPr/>
          <p:nvPr/>
        </p:nvSpPr>
        <p:spPr>
          <a:xfrm>
            <a:off x="4941051" y="2231904"/>
            <a:ext cx="211500" cy="105600"/>
          </a:xfrm>
          <a:prstGeom prst="rect">
            <a:avLst/>
          </a:prstGeom>
          <a:solidFill>
            <a:schemeClr val="lt1"/>
          </a:solidFill>
          <a:ln w="110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600" tIns="105600" rIns="105600" bIns="105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7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356"/>
              <a:t>Applications: EAMs</a:t>
            </a:r>
            <a:endParaRPr sz="335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b="1">
                <a:solidFill>
                  <a:schemeClr val="accent1"/>
                </a:solidFill>
              </a:rPr>
              <a:t>Is age related to evidence accumulation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v</a:t>
            </a:r>
            <a:r>
              <a:rPr lang="nl" sz="2300" b="1">
                <a:solidFill>
                  <a:schemeClr val="accent1"/>
                </a:solidFill>
              </a:rPr>
              <a:t>), ability to handle conflict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d</a:t>
            </a:r>
            <a:r>
              <a:rPr lang="nl" sz="2300" b="1">
                <a:solidFill>
                  <a:schemeClr val="accent1"/>
                </a:solidFill>
              </a:rPr>
              <a:t>) or response caution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a</a:t>
            </a:r>
            <a:r>
              <a:rPr lang="nl" sz="2300" b="1">
                <a:solidFill>
                  <a:schemeClr val="accent1"/>
                </a:solidFill>
              </a:rPr>
              <a:t>)?</a:t>
            </a:r>
            <a:endParaRPr sz="23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Applications: EAMs</a:t>
            </a:r>
            <a:endParaRPr sz="30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353" name="Google Shape;353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b="1">
                <a:solidFill>
                  <a:schemeClr val="accent1"/>
                </a:solidFill>
              </a:rPr>
              <a:t>Is age related to evidence accumulation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v</a:t>
            </a:r>
            <a:r>
              <a:rPr lang="nl" sz="2300" b="1">
                <a:solidFill>
                  <a:schemeClr val="accent1"/>
                </a:solidFill>
              </a:rPr>
              <a:t>), ability to handle conflict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d</a:t>
            </a:r>
            <a:r>
              <a:rPr lang="nl" sz="2300" b="1">
                <a:solidFill>
                  <a:schemeClr val="accent1"/>
                </a:solidFill>
              </a:rPr>
              <a:t>) or response caution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a</a:t>
            </a:r>
            <a:r>
              <a:rPr lang="nl" sz="2300" b="1">
                <a:solidFill>
                  <a:schemeClr val="accent1"/>
                </a:solidFill>
              </a:rPr>
              <a:t>)?</a:t>
            </a:r>
            <a:endParaRPr sz="2300" b="1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Conventional:</a:t>
            </a:r>
            <a:endParaRPr sz="23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Regress age on the different parameters for each task </a:t>
            </a:r>
            <a:endParaRPr sz="1900">
              <a:solidFill>
                <a:schemeClr val="accent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Applications: EAMs</a:t>
            </a:r>
            <a:endParaRPr sz="3020"/>
          </a:p>
        </p:txBody>
      </p:sp>
      <p:sp>
        <p:nvSpPr>
          <p:cNvPr id="359" name="Google Shape;359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b="1">
                <a:solidFill>
                  <a:schemeClr val="accent1"/>
                </a:solidFill>
              </a:rPr>
              <a:t>Is age related to evidence accumulation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v</a:t>
            </a:r>
            <a:r>
              <a:rPr lang="nl" sz="2300" b="1">
                <a:solidFill>
                  <a:schemeClr val="accent1"/>
                </a:solidFill>
              </a:rPr>
              <a:t>), ability to handle conflict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d</a:t>
            </a:r>
            <a:r>
              <a:rPr lang="nl" sz="2300" b="1">
                <a:solidFill>
                  <a:schemeClr val="accent1"/>
                </a:solidFill>
              </a:rPr>
              <a:t>) or response caution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a</a:t>
            </a:r>
            <a:r>
              <a:rPr lang="nl" sz="2300" b="1">
                <a:solidFill>
                  <a:schemeClr val="accent1"/>
                </a:solidFill>
              </a:rPr>
              <a:t>)?</a:t>
            </a:r>
            <a:endParaRPr sz="2300" b="1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Conventional:</a:t>
            </a:r>
            <a:endParaRPr sz="23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Regress age on the different parameters for each task </a:t>
            </a:r>
            <a:endParaRPr sz="19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Too many parameters</a:t>
            </a:r>
            <a:endParaRPr sz="19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No statistical tests for across task associations</a:t>
            </a:r>
            <a:endParaRPr sz="19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6"/>
          <p:cNvSpPr txBox="1">
            <a:spLocks noGrp="1"/>
          </p:cNvSpPr>
          <p:nvPr>
            <p:ph type="title"/>
          </p:nvPr>
        </p:nvSpPr>
        <p:spPr>
          <a:xfrm>
            <a:off x="348450" y="518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356"/>
              <a:t>Applications: EAMs</a:t>
            </a:r>
            <a:endParaRPr sz="335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b="1">
                <a:solidFill>
                  <a:schemeClr val="accent1"/>
                </a:solidFill>
              </a:rPr>
              <a:t>Is age related to evidence accumulation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v</a:t>
            </a:r>
            <a:r>
              <a:rPr lang="nl" sz="2300" b="1">
                <a:solidFill>
                  <a:schemeClr val="accent1"/>
                </a:solidFill>
              </a:rPr>
              <a:t>), ability to handle conflict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d</a:t>
            </a:r>
            <a:r>
              <a:rPr lang="nl" sz="2300" b="1">
                <a:solidFill>
                  <a:schemeClr val="accent1"/>
                </a:solidFill>
              </a:rPr>
              <a:t>) or response caution (</a:t>
            </a:r>
            <a:r>
              <a:rPr lang="nl" sz="2300" b="1" i="1">
                <a:solidFill>
                  <a:schemeClr val="accent1"/>
                </a:solidFill>
                <a:latin typeface="Droid Serif"/>
                <a:ea typeface="Droid Serif"/>
                <a:cs typeface="Droid Serif"/>
                <a:sym typeface="Droid Serif"/>
              </a:rPr>
              <a:t>a</a:t>
            </a:r>
            <a:r>
              <a:rPr lang="nl" sz="2300" b="1">
                <a:solidFill>
                  <a:schemeClr val="accent1"/>
                </a:solidFill>
              </a:rPr>
              <a:t>)?</a:t>
            </a:r>
            <a:endParaRPr sz="2300" b="1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Conventional:</a:t>
            </a:r>
            <a:endParaRPr sz="23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Regress age on the different parameters for each task </a:t>
            </a:r>
            <a:endParaRPr sz="19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Too many parameters</a:t>
            </a:r>
            <a:endParaRPr sz="19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No statistical tests for across task associations</a:t>
            </a:r>
            <a:endParaRPr sz="1900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>
                <a:solidFill>
                  <a:schemeClr val="accent1"/>
                </a:solidFill>
              </a:rPr>
              <a:t>SEM: </a:t>
            </a:r>
            <a:endParaRPr sz="23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Construct across tasks factors for each parameter</a:t>
            </a:r>
            <a:endParaRPr sz="1900">
              <a:solidFill>
                <a:schemeClr val="accent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</a:pPr>
            <a:r>
              <a:rPr lang="nl" sz="1900">
                <a:solidFill>
                  <a:schemeClr val="accent1"/>
                </a:solidFill>
              </a:rPr>
              <a:t>Regress age on these different factors</a:t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2" name="Google Shape;37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725" y="-90650"/>
            <a:ext cx="10384627" cy="345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7"/>
          <p:cNvPicPr preferRelativeResize="0"/>
          <p:nvPr/>
        </p:nvPicPr>
        <p:blipFill rotWithShape="1">
          <a:blip r:embed="rId3">
            <a:alphaModFix/>
          </a:blip>
          <a:srcRect l="71750" b="44858"/>
          <a:stretch/>
        </p:blipFill>
        <p:spPr>
          <a:xfrm>
            <a:off x="3093700" y="2500125"/>
            <a:ext cx="3041374" cy="19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7"/>
          <p:cNvSpPr/>
          <p:nvPr/>
        </p:nvSpPr>
        <p:spPr>
          <a:xfrm>
            <a:off x="7414275" y="800075"/>
            <a:ext cx="3116700" cy="99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5" name="Google Shape;375;p57"/>
          <p:cNvSpPr txBox="1">
            <a:spLocks noGrp="1"/>
          </p:cNvSpPr>
          <p:nvPr>
            <p:ph type="title"/>
          </p:nvPr>
        </p:nvSpPr>
        <p:spPr>
          <a:xfrm>
            <a:off x="348450" y="1071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356"/>
              <a:t>Model specification</a:t>
            </a:r>
            <a:endParaRPr sz="335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Results</a:t>
            </a:r>
            <a:endParaRPr/>
          </a:p>
        </p:txBody>
      </p:sp>
      <p:sp>
        <p:nvSpPr>
          <p:cNvPr id="381" name="Google Shape;381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9" name="Google Shape;389;p59"/>
          <p:cNvPicPr preferRelativeResize="0"/>
          <p:nvPr/>
        </p:nvPicPr>
        <p:blipFill rotWithShape="1">
          <a:blip r:embed="rId3">
            <a:alphaModFix/>
          </a:blip>
          <a:srcRect l="35498" t="29692" r="1994" b="45239"/>
          <a:stretch/>
        </p:blipFill>
        <p:spPr>
          <a:xfrm>
            <a:off x="30475" y="3205900"/>
            <a:ext cx="9083052" cy="16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9"/>
          <p:cNvSpPr/>
          <p:nvPr/>
        </p:nvSpPr>
        <p:spPr>
          <a:xfrm>
            <a:off x="6918950" y="647700"/>
            <a:ext cx="1524000" cy="115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1" name="Google Shape;391;p59"/>
          <p:cNvSpPr/>
          <p:nvPr/>
        </p:nvSpPr>
        <p:spPr>
          <a:xfrm>
            <a:off x="4396200" y="304450"/>
            <a:ext cx="2064300" cy="115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7EA297-2F89-268D-B69B-BCA2D9D97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897" y="0"/>
            <a:ext cx="7124016" cy="318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DA87E3-D01A-37BC-2594-B1EC602654F1}"/>
              </a:ext>
            </a:extLst>
          </p:cNvPr>
          <p:cNvSpPr/>
          <p:nvPr/>
        </p:nvSpPr>
        <p:spPr>
          <a:xfrm>
            <a:off x="7685549" y="367207"/>
            <a:ext cx="2431701" cy="1413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1"/>
          <p:cNvSpPr txBox="1">
            <a:spLocks noGrp="1"/>
          </p:cNvSpPr>
          <p:nvPr>
            <p:ph type="title"/>
          </p:nvPr>
        </p:nvSpPr>
        <p:spPr>
          <a:xfrm>
            <a:off x="311700" y="37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Results</a:t>
            </a:r>
            <a:endParaRPr sz="3020"/>
          </a:p>
        </p:txBody>
      </p:sp>
      <p:sp>
        <p:nvSpPr>
          <p:cNvPr id="404" name="Google Shape;40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dirty="0">
                <a:solidFill>
                  <a:schemeClr val="accent1"/>
                </a:solidFill>
              </a:rPr>
              <a:t>Age positively related to drift rate (BF</a:t>
            </a:r>
            <a:r>
              <a:rPr lang="nl" sz="2300" baseline="-25000" dirty="0">
                <a:solidFill>
                  <a:schemeClr val="accent1"/>
                </a:solidFill>
              </a:rPr>
              <a:t>10</a:t>
            </a:r>
            <a:r>
              <a:rPr lang="nl" sz="2300" dirty="0">
                <a:solidFill>
                  <a:schemeClr val="accent1"/>
                </a:solidFill>
              </a:rPr>
              <a:t> &gt; 100; 				Garton et al., 2019; </a:t>
            </a:r>
            <a:r>
              <a:rPr lang="nl" sz="2300" i="1" dirty="0">
                <a:solidFill>
                  <a:schemeClr val="accent1"/>
                </a:solidFill>
              </a:rPr>
              <a:t>Psychology and Aging</a:t>
            </a:r>
            <a:r>
              <a:rPr lang="nl" sz="2300" dirty="0">
                <a:solidFill>
                  <a:schemeClr val="accent1"/>
                </a:solidFill>
              </a:rPr>
              <a:t>)</a:t>
            </a: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2"/>
          <p:cNvSpPr txBox="1">
            <a:spLocks noGrp="1"/>
          </p:cNvSpPr>
          <p:nvPr>
            <p:ph type="title"/>
          </p:nvPr>
        </p:nvSpPr>
        <p:spPr>
          <a:xfrm>
            <a:off x="311700" y="37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Results</a:t>
            </a:r>
            <a:endParaRPr sz="3020"/>
          </a:p>
        </p:txBody>
      </p:sp>
      <p:sp>
        <p:nvSpPr>
          <p:cNvPr id="410" name="Google Shape;410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dirty="0">
                <a:solidFill>
                  <a:schemeClr val="accent1"/>
                </a:solidFill>
              </a:rPr>
              <a:t>Age positively related to drift rate (BF</a:t>
            </a:r>
            <a:r>
              <a:rPr lang="nl" sz="2300" baseline="-25000" dirty="0">
                <a:solidFill>
                  <a:schemeClr val="accent1"/>
                </a:solidFill>
              </a:rPr>
              <a:t>10</a:t>
            </a:r>
            <a:r>
              <a:rPr lang="nl" sz="2300" dirty="0">
                <a:solidFill>
                  <a:schemeClr val="accent1"/>
                </a:solidFill>
              </a:rPr>
              <a:t> &gt; 100; 				Garton et al., 2019; </a:t>
            </a:r>
            <a:r>
              <a:rPr lang="nl" sz="2300" i="1" dirty="0">
                <a:solidFill>
                  <a:schemeClr val="accent1"/>
                </a:solidFill>
              </a:rPr>
              <a:t>Psychology and Aging</a:t>
            </a:r>
            <a:r>
              <a:rPr lang="nl" sz="2300" dirty="0">
                <a:solidFill>
                  <a:schemeClr val="accent1"/>
                </a:solidFill>
              </a:rPr>
              <a:t>)</a:t>
            </a:r>
            <a:endParaRPr sz="2300" dirty="0">
              <a:solidFill>
                <a:schemeClr val="accent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r>
              <a:rPr lang="nl" sz="2300" dirty="0">
                <a:solidFill>
                  <a:schemeClr val="accent1"/>
                </a:solidFill>
              </a:rPr>
              <a:t>Age negatively related to conflict processing (BF</a:t>
            </a:r>
            <a:r>
              <a:rPr lang="nl" sz="2300" baseline="-25000" dirty="0">
                <a:solidFill>
                  <a:schemeClr val="accent1"/>
                </a:solidFill>
              </a:rPr>
              <a:t>10</a:t>
            </a:r>
            <a:r>
              <a:rPr lang="nl" sz="2300" dirty="0">
                <a:solidFill>
                  <a:schemeClr val="accent1"/>
                </a:solidFill>
              </a:rPr>
              <a:t> = 5.25)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●"/>
            </a:pPr>
            <a:endParaRPr sz="2300" dirty="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Attenuation</a:t>
            </a:r>
            <a:endParaRPr/>
          </a:p>
        </p:txBody>
      </p:sp>
      <p:sp>
        <p:nvSpPr>
          <p:cNvPr id="428" name="Google Shape;428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9" name="Google Shape;429;p65"/>
          <p:cNvPicPr preferRelativeResize="0"/>
          <p:nvPr/>
        </p:nvPicPr>
        <p:blipFill rotWithShape="1">
          <a:blip r:embed="rId3">
            <a:alphaModFix/>
          </a:blip>
          <a:srcRect r="705"/>
          <a:stretch/>
        </p:blipFill>
        <p:spPr>
          <a:xfrm>
            <a:off x="0" y="1335950"/>
            <a:ext cx="9079673" cy="24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0"/>
          <p:cNvSpPr txBox="1">
            <a:spLocks noGrp="1"/>
          </p:cNvSpPr>
          <p:nvPr>
            <p:ph type="title"/>
          </p:nvPr>
        </p:nvSpPr>
        <p:spPr>
          <a:xfrm>
            <a:off x="311700" y="102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Alternatives - measurement invariance</a:t>
            </a:r>
            <a:endParaRPr sz="3020"/>
          </a:p>
        </p:txBody>
      </p:sp>
      <p:sp>
        <p:nvSpPr>
          <p:cNvPr id="458" name="Google Shape;458;p70"/>
          <p:cNvSpPr txBox="1">
            <a:spLocks noGrp="1"/>
          </p:cNvSpPr>
          <p:nvPr>
            <p:ph type="body" idx="1"/>
          </p:nvPr>
        </p:nvSpPr>
        <p:spPr>
          <a:xfrm>
            <a:off x="281200" y="11220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300">
                <a:solidFill>
                  <a:schemeClr val="dk1"/>
                </a:solidFill>
              </a:rPr>
              <a:t>Null model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459" name="Google Shape;459;p70"/>
          <p:cNvPicPr preferRelativeResize="0"/>
          <p:nvPr/>
        </p:nvPicPr>
        <p:blipFill rotWithShape="1">
          <a:blip r:embed="rId3">
            <a:alphaModFix/>
          </a:blip>
          <a:srcRect t="31109" b="33038"/>
          <a:stretch/>
        </p:blipFill>
        <p:spPr>
          <a:xfrm>
            <a:off x="1871125" y="674825"/>
            <a:ext cx="6391351" cy="16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1"/>
          <p:cNvSpPr txBox="1">
            <a:spLocks noGrp="1"/>
          </p:cNvSpPr>
          <p:nvPr>
            <p:ph type="title"/>
          </p:nvPr>
        </p:nvSpPr>
        <p:spPr>
          <a:xfrm>
            <a:off x="311700" y="102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Alternatives - measurement invariance</a:t>
            </a:r>
            <a:endParaRPr sz="3020"/>
          </a:p>
        </p:txBody>
      </p:sp>
      <p:sp>
        <p:nvSpPr>
          <p:cNvPr id="465" name="Google Shape;465;p71"/>
          <p:cNvSpPr txBox="1">
            <a:spLocks noGrp="1"/>
          </p:cNvSpPr>
          <p:nvPr>
            <p:ph type="body" idx="1"/>
          </p:nvPr>
        </p:nvSpPr>
        <p:spPr>
          <a:xfrm>
            <a:off x="281200" y="11220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300">
                <a:solidFill>
                  <a:schemeClr val="dk1"/>
                </a:solidFill>
              </a:rPr>
              <a:t>Null model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2300">
                <a:solidFill>
                  <a:schemeClr val="dk1"/>
                </a:solidFill>
              </a:rPr>
              <a:t>Invariant 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2300">
                <a:solidFill>
                  <a:schemeClr val="dk1"/>
                </a:solidFill>
              </a:rPr>
              <a:t>model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466" name="Google Shape;466;p71"/>
          <p:cNvPicPr preferRelativeResize="0"/>
          <p:nvPr/>
        </p:nvPicPr>
        <p:blipFill rotWithShape="1">
          <a:blip r:embed="rId3">
            <a:alphaModFix/>
          </a:blip>
          <a:srcRect t="31109" b="33038"/>
          <a:stretch/>
        </p:blipFill>
        <p:spPr>
          <a:xfrm>
            <a:off x="1871125" y="674825"/>
            <a:ext cx="6391351" cy="168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71"/>
          <p:cNvPicPr preferRelativeResize="0"/>
          <p:nvPr/>
        </p:nvPicPr>
        <p:blipFill rotWithShape="1">
          <a:blip r:embed="rId4">
            <a:alphaModFix/>
          </a:blip>
          <a:srcRect t="23261" b="25333"/>
          <a:stretch/>
        </p:blipFill>
        <p:spPr>
          <a:xfrm>
            <a:off x="2041413" y="2746575"/>
            <a:ext cx="6050784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83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Alternatives - Impulsivity predicts response caution</a:t>
            </a:r>
            <a:endParaRPr sz="3020"/>
          </a:p>
        </p:txBody>
      </p:sp>
      <p:sp>
        <p:nvSpPr>
          <p:cNvPr id="473" name="Google Shape;473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74" name="Google Shape;474;p72"/>
          <p:cNvPicPr preferRelativeResize="0"/>
          <p:nvPr/>
        </p:nvPicPr>
        <p:blipFill rotWithShape="1">
          <a:blip r:embed="rId3">
            <a:alphaModFix/>
          </a:blip>
          <a:srcRect l="1922" t="6962" b="7407"/>
          <a:stretch/>
        </p:blipFill>
        <p:spPr>
          <a:xfrm>
            <a:off x="1066800" y="677550"/>
            <a:ext cx="7150651" cy="43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3"/>
          <p:cNvSpPr txBox="1">
            <a:spLocks noGrp="1"/>
          </p:cNvSpPr>
          <p:nvPr>
            <p:ph type="title"/>
          </p:nvPr>
        </p:nvSpPr>
        <p:spPr>
          <a:xfrm>
            <a:off x="311700" y="22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020"/>
              <a:t>Alternatives - drift predicts response caution</a:t>
            </a:r>
            <a:endParaRPr sz="3020"/>
          </a:p>
        </p:txBody>
      </p:sp>
      <p:sp>
        <p:nvSpPr>
          <p:cNvPr id="480" name="Google Shape;480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81" name="Google Shape;48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53" y="1017725"/>
            <a:ext cx="5350125" cy="39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Macintosh PowerPoint</Application>
  <PresentationFormat>On-screen Show (16:9)</PresentationFormat>
  <Paragraphs>168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Droid Serif</vt:lpstr>
      <vt:lpstr>Arial</vt:lpstr>
      <vt:lpstr>Jolly Lodger</vt:lpstr>
      <vt:lpstr>Proxima Nova</vt:lpstr>
      <vt:lpstr>Times New Roman</vt:lpstr>
      <vt:lpstr>Spearmint</vt:lpstr>
      <vt:lpstr>Bayesian hierarchical SEM for model-based psychological research</vt:lpstr>
      <vt:lpstr>Individual differences</vt:lpstr>
      <vt:lpstr>Individual differences</vt:lpstr>
      <vt:lpstr>Individual differences</vt:lpstr>
      <vt:lpstr>EAMs</vt:lpstr>
      <vt:lpstr>EAMs</vt:lpstr>
      <vt:lpstr>EAMs</vt:lpstr>
      <vt:lpstr>Correlational Challenges</vt:lpstr>
      <vt:lpstr>Correlational Challenges</vt:lpstr>
      <vt:lpstr>Correlational Challenges</vt:lpstr>
      <vt:lpstr>Dimensionality</vt:lpstr>
      <vt:lpstr>Dimensionality</vt:lpstr>
      <vt:lpstr>Interpretation</vt:lpstr>
      <vt:lpstr>Interpretation</vt:lpstr>
      <vt:lpstr>Interpretation</vt:lpstr>
      <vt:lpstr>Factor analysis </vt:lpstr>
      <vt:lpstr>Factor analysis </vt:lpstr>
      <vt:lpstr>Factor analysis </vt:lpstr>
      <vt:lpstr>Factor analysis </vt:lpstr>
      <vt:lpstr>Conventional Approach</vt:lpstr>
      <vt:lpstr>Conventional Approach</vt:lpstr>
      <vt:lpstr>Two-step Approach</vt:lpstr>
      <vt:lpstr>Two-step Approach</vt:lpstr>
      <vt:lpstr>Hierarchical Model </vt:lpstr>
      <vt:lpstr>Hierarchical Cognitive Models</vt:lpstr>
      <vt:lpstr>Hierarchical Cognitive Models</vt:lpstr>
      <vt:lpstr>Hierarchical Cognitive Models</vt:lpstr>
      <vt:lpstr>Structural equation models</vt:lpstr>
      <vt:lpstr>What are structural equation models?</vt:lpstr>
      <vt:lpstr>What are structural equation models?</vt:lpstr>
      <vt:lpstr>What are structural equation models?</vt:lpstr>
      <vt:lpstr>What are structural equation models?</vt:lpstr>
      <vt:lpstr>What are structural equation models?</vt:lpstr>
      <vt:lpstr>Structural equation models</vt:lpstr>
      <vt:lpstr>Application EAMs</vt:lpstr>
      <vt:lpstr>Application EAMs</vt:lpstr>
      <vt:lpstr>PowerPoint Presentation</vt:lpstr>
      <vt:lpstr>Applications: EAMs  </vt:lpstr>
      <vt:lpstr>Applications: EAMs </vt:lpstr>
      <vt:lpstr>Applications: EAMs</vt:lpstr>
      <vt:lpstr>Applications: EAMs  </vt:lpstr>
      <vt:lpstr>PowerPoint Presentation</vt:lpstr>
      <vt:lpstr>Results</vt:lpstr>
      <vt:lpstr>PowerPoint Presentation</vt:lpstr>
      <vt:lpstr>Results</vt:lpstr>
      <vt:lpstr>Results</vt:lpstr>
      <vt:lpstr>Attenuation</vt:lpstr>
      <vt:lpstr>Alternatives - measurement invariance</vt:lpstr>
      <vt:lpstr>Alternatives - measurement invariance</vt:lpstr>
      <vt:lpstr>Alternatives - Impulsivity predicts response caution</vt:lpstr>
      <vt:lpstr>Alternatives - drift predicts response caution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Niek Stevenson</cp:lastModifiedBy>
  <cp:revision>1</cp:revision>
  <dcterms:modified xsi:type="dcterms:W3CDTF">2026-08-12T12:19:29Z</dcterms:modified>
</cp:coreProperties>
</file>