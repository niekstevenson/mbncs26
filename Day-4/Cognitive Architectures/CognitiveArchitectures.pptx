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48"/>
  </p:notesMasterIdLst>
  <p:sldIdLst>
    <p:sldId id="256" r:id="rId2"/>
    <p:sldId id="297" r:id="rId3"/>
    <p:sldId id="303" r:id="rId4"/>
    <p:sldId id="302" r:id="rId5"/>
    <p:sldId id="257" r:id="rId6"/>
    <p:sldId id="258" r:id="rId7"/>
    <p:sldId id="305" r:id="rId8"/>
    <p:sldId id="288" r:id="rId9"/>
    <p:sldId id="298" r:id="rId10"/>
    <p:sldId id="299" r:id="rId11"/>
    <p:sldId id="300" r:id="rId12"/>
    <p:sldId id="301" r:id="rId13"/>
    <p:sldId id="260" r:id="rId14"/>
    <p:sldId id="261" r:id="rId15"/>
    <p:sldId id="290" r:id="rId16"/>
    <p:sldId id="291" r:id="rId17"/>
    <p:sldId id="292" r:id="rId18"/>
    <p:sldId id="293" r:id="rId19"/>
    <p:sldId id="262" r:id="rId20"/>
    <p:sldId id="263" r:id="rId21"/>
    <p:sldId id="272" r:id="rId22"/>
    <p:sldId id="270" r:id="rId23"/>
    <p:sldId id="273" r:id="rId24"/>
    <p:sldId id="274" r:id="rId25"/>
    <p:sldId id="276" r:id="rId26"/>
    <p:sldId id="294" r:id="rId27"/>
    <p:sldId id="275" r:id="rId28"/>
    <p:sldId id="280" r:id="rId29"/>
    <p:sldId id="282" r:id="rId30"/>
    <p:sldId id="295" r:id="rId31"/>
    <p:sldId id="283" r:id="rId32"/>
    <p:sldId id="285" r:id="rId33"/>
    <p:sldId id="264" r:id="rId34"/>
    <p:sldId id="306" r:id="rId35"/>
    <p:sldId id="268" r:id="rId36"/>
    <p:sldId id="296" r:id="rId37"/>
    <p:sldId id="269" r:id="rId38"/>
    <p:sldId id="307" r:id="rId39"/>
    <p:sldId id="308" r:id="rId40"/>
    <p:sldId id="309" r:id="rId41"/>
    <p:sldId id="267" r:id="rId42"/>
    <p:sldId id="284" r:id="rId43"/>
    <p:sldId id="310" r:id="rId44"/>
    <p:sldId id="311" r:id="rId45"/>
    <p:sldId id="312" r:id="rId46"/>
    <p:sldId id="286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3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1"/>
    <p:restoredTop sz="94639"/>
  </p:normalViewPr>
  <p:slideViewPr>
    <p:cSldViewPr snapToGrid="0">
      <p:cViewPr varScale="1">
        <p:scale>
          <a:sx n="148" d="100"/>
          <a:sy n="148" d="100"/>
        </p:scale>
        <p:origin x="208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3351FB-8915-4505-AA6E-04A6482FD13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41FAABC-9ED7-474F-8103-44784621D2CD}">
      <dgm:prSet/>
      <dgm:spPr/>
      <dgm:t>
        <a:bodyPr/>
        <a:lstStyle/>
        <a:p>
          <a:r>
            <a:rPr lang="en-US" dirty="0"/>
            <a:t>Perceptual Decision-Making</a:t>
          </a:r>
        </a:p>
      </dgm:t>
    </dgm:pt>
    <dgm:pt modelId="{468F62EB-09BB-415F-A800-470ED2CF6920}" type="parTrans" cxnId="{027EA433-43FA-4167-9B64-85A269513D6E}">
      <dgm:prSet/>
      <dgm:spPr/>
      <dgm:t>
        <a:bodyPr/>
        <a:lstStyle/>
        <a:p>
          <a:endParaRPr lang="en-US"/>
        </a:p>
      </dgm:t>
    </dgm:pt>
    <dgm:pt modelId="{2B3E3272-3034-4304-BE7E-FBD81BFFF56E}" type="sibTrans" cxnId="{027EA433-43FA-4167-9B64-85A269513D6E}">
      <dgm:prSet/>
      <dgm:spPr/>
      <dgm:t>
        <a:bodyPr/>
        <a:lstStyle/>
        <a:p>
          <a:endParaRPr lang="en-US"/>
        </a:p>
      </dgm:t>
    </dgm:pt>
    <dgm:pt modelId="{7ACC848E-A1CD-4E8A-86A6-5AB0DC28C42F}">
      <dgm:prSet/>
      <dgm:spPr/>
      <dgm:t>
        <a:bodyPr/>
        <a:lstStyle/>
        <a:p>
          <a:r>
            <a:rPr lang="en-US"/>
            <a:t>Cognitive Control</a:t>
          </a:r>
        </a:p>
      </dgm:t>
    </dgm:pt>
    <dgm:pt modelId="{7A91C939-4712-4E3C-A960-34E3F839EA63}" type="parTrans" cxnId="{0DE7D74F-35C4-4D78-B012-5FB891D9D5E4}">
      <dgm:prSet/>
      <dgm:spPr/>
      <dgm:t>
        <a:bodyPr/>
        <a:lstStyle/>
        <a:p>
          <a:endParaRPr lang="en-US"/>
        </a:p>
      </dgm:t>
    </dgm:pt>
    <dgm:pt modelId="{3443BFF6-5F08-4AE2-9CE7-52B321620649}" type="sibTrans" cxnId="{0DE7D74F-35C4-4D78-B012-5FB891D9D5E4}">
      <dgm:prSet/>
      <dgm:spPr/>
      <dgm:t>
        <a:bodyPr/>
        <a:lstStyle/>
        <a:p>
          <a:endParaRPr lang="en-US"/>
        </a:p>
      </dgm:t>
    </dgm:pt>
    <dgm:pt modelId="{0DD4723D-C301-42A9-AB26-2119C3B61BBD}">
      <dgm:prSet/>
      <dgm:spPr/>
      <dgm:t>
        <a:bodyPr/>
        <a:lstStyle/>
        <a:p>
          <a:r>
            <a:rPr lang="en-US" dirty="0"/>
            <a:t>Stimulus Selective Stopping</a:t>
          </a:r>
        </a:p>
      </dgm:t>
    </dgm:pt>
    <dgm:pt modelId="{FED6CEFB-BDB7-4965-87E8-7F303D0A8807}" type="parTrans" cxnId="{D9FCBDFE-0392-4A56-9F0D-BF20428C4C6F}">
      <dgm:prSet/>
      <dgm:spPr/>
      <dgm:t>
        <a:bodyPr/>
        <a:lstStyle/>
        <a:p>
          <a:endParaRPr lang="en-US"/>
        </a:p>
      </dgm:t>
    </dgm:pt>
    <dgm:pt modelId="{571EC2D8-E860-42DD-9FF7-151FDB1DE5F1}" type="sibTrans" cxnId="{D9FCBDFE-0392-4A56-9F0D-BF20428C4C6F}">
      <dgm:prSet/>
      <dgm:spPr/>
      <dgm:t>
        <a:bodyPr/>
        <a:lstStyle/>
        <a:p>
          <a:endParaRPr lang="en-US"/>
        </a:p>
      </dgm:t>
    </dgm:pt>
    <dgm:pt modelId="{C2FB3BA9-46F8-1F40-8147-5E8A2EB95044}" type="pres">
      <dgm:prSet presAssocID="{803351FB-8915-4505-AA6E-04A6482FD13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3ED7E69-1497-1344-A652-CCD0592497D1}" type="pres">
      <dgm:prSet presAssocID="{B41FAABC-9ED7-474F-8103-44784621D2CD}" presName="hierRoot1" presStyleCnt="0"/>
      <dgm:spPr/>
    </dgm:pt>
    <dgm:pt modelId="{56C8C7A9-F23D-294A-9BE8-2C0EF3912420}" type="pres">
      <dgm:prSet presAssocID="{B41FAABC-9ED7-474F-8103-44784621D2CD}" presName="composite" presStyleCnt="0"/>
      <dgm:spPr/>
    </dgm:pt>
    <dgm:pt modelId="{90C156F5-56D7-AA4B-8A01-32523B848F28}" type="pres">
      <dgm:prSet presAssocID="{B41FAABC-9ED7-474F-8103-44784621D2CD}" presName="background" presStyleLbl="node0" presStyleIdx="0" presStyleCnt="3"/>
      <dgm:spPr/>
    </dgm:pt>
    <dgm:pt modelId="{195ECC8F-773B-E34F-B3EA-BB80E9DEFB1E}" type="pres">
      <dgm:prSet presAssocID="{B41FAABC-9ED7-474F-8103-44784621D2CD}" presName="text" presStyleLbl="fgAcc0" presStyleIdx="0" presStyleCnt="3">
        <dgm:presLayoutVars>
          <dgm:chPref val="3"/>
        </dgm:presLayoutVars>
      </dgm:prSet>
      <dgm:spPr/>
    </dgm:pt>
    <dgm:pt modelId="{EE2C2A84-3EA6-F745-BD10-B1864AA19671}" type="pres">
      <dgm:prSet presAssocID="{B41FAABC-9ED7-474F-8103-44784621D2CD}" presName="hierChild2" presStyleCnt="0"/>
      <dgm:spPr/>
    </dgm:pt>
    <dgm:pt modelId="{668FB2E4-7858-7540-8E98-ACA43AFEF290}" type="pres">
      <dgm:prSet presAssocID="{7ACC848E-A1CD-4E8A-86A6-5AB0DC28C42F}" presName="hierRoot1" presStyleCnt="0"/>
      <dgm:spPr/>
    </dgm:pt>
    <dgm:pt modelId="{31D586D3-3975-0643-AF1B-530B3B8BFC50}" type="pres">
      <dgm:prSet presAssocID="{7ACC848E-A1CD-4E8A-86A6-5AB0DC28C42F}" presName="composite" presStyleCnt="0"/>
      <dgm:spPr/>
    </dgm:pt>
    <dgm:pt modelId="{B60D20F4-DE04-504C-A9D6-207E34BF5FB5}" type="pres">
      <dgm:prSet presAssocID="{7ACC848E-A1CD-4E8A-86A6-5AB0DC28C42F}" presName="background" presStyleLbl="node0" presStyleIdx="1" presStyleCnt="3"/>
      <dgm:spPr/>
    </dgm:pt>
    <dgm:pt modelId="{1DB48188-9BDE-ED43-9D1A-DF2F54E71340}" type="pres">
      <dgm:prSet presAssocID="{7ACC848E-A1CD-4E8A-86A6-5AB0DC28C42F}" presName="text" presStyleLbl="fgAcc0" presStyleIdx="1" presStyleCnt="3">
        <dgm:presLayoutVars>
          <dgm:chPref val="3"/>
        </dgm:presLayoutVars>
      </dgm:prSet>
      <dgm:spPr/>
    </dgm:pt>
    <dgm:pt modelId="{E9850477-CF5F-394A-8134-E685E2ECE7FF}" type="pres">
      <dgm:prSet presAssocID="{7ACC848E-A1CD-4E8A-86A6-5AB0DC28C42F}" presName="hierChild2" presStyleCnt="0"/>
      <dgm:spPr/>
    </dgm:pt>
    <dgm:pt modelId="{349C1DC2-358E-F540-96BB-33A31DD5BD1C}" type="pres">
      <dgm:prSet presAssocID="{0DD4723D-C301-42A9-AB26-2119C3B61BBD}" presName="hierRoot1" presStyleCnt="0"/>
      <dgm:spPr/>
    </dgm:pt>
    <dgm:pt modelId="{B98B38AD-741E-7446-94FF-E28EFCDE7611}" type="pres">
      <dgm:prSet presAssocID="{0DD4723D-C301-42A9-AB26-2119C3B61BBD}" presName="composite" presStyleCnt="0"/>
      <dgm:spPr/>
    </dgm:pt>
    <dgm:pt modelId="{1F813247-1811-7F49-9BBE-074687722BD7}" type="pres">
      <dgm:prSet presAssocID="{0DD4723D-C301-42A9-AB26-2119C3B61BBD}" presName="background" presStyleLbl="node0" presStyleIdx="2" presStyleCnt="3"/>
      <dgm:spPr/>
    </dgm:pt>
    <dgm:pt modelId="{F5257460-8975-2A43-A344-319F08D05E5A}" type="pres">
      <dgm:prSet presAssocID="{0DD4723D-C301-42A9-AB26-2119C3B61BBD}" presName="text" presStyleLbl="fgAcc0" presStyleIdx="2" presStyleCnt="3">
        <dgm:presLayoutVars>
          <dgm:chPref val="3"/>
        </dgm:presLayoutVars>
      </dgm:prSet>
      <dgm:spPr/>
    </dgm:pt>
    <dgm:pt modelId="{B1FBDC78-6ED0-1B45-AA7E-D4CC73A14F95}" type="pres">
      <dgm:prSet presAssocID="{0DD4723D-C301-42A9-AB26-2119C3B61BBD}" presName="hierChild2" presStyleCnt="0"/>
      <dgm:spPr/>
    </dgm:pt>
  </dgm:ptLst>
  <dgm:cxnLst>
    <dgm:cxn modelId="{7EDD4D14-FE6A-8440-964C-1D015A15568B}" type="presOf" srcId="{B41FAABC-9ED7-474F-8103-44784621D2CD}" destId="{195ECC8F-773B-E34F-B3EA-BB80E9DEFB1E}" srcOrd="0" destOrd="0" presId="urn:microsoft.com/office/officeart/2005/8/layout/hierarchy1"/>
    <dgm:cxn modelId="{027EA433-43FA-4167-9B64-85A269513D6E}" srcId="{803351FB-8915-4505-AA6E-04A6482FD136}" destId="{B41FAABC-9ED7-474F-8103-44784621D2CD}" srcOrd="0" destOrd="0" parTransId="{468F62EB-09BB-415F-A800-470ED2CF6920}" sibTransId="{2B3E3272-3034-4304-BE7E-FBD81BFFF56E}"/>
    <dgm:cxn modelId="{0DE7D74F-35C4-4D78-B012-5FB891D9D5E4}" srcId="{803351FB-8915-4505-AA6E-04A6482FD136}" destId="{7ACC848E-A1CD-4E8A-86A6-5AB0DC28C42F}" srcOrd="1" destOrd="0" parTransId="{7A91C939-4712-4E3C-A960-34E3F839EA63}" sibTransId="{3443BFF6-5F08-4AE2-9CE7-52B321620649}"/>
    <dgm:cxn modelId="{C4FFF754-32E3-3B4A-908E-68DFCD22D574}" type="presOf" srcId="{0DD4723D-C301-42A9-AB26-2119C3B61BBD}" destId="{F5257460-8975-2A43-A344-319F08D05E5A}" srcOrd="0" destOrd="0" presId="urn:microsoft.com/office/officeart/2005/8/layout/hierarchy1"/>
    <dgm:cxn modelId="{4AAEF958-EF86-934D-A7B2-07338F625301}" type="presOf" srcId="{7ACC848E-A1CD-4E8A-86A6-5AB0DC28C42F}" destId="{1DB48188-9BDE-ED43-9D1A-DF2F54E71340}" srcOrd="0" destOrd="0" presId="urn:microsoft.com/office/officeart/2005/8/layout/hierarchy1"/>
    <dgm:cxn modelId="{A76D33CD-FAB0-4542-B8E6-9418437D9ED3}" type="presOf" srcId="{803351FB-8915-4505-AA6E-04A6482FD136}" destId="{C2FB3BA9-46F8-1F40-8147-5E8A2EB95044}" srcOrd="0" destOrd="0" presId="urn:microsoft.com/office/officeart/2005/8/layout/hierarchy1"/>
    <dgm:cxn modelId="{D9FCBDFE-0392-4A56-9F0D-BF20428C4C6F}" srcId="{803351FB-8915-4505-AA6E-04A6482FD136}" destId="{0DD4723D-C301-42A9-AB26-2119C3B61BBD}" srcOrd="2" destOrd="0" parTransId="{FED6CEFB-BDB7-4965-87E8-7F303D0A8807}" sibTransId="{571EC2D8-E860-42DD-9FF7-151FDB1DE5F1}"/>
    <dgm:cxn modelId="{59C91354-9186-9A4E-B044-2B69C2482B12}" type="presParOf" srcId="{C2FB3BA9-46F8-1F40-8147-5E8A2EB95044}" destId="{53ED7E69-1497-1344-A652-CCD0592497D1}" srcOrd="0" destOrd="0" presId="urn:microsoft.com/office/officeart/2005/8/layout/hierarchy1"/>
    <dgm:cxn modelId="{EEE68A53-3D9B-6A4C-A7DA-1A7817C3C02C}" type="presParOf" srcId="{53ED7E69-1497-1344-A652-CCD0592497D1}" destId="{56C8C7A9-F23D-294A-9BE8-2C0EF3912420}" srcOrd="0" destOrd="0" presId="urn:microsoft.com/office/officeart/2005/8/layout/hierarchy1"/>
    <dgm:cxn modelId="{49DF895A-7F41-5445-A282-11A4C9CABF36}" type="presParOf" srcId="{56C8C7A9-F23D-294A-9BE8-2C0EF3912420}" destId="{90C156F5-56D7-AA4B-8A01-32523B848F28}" srcOrd="0" destOrd="0" presId="urn:microsoft.com/office/officeart/2005/8/layout/hierarchy1"/>
    <dgm:cxn modelId="{B10014C6-59C8-654D-AD4F-109014463419}" type="presParOf" srcId="{56C8C7A9-F23D-294A-9BE8-2C0EF3912420}" destId="{195ECC8F-773B-E34F-B3EA-BB80E9DEFB1E}" srcOrd="1" destOrd="0" presId="urn:microsoft.com/office/officeart/2005/8/layout/hierarchy1"/>
    <dgm:cxn modelId="{36995AD0-6BAB-2E49-8DDE-2A0F7FEF0A23}" type="presParOf" srcId="{53ED7E69-1497-1344-A652-CCD0592497D1}" destId="{EE2C2A84-3EA6-F745-BD10-B1864AA19671}" srcOrd="1" destOrd="0" presId="urn:microsoft.com/office/officeart/2005/8/layout/hierarchy1"/>
    <dgm:cxn modelId="{ACF3D0D6-E5A3-7E43-B34A-1FB9BD1FBA65}" type="presParOf" srcId="{C2FB3BA9-46F8-1F40-8147-5E8A2EB95044}" destId="{668FB2E4-7858-7540-8E98-ACA43AFEF290}" srcOrd="1" destOrd="0" presId="urn:microsoft.com/office/officeart/2005/8/layout/hierarchy1"/>
    <dgm:cxn modelId="{63A3593B-6302-E145-B5FF-B0285335D0D3}" type="presParOf" srcId="{668FB2E4-7858-7540-8E98-ACA43AFEF290}" destId="{31D586D3-3975-0643-AF1B-530B3B8BFC50}" srcOrd="0" destOrd="0" presId="urn:microsoft.com/office/officeart/2005/8/layout/hierarchy1"/>
    <dgm:cxn modelId="{DACB4A41-1A9A-114E-A2C1-D78D1E1CC283}" type="presParOf" srcId="{31D586D3-3975-0643-AF1B-530B3B8BFC50}" destId="{B60D20F4-DE04-504C-A9D6-207E34BF5FB5}" srcOrd="0" destOrd="0" presId="urn:microsoft.com/office/officeart/2005/8/layout/hierarchy1"/>
    <dgm:cxn modelId="{D4793622-8C65-4F46-A1AA-9A9EC0A318B0}" type="presParOf" srcId="{31D586D3-3975-0643-AF1B-530B3B8BFC50}" destId="{1DB48188-9BDE-ED43-9D1A-DF2F54E71340}" srcOrd="1" destOrd="0" presId="urn:microsoft.com/office/officeart/2005/8/layout/hierarchy1"/>
    <dgm:cxn modelId="{80325477-4A2F-1948-8F9A-F808BE029A03}" type="presParOf" srcId="{668FB2E4-7858-7540-8E98-ACA43AFEF290}" destId="{E9850477-CF5F-394A-8134-E685E2ECE7FF}" srcOrd="1" destOrd="0" presId="urn:microsoft.com/office/officeart/2005/8/layout/hierarchy1"/>
    <dgm:cxn modelId="{9211ADA7-1D55-E942-95E0-B9BA3031ED52}" type="presParOf" srcId="{C2FB3BA9-46F8-1F40-8147-5E8A2EB95044}" destId="{349C1DC2-358E-F540-96BB-33A31DD5BD1C}" srcOrd="2" destOrd="0" presId="urn:microsoft.com/office/officeart/2005/8/layout/hierarchy1"/>
    <dgm:cxn modelId="{B7186E05-7AB1-AC4C-9EC2-F4C618A4AEB3}" type="presParOf" srcId="{349C1DC2-358E-F540-96BB-33A31DD5BD1C}" destId="{B98B38AD-741E-7446-94FF-E28EFCDE7611}" srcOrd="0" destOrd="0" presId="urn:microsoft.com/office/officeart/2005/8/layout/hierarchy1"/>
    <dgm:cxn modelId="{7551CF06-7B14-274E-B76A-036B517C1AAA}" type="presParOf" srcId="{B98B38AD-741E-7446-94FF-E28EFCDE7611}" destId="{1F813247-1811-7F49-9BBE-074687722BD7}" srcOrd="0" destOrd="0" presId="urn:microsoft.com/office/officeart/2005/8/layout/hierarchy1"/>
    <dgm:cxn modelId="{339B8AA0-A82F-314E-B6EF-12C148F6650E}" type="presParOf" srcId="{B98B38AD-741E-7446-94FF-E28EFCDE7611}" destId="{F5257460-8975-2A43-A344-319F08D05E5A}" srcOrd="1" destOrd="0" presId="urn:microsoft.com/office/officeart/2005/8/layout/hierarchy1"/>
    <dgm:cxn modelId="{14AF1291-92A8-654A-8F98-E94622DD66AE}" type="presParOf" srcId="{349C1DC2-358E-F540-96BB-33A31DD5BD1C}" destId="{B1FBDC78-6ED0-1B45-AA7E-D4CC73A14F9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C156F5-56D7-AA4B-8A01-32523B848F28}">
      <dsp:nvSpPr>
        <dsp:cNvPr id="0" name=""/>
        <dsp:cNvSpPr/>
      </dsp:nvSpPr>
      <dsp:spPr>
        <a:xfrm>
          <a:off x="0" y="756623"/>
          <a:ext cx="3007072" cy="19094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5ECC8F-773B-E34F-B3EA-BB80E9DEFB1E}">
      <dsp:nvSpPr>
        <dsp:cNvPr id="0" name=""/>
        <dsp:cNvSpPr/>
      </dsp:nvSpPr>
      <dsp:spPr>
        <a:xfrm>
          <a:off x="334119" y="1074036"/>
          <a:ext cx="3007072" cy="19094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Perceptual Decision-Making</a:t>
          </a:r>
        </a:p>
      </dsp:txBody>
      <dsp:txXfrm>
        <a:off x="390046" y="1129963"/>
        <a:ext cx="2895218" cy="1797636"/>
      </dsp:txXfrm>
    </dsp:sp>
    <dsp:sp modelId="{B60D20F4-DE04-504C-A9D6-207E34BF5FB5}">
      <dsp:nvSpPr>
        <dsp:cNvPr id="0" name=""/>
        <dsp:cNvSpPr/>
      </dsp:nvSpPr>
      <dsp:spPr>
        <a:xfrm>
          <a:off x="3675310" y="756623"/>
          <a:ext cx="3007072" cy="19094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B48188-9BDE-ED43-9D1A-DF2F54E71340}">
      <dsp:nvSpPr>
        <dsp:cNvPr id="0" name=""/>
        <dsp:cNvSpPr/>
      </dsp:nvSpPr>
      <dsp:spPr>
        <a:xfrm>
          <a:off x="4009429" y="1074036"/>
          <a:ext cx="3007072" cy="19094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Cognitive Control</a:t>
          </a:r>
        </a:p>
      </dsp:txBody>
      <dsp:txXfrm>
        <a:off x="4065356" y="1129963"/>
        <a:ext cx="2895218" cy="1797636"/>
      </dsp:txXfrm>
    </dsp:sp>
    <dsp:sp modelId="{1F813247-1811-7F49-9BBE-074687722BD7}">
      <dsp:nvSpPr>
        <dsp:cNvPr id="0" name=""/>
        <dsp:cNvSpPr/>
      </dsp:nvSpPr>
      <dsp:spPr>
        <a:xfrm>
          <a:off x="7350620" y="756623"/>
          <a:ext cx="3007072" cy="19094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257460-8975-2A43-A344-319F08D05E5A}">
      <dsp:nvSpPr>
        <dsp:cNvPr id="0" name=""/>
        <dsp:cNvSpPr/>
      </dsp:nvSpPr>
      <dsp:spPr>
        <a:xfrm>
          <a:off x="7684739" y="1074036"/>
          <a:ext cx="3007072" cy="19094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Stimulus Selective Stopping</a:t>
          </a:r>
        </a:p>
      </dsp:txBody>
      <dsp:txXfrm>
        <a:off x="7740666" y="1129963"/>
        <a:ext cx="2895218" cy="17976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1D2F84-E88F-5145-822D-7E5406281FE1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A55253-AFBA-F840-ACD1-7C02ED284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962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AC31B-F0A0-6842-5ABB-082739D55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16CCA-C919-A135-9132-0364FCF53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5A6537-45EF-523E-1196-F904128A9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C5CA3-734A-D98C-E245-F332E82C34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654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ADBA4-2EF5-F728-4F9D-06DFE9DA9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D445FB-4074-A702-8735-6CBE86A443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9BD8DF-E128-7F99-866C-C3CBCAE3C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CA8D8-32DF-F9FC-898A-365738D924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387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7B2FF-1E88-9843-BDA8-32F083A2A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A64116-7285-3F24-E816-EE6DD56F1D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1B7300-F2D2-C0B2-04BB-910C3C8C2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C82C2-E515-EC29-DA20-FD0D7A4DBF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8847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599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99585-F2A1-074E-2B5F-E8F898EBC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1031AF-2EE1-D6FE-C7D1-6C73B1BF4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540154-4642-6766-3773-F1BE4CD17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1CF4A-E00A-0432-6304-2A204A6BD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847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D72B7-97CE-D224-CD85-4D78BB8CC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C989E3-D9A8-7ABD-D7BB-6B86A7AAAE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5CD718-915A-8092-18B9-AB918BF703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D9802-58BC-40DD-6F0A-679AF01FD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779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2098F-98F6-223A-1C7B-EE72E8BC2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1C5D6-B357-A03E-5943-62516B6C74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77D8C1-9ECE-5ADF-75C8-BC3B7C4A0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A5C74-8328-1E42-52AA-C3F72994C3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A55253-AFBA-F840-ACD1-7C02ED28446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43069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C6B43-C411-B2A4-4FFA-76EC015FD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B2D3B5-8B02-A87F-7C20-42CD91CAF2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46349C-FED7-B815-2B99-8D698FA2C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A5FCE-9AB2-7B0F-3635-A4F90F8CFA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A55253-AFBA-F840-ACD1-7C02ED28446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78886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06529-813A-A3A1-DDC2-E5D945836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D0D64-731D-8E70-858D-1CD4008AD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C4CCC9-68D0-1BF9-A193-2FB843A62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61C57-36EB-A59D-C842-A085002E39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A55253-AFBA-F840-ACD1-7C02ED28446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60751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613BD-2E6F-9F9D-899E-9743B8E3F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3E24A0-79BF-38A2-EB41-A140F0C40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8DB458-3DFE-0189-31E4-AA8E30095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08B02-99A0-EEC3-2467-C02E5C3ECE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A55253-AFBA-F840-ACD1-7C02ED28446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41870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5685E-DA80-88A8-355A-F5EB8A9F9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A865FC-6B7D-9620-D6B8-C014ADE943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35BD28-70CA-DF7C-A680-C0D2C2B94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70EEE-F6E4-780E-13CB-27419195FF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A55253-AFBA-F840-ACD1-7C02ED28446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93563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AD8-5442-232A-9A6C-3F3A81B1A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C669AC-15A7-48F2-F33B-412260525D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118AE2-D842-DA7B-A4CC-C65AB19BDD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6F594-4698-6AF3-42D0-2ED0AD1F47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233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DDEFE-2029-F4DC-DFF2-3F591D260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6B7010-0793-F597-0895-F94614201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07EF33-35F0-3A89-1D95-A1B5452AA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3041F-9536-1D42-969F-21B9D2939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9245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EA354-0492-EE40-919C-B3DF7ED4E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50B7CB-7A44-6B3F-8506-9763404DD0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91DF87-CB3C-7213-2DE2-A4906A96F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D6215-029C-5674-657E-DF67DB7F6B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5673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EC2C1-4323-2ABE-C3E2-801AA3CBC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265974-2D7B-4611-B07B-4CF7A6919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2BB817-AF4D-FAB3-7A28-6EFA53C56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CB0CA-2E67-AC94-7CE9-580C309934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7353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29FB7-9097-7B8E-CEAE-F60AF16E9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390861-3AEB-342C-077C-AD409EE596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6E0195-E3FC-8235-2B72-7A0F435EE8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29A2E-7212-B04B-1719-1828180CA3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88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D2387-5A2C-BE3B-C6CA-3CBC62E22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73BCA8-A37C-2F20-FA9A-EA7A89BF34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E6BBEE-6BA4-E1E8-1078-1B11C2279A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9ED64-A50D-FE7C-B295-D6939A8907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7985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0C851-356E-A671-25B4-391F8E42B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E8BC04-0A57-207F-811C-9B9B649ED3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C71F32-E11C-DF8D-2418-316632EC8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21B3E-6FA6-3375-ECD6-DC32335F4D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0827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69F0C-8C05-E18D-E29B-72985BC78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B15643-6D23-9A78-DC08-C8DE1DC897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68DE70-2D62-5CCE-C358-63E2E5EC5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EB370-641D-9D67-31FB-82874AD7F1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606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8A580-D54B-CED2-CCA2-52AB46AAA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0D7496-6B82-132C-3C2A-555FD90EF4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957D61-4667-049A-4B1A-D9A03D37C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AFAB7-0067-F590-E36A-AFFA6061D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3132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934C6-C283-5EA0-E0B9-6A3558EEA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015D31-18DE-221A-2094-7F7C67CEDC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2DEFFE-3DA6-100E-5C68-13D9BE6B8A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EBB2D-5646-7A46-8FA2-438A66699D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127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CCBB1-C704-34A4-A11A-3376467DE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FEEF83-AE43-90F1-515E-F033ACCA9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52AF4E-8FE0-6425-4EA2-69EC640CDC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B1ECC-B319-6977-A8B4-B406C522B4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7351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32B9A-D905-F4EE-8508-C798D60C0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4F797B-D313-56DF-FAB0-0F9873CCA1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DEDC93-0DC1-2C56-F6BF-B744FC91A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B7541-E521-502C-9259-81A5ACF5A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9633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BD602-359C-D80C-7AF3-EDD49B3DF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0ADBDC-4156-0C4C-DBD4-6985CDA7F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B31A4E-C611-2995-35A1-1124F4CB2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809E8-9559-3A5F-F0E7-47230A0341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1342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86AE9-D59C-C42D-4D3F-CDCBDEF17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779E80-6E1E-E053-2A53-920048941A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6A014A-6F8F-8BA0-5CFC-CAAF76837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E3684-2CC0-709D-1475-2CFE79C31A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6365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0B324-6624-D4BF-3B2E-62FD6A12A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D2643D-BFE6-569B-6AA9-CFEF03FE59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A2C8EC-D87C-1B6D-662D-D647ACCF6A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531459-FD3E-8AFE-AF7B-8A8E2618D3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2563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2D6F7-C347-A7D8-EFE5-57F2C9F44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1892AD-3B60-A2BB-72B4-60200FEAC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559418-624F-1829-8069-2C949705F8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A8DA5-2476-2EB7-3DE4-CE1F17CEFF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0454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DBEFC-7442-2C0E-D335-7CF221EA3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D99BCE-CFA7-43A7-EC33-795342325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641919-E3E1-B936-9FCA-48CDCE03E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4DBD6-CF6C-4C87-1051-DE7016EE67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714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C622F-942C-3B33-6FA7-B7AF5C3C5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8F39F3-39A2-C68B-9185-063D43B8C3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A71FB6-1B5D-A587-B1E0-8E708C9A5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886FE-8CFE-B87D-93ED-0D56B30C5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5143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B5A44-F883-ECC0-6E90-626E8A9F9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95BFF8-3119-E1CD-B57E-6C966924E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3B4017-2CFC-F082-E65B-3E045910E8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6741B-FF9B-57F9-9F0E-EB5A2B19B6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3415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444FC-A86F-1E3C-5D2C-787D50987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C6F6F8-88E0-E1D6-6DC6-337890F087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1552A0-F343-A972-A891-25A1944FB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0255C-F1CA-2ECF-0AB9-54FD0835E9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40298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5E1DE-7DBD-DD6C-764E-FBBAE81C7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0A9B21-24F3-DEC8-B396-86263C3C8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3F5EA7-EAF5-3477-DD18-18D9AF52D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48312-81DC-47AA-D561-5BA5294C3E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922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38556-B29B-6E47-E0DD-83635558F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30D199-47FB-2324-B2D2-D52AF276C7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1E7D13-6F87-B29E-A508-E0FFCA2B9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BCC23-955F-9479-F047-E67008B898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5938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68C72-542A-0C45-D129-FC502D1F8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54FD11-5B02-F9F3-7E28-6C7DEECAC1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4C7227-B676-205B-E212-EF98945660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0491B-AB68-324F-0318-2E41425C8C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50791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128CA-23BC-952A-BD06-6646C531E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FE1470-CF11-03A3-AA9F-0CEC547F26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180FCC-DF95-6A96-E900-DB1691B25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31BBD-EBED-B001-5FE0-3C12A8498B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9867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7B146-C642-3B0B-BD5D-C81CD0ACB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EBD91C-997D-A42A-CEBC-6E4724408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948F7F-0F63-3099-F7F4-ED0C13A79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3A06A-5650-1CEE-0269-12484A91E8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438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A7F48-6302-3474-6D5C-3019AC6C7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052F92-31AF-0568-4419-3D5BF27B20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A8EA01-0419-E7C2-21DF-33C712DC6C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F891E-923F-1AE4-F001-9F59C6C82A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87510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4C56B-4281-0A31-0747-13203447D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0AFF4C-E92D-1C3B-E82A-8202A24F77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405B0C-7E64-4ED6-A759-38CAEE670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93A03-3DF7-0775-0255-87067A35EA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72060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6F848-90C9-D3AF-1511-193881474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8D738B-C5EC-4746-5DCC-290DA71895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C5F80C-9C04-7A90-AD5F-1774121EDD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601BE-17A4-BD9E-7DB5-8D64055552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04614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E08CB-B8E9-CB3B-8391-B3CAE99D0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CE7764-750D-D1B6-B017-5B6CB868C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E6F9B5-EE3E-9AF6-4447-4B8445E11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3FB30-1D29-5243-503D-6DB2318131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51556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FC545-9387-0772-4116-86BE370CC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D06C8C-0925-2692-C3B0-237CFC97E4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070FA-CF17-7883-270B-793EEAF4D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763B6-ADA3-CCBC-4EBF-2854403D7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8074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94F22-76CD-073D-55B8-D5EB93FFA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CF3C04-0D83-F15F-B86D-C25322319A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B9466C-863E-198E-0E49-030F678F76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CA1FE-9B8D-9A25-8C83-4A1BF26F6F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08929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121B6-A081-39F1-763C-F46102D8F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DE95C9-A549-DDEA-FAC8-5DB93F7D2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CC98B3-4352-B7F1-C6FD-EB5515C6F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37D8D-A7B4-7A58-5CD6-0A3D88A071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17646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D78CC-9A9B-0EE0-DCEF-712067B4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650D3-E2E9-511D-70BD-0A05431BA6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B43B06-F9F8-F97E-C36A-814D90BC9D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6B339-16D5-A1C0-DEA9-FB280AF8F0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9086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7860B-DB88-35EE-127C-45B278AAD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BE6BFD-EA20-DBDE-85FE-77A63419A6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C6B52F-B3F6-18B2-D46F-DE879C0347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8F28A-002A-1686-FD2E-55E19B98FF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5253-AFBA-F840-ACD1-7C02ED284464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311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904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481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628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7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8/13/26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870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8/13/26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982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8/13/26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889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533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91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514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403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511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818F08-948C-CA24-7186-0601DFC7E0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r>
              <a:rPr lang="en-US" sz="4800" cap="none" dirty="0">
                <a:latin typeface="Lava Devanagari Medium" pitchFamily="2" charset="77"/>
                <a:cs typeface="Lava Devanagari Medium" pitchFamily="2" charset="77"/>
              </a:rPr>
              <a:t>Building Cognitive Architectures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A73A91-03C7-665E-D1C8-F467EADCD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4785543"/>
            <a:ext cx="5322013" cy="100565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700" dirty="0">
                <a:latin typeface="Lato" panose="020F0502020204030203" pitchFamily="34" charset="77"/>
              </a:rPr>
              <a:t>Niek Stevenson, Dora Matzke, Andrew Heathcote</a:t>
            </a:r>
          </a:p>
          <a:p>
            <a:pPr>
              <a:lnSpc>
                <a:spcPct val="100000"/>
              </a:lnSpc>
            </a:pPr>
            <a:r>
              <a:rPr lang="en-US" sz="1700" dirty="0">
                <a:latin typeface="Lato" panose="020F0502020204030203" pitchFamily="34" charset="77"/>
              </a:rPr>
              <a:t>University of Amsterdam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2FE3967-B1B1-DC23-425C-C0A0583A63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816" r="26717" b="-1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778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D096A-02E1-D9F2-9FA4-2ABBD9507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777C5-BB48-C7A3-2B2A-332C076EA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Building Cognitive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66FC6-0FD2-78E9-42A0-01EFFFE34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18905"/>
            <a:ext cx="10691265" cy="373989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77"/>
              </a:rPr>
              <a:t>Evidence accumulation models link behavior to latent processes</a:t>
            </a:r>
          </a:p>
          <a:p>
            <a:pPr marL="0" indent="0">
              <a:buNone/>
            </a:pPr>
            <a:endParaRPr lang="en-US" dirty="0">
              <a:latin typeface="Lato" panose="020F0502020204030203" pitchFamily="34" charset="77"/>
            </a:endParaRPr>
          </a:p>
          <a:p>
            <a:endParaRPr lang="en-US" dirty="0">
              <a:latin typeface="Lato" panose="020F0502020204030203" pitchFamily="34" charset="77"/>
            </a:endParaRPr>
          </a:p>
          <a:p>
            <a:pPr marL="0" indent="0">
              <a:buNone/>
            </a:pPr>
            <a:endParaRPr lang="en-US" dirty="0">
              <a:latin typeface="Lato" panose="020F050202020403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1067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AD14E-B565-59F3-0066-796424390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AA8A3-4C80-DC8F-2993-1F8586BB9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Building Cognitive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9D797-20F8-85E5-2F8D-83A10ABB8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18905"/>
            <a:ext cx="10691265" cy="373989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77"/>
              </a:rPr>
              <a:t>Evidence accumulation models link behavior to latent processes</a:t>
            </a:r>
          </a:p>
          <a:p>
            <a:r>
              <a:rPr lang="en-US" dirty="0">
                <a:latin typeface="Lato" panose="020F0502020204030203" pitchFamily="34" charset="77"/>
              </a:rPr>
              <a:t>Choices and response times arise from competing processes</a:t>
            </a:r>
          </a:p>
          <a:p>
            <a:r>
              <a:rPr lang="en-US" dirty="0">
                <a:latin typeface="Lato" panose="020F0502020204030203" pitchFamily="34" charset="77"/>
              </a:rPr>
              <a:t>Model structure encodes assumptions about cognition</a:t>
            </a:r>
          </a:p>
          <a:p>
            <a:endParaRPr lang="en-US" dirty="0">
              <a:latin typeface="Lato" panose="020F0502020204030203" pitchFamily="34" charset="77"/>
            </a:endParaRPr>
          </a:p>
          <a:p>
            <a:endParaRPr lang="en-US" dirty="0">
              <a:latin typeface="Lato" panose="020F0502020204030203" pitchFamily="34" charset="77"/>
            </a:endParaRPr>
          </a:p>
          <a:p>
            <a:pPr marL="0" indent="0">
              <a:buNone/>
            </a:pPr>
            <a:endParaRPr lang="en-US" dirty="0">
              <a:latin typeface="Lato" panose="020F050202020403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7515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BC40B-29CC-2F97-4761-254F9D86F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7E1AF-C6C9-980D-BF4A-259627CBE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Building Cognitive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3D0A2-EE25-4DB4-87D8-B86257E5E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18905"/>
            <a:ext cx="10691265" cy="373989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77"/>
              </a:rPr>
              <a:t>Evidence accumulation models link behavior to latent processes</a:t>
            </a:r>
          </a:p>
          <a:p>
            <a:r>
              <a:rPr lang="en-US" dirty="0">
                <a:latin typeface="Lato" panose="020F0502020204030203" pitchFamily="34" charset="77"/>
              </a:rPr>
              <a:t>Choices and response times arise from competing processes</a:t>
            </a:r>
          </a:p>
          <a:p>
            <a:r>
              <a:rPr lang="en-US" dirty="0">
                <a:latin typeface="Lato" panose="020F0502020204030203" pitchFamily="34" charset="77"/>
              </a:rPr>
              <a:t>Model structure encodes assumptions about cognition</a:t>
            </a:r>
          </a:p>
          <a:p>
            <a:endParaRPr lang="en-US" dirty="0">
              <a:latin typeface="Lato" panose="020F0502020204030203" pitchFamily="34" charset="77"/>
            </a:endParaRPr>
          </a:p>
          <a:p>
            <a:endParaRPr lang="en-US" dirty="0">
              <a:latin typeface="Lato" panose="020F0502020204030203" pitchFamily="34" charset="77"/>
            </a:endParaRPr>
          </a:p>
          <a:p>
            <a:pPr marL="0" indent="0" algn="ctr">
              <a:buNone/>
            </a:pPr>
            <a:r>
              <a:rPr lang="en-US" sz="3200" dirty="0">
                <a:latin typeface="Lato" panose="020F0502020204030203" pitchFamily="34" charset="77"/>
              </a:rPr>
              <a:t>A General Framework for Cognitive Architectures</a:t>
            </a:r>
          </a:p>
          <a:p>
            <a:pPr marL="0" indent="0">
              <a:buNone/>
            </a:pPr>
            <a:endParaRPr lang="en-US" dirty="0">
              <a:latin typeface="Lato" panose="020F050202020403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28163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7B1D7-CE39-D114-58F4-B15A755AE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Evidence Accumulation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2CE915-167E-C4D1-154F-DB25D7EC3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7167" y="1320782"/>
            <a:ext cx="3069021" cy="26853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FB4897-A30B-3805-536F-89C86E3E7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236" y="1405312"/>
            <a:ext cx="3069021" cy="268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738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09BA1-23F4-7FCD-1E83-4731C612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8955B-5E7B-C0E7-D783-4AECF45E3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Evidence Accumulation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D81D2-3BA0-822A-DEF4-1C47BDEC0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147" y="3728387"/>
            <a:ext cx="10691265" cy="3739896"/>
          </a:xfrm>
        </p:spPr>
        <p:txBody>
          <a:bodyPr/>
          <a:lstStyle/>
          <a:p>
            <a:r>
              <a:rPr lang="en-US" dirty="0">
                <a:latin typeface="Lato" panose="020F0502020204030203" pitchFamily="34" charset="77"/>
              </a:rPr>
              <a:t>Accumulators map directly to responses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Extensions have been proposed (e.g., van </a:t>
            </a:r>
            <a:r>
              <a:rPr lang="en-US" dirty="0" err="1">
                <a:latin typeface="Lato" panose="020F0502020204030203" pitchFamily="34" charset="77"/>
              </a:rPr>
              <a:t>Ravenzwaaij</a:t>
            </a:r>
            <a:r>
              <a:rPr lang="en-US" dirty="0">
                <a:latin typeface="Lato" panose="020F0502020204030203" pitchFamily="34" charset="77"/>
              </a:rPr>
              <a:t> et. al., 2020)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F5AB12-5AB6-88F5-156B-769925BAF606}"/>
              </a:ext>
            </a:extLst>
          </p:cNvPr>
          <p:cNvSpPr txBox="1"/>
          <p:nvPr/>
        </p:nvSpPr>
        <p:spPr>
          <a:xfrm>
            <a:off x="7498370" y="6119336"/>
            <a:ext cx="40464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Lato" panose="020F0502020204030203" pitchFamily="34" charset="77"/>
              </a:rPr>
              <a:t>Van </a:t>
            </a:r>
            <a:r>
              <a:rPr lang="en-US" sz="1400" dirty="0" err="1">
                <a:latin typeface="Lato" panose="020F0502020204030203" pitchFamily="34" charset="77"/>
              </a:rPr>
              <a:t>Ravenzwaaij</a:t>
            </a:r>
            <a:r>
              <a:rPr lang="en-US" sz="1400" dirty="0">
                <a:latin typeface="Lato" panose="020F0502020204030203" pitchFamily="34" charset="77"/>
              </a:rPr>
              <a:t>, Brown, Marley &amp; Heathcote (2020 Accumulating advantages: A new conceptualization of rapid multiple choice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9D800E-6ECC-0792-A81A-7932067EE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7167" y="1320782"/>
            <a:ext cx="3069021" cy="26853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A3D885-AFD7-616F-2337-311448BD02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236" y="1405312"/>
            <a:ext cx="3069021" cy="268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588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C40F4-DEDA-490F-1275-0DE06AFCC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3E2B6-6186-EAC8-EBD5-F27D3E7DB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Evidence Accumulation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FFDA3-0C53-4F98-3B39-C945980E7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147" y="3728387"/>
            <a:ext cx="10691265" cy="3739896"/>
          </a:xfrm>
        </p:spPr>
        <p:txBody>
          <a:bodyPr/>
          <a:lstStyle/>
          <a:p>
            <a:r>
              <a:rPr lang="en-US" dirty="0">
                <a:latin typeface="Lato" panose="020F0502020204030203" pitchFamily="34" charset="77"/>
              </a:rPr>
              <a:t>Accumulators map directly to responses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Extensions have been proposed (e.g., van </a:t>
            </a:r>
            <a:r>
              <a:rPr lang="en-US" dirty="0" err="1">
                <a:latin typeface="Lato" panose="020F0502020204030203" pitchFamily="34" charset="77"/>
              </a:rPr>
              <a:t>Ravenzwaaij</a:t>
            </a:r>
            <a:r>
              <a:rPr lang="en-US" dirty="0">
                <a:latin typeface="Lato" panose="020F0502020204030203" pitchFamily="34" charset="77"/>
              </a:rPr>
              <a:t> et. al., 2020)</a:t>
            </a:r>
          </a:p>
          <a:p>
            <a:r>
              <a:rPr lang="en-US" dirty="0">
                <a:latin typeface="Lato" panose="020F0502020204030203" pitchFamily="34" charset="77"/>
              </a:rPr>
              <a:t>Constrains the hypothesis space implicitly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1C953C-0B12-CA69-A569-0C1196E75E8F}"/>
              </a:ext>
            </a:extLst>
          </p:cNvPr>
          <p:cNvSpPr txBox="1"/>
          <p:nvPr/>
        </p:nvSpPr>
        <p:spPr>
          <a:xfrm>
            <a:off x="7498370" y="6119336"/>
            <a:ext cx="40464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Lato" panose="020F0502020204030203" pitchFamily="34" charset="77"/>
              </a:rPr>
              <a:t>Van </a:t>
            </a:r>
            <a:r>
              <a:rPr lang="en-US" sz="1400" dirty="0" err="1">
                <a:latin typeface="Lato" panose="020F0502020204030203" pitchFamily="34" charset="77"/>
              </a:rPr>
              <a:t>Ravenzwaaij</a:t>
            </a:r>
            <a:r>
              <a:rPr lang="en-US" sz="1400" dirty="0">
                <a:latin typeface="Lato" panose="020F0502020204030203" pitchFamily="34" charset="77"/>
              </a:rPr>
              <a:t>, Brown, Marley &amp; Heathcote (2020 Accumulating advantages: A new conceptualization of rapid multiple choice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77888E-F3A3-5B05-7E85-7A4D30992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7167" y="1320782"/>
            <a:ext cx="3069021" cy="26853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1ED52E-776C-F57B-07E3-DC39388914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236" y="1405312"/>
            <a:ext cx="3069021" cy="268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869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D7A2-1353-5763-FF27-D7F3F2E52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C17D596-4F77-E648-5127-3989D388F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D96D4-A5D6-DE39-9857-73C479DA6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5713"/>
            <a:ext cx="3721629" cy="2648594"/>
          </a:xfrm>
        </p:spPr>
        <p:txBody>
          <a:bodyPr>
            <a:normAutofit/>
          </a:bodyPr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Hypothesis formulation</a:t>
            </a:r>
          </a:p>
        </p:txBody>
      </p:sp>
      <p:pic>
        <p:nvPicPr>
          <p:cNvPr id="5" name="Picture 4" descr="One big red thumbtack in front of many smaller black thumbtacks">
            <a:extLst>
              <a:ext uri="{FF2B5EF4-FFF2-40B4-BE49-F238E27FC236}">
                <a16:creationId xmlns:a16="http://schemas.microsoft.com/office/drawing/2014/main" id="{9EDEE58A-610C-9392-B2C3-5E21CA9753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10" r="-1" b="-1"/>
          <a:stretch>
            <a:fillRect/>
          </a:stretch>
        </p:blipFill>
        <p:spPr>
          <a:xfrm>
            <a:off x="715365" y="3524790"/>
            <a:ext cx="3721629" cy="2648593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025CE15-B6DA-9EB8-BEF7-458F88B1B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76800" y="723900"/>
            <a:ext cx="0" cy="5449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EEA7D0C-045D-DC8D-DF51-739EBF538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7407" y="555712"/>
            <a:ext cx="6065179" cy="5614416"/>
          </a:xfrm>
        </p:spPr>
        <p:txBody>
          <a:bodyPr>
            <a:normAutofit/>
          </a:bodyPr>
          <a:lstStyle/>
          <a:p>
            <a:r>
              <a:rPr lang="en-US" b="1" dirty="0">
                <a:latin typeface="Lato" panose="020F0502020204030203" pitchFamily="34" charset="77"/>
              </a:rPr>
              <a:t>Decision-making hypotheses are structural:</a:t>
            </a:r>
          </a:p>
          <a:p>
            <a:pPr marL="457200" lvl="1" indent="0">
              <a:buNone/>
            </a:pPr>
            <a:endParaRPr lang="en-US" dirty="0">
              <a:latin typeface="Lato" panose="020F050202020403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26720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FD8539-CE97-3789-CC68-97BCAFED2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951F92B-0E44-7A6C-B6AD-D9A3129FD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2FF19B-443D-2E67-4CEC-DFBC2F390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5713"/>
            <a:ext cx="3721629" cy="2648594"/>
          </a:xfrm>
        </p:spPr>
        <p:txBody>
          <a:bodyPr>
            <a:normAutofit/>
          </a:bodyPr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Hypothesis formulation</a:t>
            </a:r>
          </a:p>
        </p:txBody>
      </p:sp>
      <p:pic>
        <p:nvPicPr>
          <p:cNvPr id="5" name="Picture 4" descr="One big red thumbtack in front of many smaller black thumbtacks">
            <a:extLst>
              <a:ext uri="{FF2B5EF4-FFF2-40B4-BE49-F238E27FC236}">
                <a16:creationId xmlns:a16="http://schemas.microsoft.com/office/drawing/2014/main" id="{E009172A-F778-178F-3B3B-CBE9BE2ADB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10" r="-1" b="-1"/>
          <a:stretch>
            <a:fillRect/>
          </a:stretch>
        </p:blipFill>
        <p:spPr>
          <a:xfrm>
            <a:off x="715365" y="3524790"/>
            <a:ext cx="3721629" cy="2648593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D85124D-D5BA-D0E8-A3BC-3691735C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76800" y="723900"/>
            <a:ext cx="0" cy="5449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7AA79E28-F46C-CBD3-6C40-9EECD1D52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7407" y="555712"/>
            <a:ext cx="6065179" cy="5614416"/>
          </a:xfrm>
        </p:spPr>
        <p:txBody>
          <a:bodyPr>
            <a:normAutofit/>
          </a:bodyPr>
          <a:lstStyle/>
          <a:p>
            <a:r>
              <a:rPr lang="en-US" b="1" dirty="0">
                <a:latin typeface="Lato" panose="020F0502020204030203" pitchFamily="34" charset="77"/>
              </a:rPr>
              <a:t>Decision-making hypotheses are structural: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Which processes are present?</a:t>
            </a:r>
          </a:p>
          <a:p>
            <a:pPr marL="457200" lvl="1" indent="0">
              <a:buNone/>
            </a:pPr>
            <a:br>
              <a:rPr lang="en-US" dirty="0">
                <a:latin typeface="Lato" panose="020F0502020204030203" pitchFamily="34" charset="77"/>
              </a:rPr>
            </a:br>
            <a:r>
              <a:rPr lang="en-US" dirty="0">
                <a:latin typeface="Lato" panose="020F0502020204030203" pitchFamily="34" charset="77"/>
              </a:rPr>
              <a:t>	</a:t>
            </a:r>
          </a:p>
          <a:p>
            <a:pPr marL="457200" lvl="1" indent="0">
              <a:buNone/>
            </a:pPr>
            <a:endParaRPr lang="en-US" dirty="0">
              <a:latin typeface="Lato" panose="020F050202020403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7011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E0578F-AF19-B5AE-AD65-2045B9BF0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CE3843C5-D05B-FC5A-C23D-46EA63468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E8724C-B8F2-AFC6-6678-40B7B0A1F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5713"/>
            <a:ext cx="3721629" cy="2648594"/>
          </a:xfrm>
        </p:spPr>
        <p:txBody>
          <a:bodyPr>
            <a:normAutofit/>
          </a:bodyPr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Hypothesis formulation</a:t>
            </a:r>
          </a:p>
        </p:txBody>
      </p:sp>
      <p:pic>
        <p:nvPicPr>
          <p:cNvPr id="5" name="Picture 4" descr="One big red thumbtack in front of many smaller black thumbtacks">
            <a:extLst>
              <a:ext uri="{FF2B5EF4-FFF2-40B4-BE49-F238E27FC236}">
                <a16:creationId xmlns:a16="http://schemas.microsoft.com/office/drawing/2014/main" id="{341DEFB4-87EC-7C51-53E6-77E2FD530C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10" r="-1" b="-1"/>
          <a:stretch>
            <a:fillRect/>
          </a:stretch>
        </p:blipFill>
        <p:spPr>
          <a:xfrm>
            <a:off x="715365" y="3524790"/>
            <a:ext cx="3721629" cy="2648593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5C27C1B-737A-6868-8546-265018B08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76800" y="723900"/>
            <a:ext cx="0" cy="5449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40E050A0-4920-69CF-7060-44144A6A4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7407" y="555712"/>
            <a:ext cx="6065179" cy="5614416"/>
          </a:xfrm>
        </p:spPr>
        <p:txBody>
          <a:bodyPr>
            <a:normAutofit/>
          </a:bodyPr>
          <a:lstStyle/>
          <a:p>
            <a:r>
              <a:rPr lang="en-US" b="1" dirty="0">
                <a:latin typeface="Lato" panose="020F0502020204030203" pitchFamily="34" charset="77"/>
              </a:rPr>
              <a:t>Decision-making hypotheses are structural: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Which processes are present?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How do these processes interact or compete?</a:t>
            </a:r>
          </a:p>
          <a:p>
            <a:pPr marL="457200" lvl="1" indent="0">
              <a:buNone/>
            </a:pPr>
            <a:endParaRPr lang="en-US" dirty="0">
              <a:latin typeface="Lato" panose="020F050202020403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46774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A77E90-5FD9-B198-4376-912929DB6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A8BB0C37-2208-589B-A1A5-F7BAE1A2F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99698F-D4C7-52C9-D44B-C38869F97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5713"/>
            <a:ext cx="3721629" cy="2648594"/>
          </a:xfrm>
        </p:spPr>
        <p:txBody>
          <a:bodyPr>
            <a:normAutofit/>
          </a:bodyPr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Hypothesis formulation</a:t>
            </a:r>
          </a:p>
        </p:txBody>
      </p:sp>
      <p:pic>
        <p:nvPicPr>
          <p:cNvPr id="5" name="Picture 4" descr="One big red thumbtack in front of many smaller black thumbtacks">
            <a:extLst>
              <a:ext uri="{FF2B5EF4-FFF2-40B4-BE49-F238E27FC236}">
                <a16:creationId xmlns:a16="http://schemas.microsoft.com/office/drawing/2014/main" id="{7ED16B8B-5B51-11E6-E7AD-ED5CF3BFB9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10" r="-1" b="-1"/>
          <a:stretch>
            <a:fillRect/>
          </a:stretch>
        </p:blipFill>
        <p:spPr>
          <a:xfrm>
            <a:off x="715365" y="3524790"/>
            <a:ext cx="3721629" cy="2648593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C488508-CD5F-A286-2DF0-AAA3DB0D3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76800" y="723900"/>
            <a:ext cx="0" cy="5449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8D89A9B1-B622-7520-F759-6E71B1492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7407" y="555712"/>
            <a:ext cx="6065179" cy="5614416"/>
          </a:xfrm>
        </p:spPr>
        <p:txBody>
          <a:bodyPr>
            <a:normAutofit/>
          </a:bodyPr>
          <a:lstStyle/>
          <a:p>
            <a:r>
              <a:rPr lang="en-US" b="1" dirty="0">
                <a:latin typeface="Lato" panose="020F0502020204030203" pitchFamily="34" charset="77"/>
              </a:rPr>
              <a:t>Decision-making hypotheses are structural: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Which processes are present?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How do these processes interact or compete?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How is evidence formed and combined?</a:t>
            </a:r>
          </a:p>
          <a:p>
            <a:pPr marL="457200" lvl="1" indent="0">
              <a:buNone/>
            </a:pPr>
            <a:endParaRPr lang="en-US" dirty="0">
              <a:latin typeface="Lato" panose="020F050202020403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90506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F3497D-2DA6-30CA-6B85-8682D0A14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A93105A-DE2B-7BAA-DF10-71825644F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212851-9975-F7E3-D26B-C095C170B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5713"/>
            <a:ext cx="3721629" cy="2648594"/>
          </a:xfrm>
        </p:spPr>
        <p:txBody>
          <a:bodyPr>
            <a:normAutofit/>
          </a:bodyPr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Hypothesis formulation</a:t>
            </a:r>
          </a:p>
        </p:txBody>
      </p:sp>
      <p:pic>
        <p:nvPicPr>
          <p:cNvPr id="5" name="Picture 4" descr="One big red thumbtack in front of many smaller black thumbtacks">
            <a:extLst>
              <a:ext uri="{FF2B5EF4-FFF2-40B4-BE49-F238E27FC236}">
                <a16:creationId xmlns:a16="http://schemas.microsoft.com/office/drawing/2014/main" id="{1ADFF068-12FF-A8F6-0D61-49B185AFD8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10" r="-1" b="-1"/>
          <a:stretch>
            <a:fillRect/>
          </a:stretch>
        </p:blipFill>
        <p:spPr>
          <a:xfrm>
            <a:off x="715365" y="3524790"/>
            <a:ext cx="3721629" cy="2648593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7B94DBA-CA37-4CC1-8E57-AA1269A4C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76800" y="723900"/>
            <a:ext cx="0" cy="5449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AA882EC-5FD3-D7FD-5DAF-36E03CA5C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7407" y="555712"/>
            <a:ext cx="6065179" cy="5614416"/>
          </a:xfrm>
        </p:spPr>
        <p:txBody>
          <a:bodyPr>
            <a:normAutofit/>
          </a:bodyPr>
          <a:lstStyle/>
          <a:p>
            <a:r>
              <a:rPr lang="en-US" b="1" dirty="0">
                <a:latin typeface="Lato" panose="020F0502020204030203" pitchFamily="34" charset="77"/>
              </a:rPr>
              <a:t>Decision-making hypotheses are structural: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Which processes are present?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How do these processes interact or compete?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How is evidence formed and combined?</a:t>
            </a:r>
          </a:p>
          <a:p>
            <a:r>
              <a:rPr lang="en-US" b="1" dirty="0">
                <a:latin typeface="Lato" panose="020F0502020204030203" pitchFamily="34" charset="77"/>
              </a:rPr>
              <a:t>In practice: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Competing processes are often reduced to parameter changes</a:t>
            </a:r>
            <a:br>
              <a:rPr lang="en-US" dirty="0">
                <a:latin typeface="Lato" panose="020F0502020204030203" pitchFamily="34" charset="77"/>
              </a:rPr>
            </a:br>
            <a:r>
              <a:rPr lang="en-US" dirty="0">
                <a:latin typeface="Lato" panose="020F0502020204030203" pitchFamily="34" charset="77"/>
              </a:rPr>
              <a:t>	</a:t>
            </a:r>
          </a:p>
          <a:p>
            <a:pPr marL="457200" lvl="1" indent="0">
              <a:buNone/>
            </a:pPr>
            <a:endParaRPr lang="en-US" dirty="0">
              <a:latin typeface="Lato" panose="020F050202020403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18638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E10297-EEDA-5E1B-870B-B6632CA8C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5A1AFB-3691-313C-7805-B3B3CACE4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5713"/>
            <a:ext cx="3721629" cy="2648594"/>
          </a:xfrm>
        </p:spPr>
        <p:txBody>
          <a:bodyPr>
            <a:normAutofit/>
          </a:bodyPr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Hypothesis formulation</a:t>
            </a:r>
          </a:p>
        </p:txBody>
      </p:sp>
      <p:pic>
        <p:nvPicPr>
          <p:cNvPr id="5" name="Picture 4" descr="One big red thumbtack in front of many smaller black thumbtacks">
            <a:extLst>
              <a:ext uri="{FF2B5EF4-FFF2-40B4-BE49-F238E27FC236}">
                <a16:creationId xmlns:a16="http://schemas.microsoft.com/office/drawing/2014/main" id="{358383EE-54EA-A880-C2EE-6D1DF2FFE9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10" r="-1" b="-1"/>
          <a:stretch>
            <a:fillRect/>
          </a:stretch>
        </p:blipFill>
        <p:spPr>
          <a:xfrm>
            <a:off x="715365" y="3524790"/>
            <a:ext cx="3721629" cy="2648593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0ADC89C-EB4E-4AA5-ABBD-448BEC5FA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76800" y="723900"/>
            <a:ext cx="0" cy="5449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65B42C89-533F-AE4D-D309-5949F4E88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7407" y="555712"/>
            <a:ext cx="6065179" cy="56144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Lato" panose="020F0502020204030203" pitchFamily="34" charset="77"/>
              </a:rPr>
              <a:t>Competing processes are often reduced to parameter changes: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Working memory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Cognitive control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Perceptual decision-making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Multi-attribute choice (</a:t>
            </a:r>
            <a:r>
              <a:rPr lang="en-US" dirty="0" err="1">
                <a:latin typeface="Lato" panose="020F0502020204030203" pitchFamily="34" charset="77"/>
              </a:rPr>
              <a:t>Busemeyer</a:t>
            </a:r>
            <a:r>
              <a:rPr lang="en-US" dirty="0">
                <a:latin typeface="Lato" panose="020F0502020204030203" pitchFamily="34" charset="77"/>
              </a:rPr>
              <a:t> et al. 2019)</a:t>
            </a:r>
          </a:p>
          <a:p>
            <a:endParaRPr lang="en-US" dirty="0">
              <a:latin typeface="Lato" panose="020F0502020204030203" pitchFamily="34" charset="77"/>
            </a:endParaRPr>
          </a:p>
          <a:p>
            <a:pPr marL="457200" lvl="1" indent="0">
              <a:buNone/>
            </a:pPr>
            <a:endParaRPr lang="en-US" dirty="0">
              <a:latin typeface="Lato" panose="020F050202020403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8D4197-07FC-B1F5-CF86-45D4288BD223}"/>
              </a:ext>
            </a:extLst>
          </p:cNvPr>
          <p:cNvSpPr txBox="1"/>
          <p:nvPr/>
        </p:nvSpPr>
        <p:spPr>
          <a:xfrm>
            <a:off x="8256494" y="6170128"/>
            <a:ext cx="37651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Busemeyer</a:t>
            </a:r>
            <a:r>
              <a:rPr lang="en-US" sz="1400" dirty="0"/>
              <a:t>, Gluth, </a:t>
            </a:r>
            <a:r>
              <a:rPr lang="en-US" sz="1400" dirty="0" err="1"/>
              <a:t>Rieskamp</a:t>
            </a:r>
            <a:r>
              <a:rPr lang="en-US" sz="1400" dirty="0"/>
              <a:t> &amp; Turner (2019) Cognitive and Neural Bases of Multi-Attribute, Multi-Alternative, Value-based Decisions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12957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E4F5E-5FB9-F0AD-F509-4ACDA9D75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414C-8225-27FE-6012-8DD1180B3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Building Cognitive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88D0C-9C2E-14FC-5334-BDA4AF758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18905"/>
            <a:ext cx="10691265" cy="3739896"/>
          </a:xfrm>
        </p:spPr>
        <p:txBody>
          <a:bodyPr/>
          <a:lstStyle/>
          <a:p>
            <a:r>
              <a:rPr lang="en-US" b="1" dirty="0">
                <a:latin typeface="Lato" panose="020F0502020204030203" pitchFamily="34" charset="77"/>
              </a:rPr>
              <a:t>A General Framework for Cognitive Architectures: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Logical rules: A not B, A or B, A and B, A stops B</a:t>
            </a:r>
          </a:p>
          <a:p>
            <a:pPr marL="457200" lvl="1" indent="0">
              <a:buNone/>
            </a:pPr>
            <a:endParaRPr lang="en-US" dirty="0">
              <a:latin typeface="Lato" panose="020F050202020403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48421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0FB15-3EB6-D7AD-733D-05FF83418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FC883-DCA1-272A-AA3B-2176CE136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Building Cognitive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225F4-99E7-94F5-90FB-3B8475F53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18905"/>
            <a:ext cx="10691265" cy="3739896"/>
          </a:xfrm>
        </p:spPr>
        <p:txBody>
          <a:bodyPr/>
          <a:lstStyle/>
          <a:p>
            <a:r>
              <a:rPr lang="en-US" b="1" dirty="0">
                <a:latin typeface="Lato" panose="020F0502020204030203" pitchFamily="34" charset="77"/>
              </a:rPr>
              <a:t>A General Framework for Cognitive Architectures: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Logical rules: A not B, A or B, A and B, A stops B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Ensembles of accumulators</a:t>
            </a:r>
          </a:p>
          <a:p>
            <a:pPr marL="457200" lvl="1" indent="0">
              <a:buNone/>
            </a:pPr>
            <a:endParaRPr lang="en-US" dirty="0">
              <a:latin typeface="Lato" panose="020F050202020403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84653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9F830-7C2A-3A08-C129-65D2115D1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C518F-417A-30C9-1B08-8E6594A1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Building Cognitive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7FD7A-F1A8-1457-57D3-C9D6BEB60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18905"/>
            <a:ext cx="10691265" cy="3739896"/>
          </a:xfrm>
        </p:spPr>
        <p:txBody>
          <a:bodyPr/>
          <a:lstStyle/>
          <a:p>
            <a:r>
              <a:rPr lang="en-US" b="1" dirty="0">
                <a:latin typeface="Lato" panose="020F0502020204030203" pitchFamily="34" charset="77"/>
              </a:rPr>
              <a:t>A General Framework for Cognitive Architectures: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Logical rules: A not B, A or B, A and B, A stops B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Ensembles of accumulators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Sequential accumulation</a:t>
            </a:r>
          </a:p>
          <a:p>
            <a:pPr marL="457200" lvl="1" indent="0">
              <a:buNone/>
            </a:pPr>
            <a:endParaRPr lang="en-US" dirty="0">
              <a:latin typeface="Lato" panose="020F050202020403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36581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BA5BB-324F-612E-CE41-7922D60A3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0DDCC-59BC-2271-A0F6-B5694689D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Building Cognitive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C693F-2A09-A3B0-9CA1-30F46FF03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18905"/>
            <a:ext cx="10691265" cy="3739896"/>
          </a:xfrm>
        </p:spPr>
        <p:txBody>
          <a:bodyPr/>
          <a:lstStyle/>
          <a:p>
            <a:r>
              <a:rPr lang="en-US" b="1" dirty="0">
                <a:latin typeface="Lato" panose="020F0502020204030203" pitchFamily="34" charset="77"/>
              </a:rPr>
              <a:t>A General Framework for Cognitive Architectures: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Logical rules: A not B, A or B, A and B, A stops B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Ensembles of accumulators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Sequential accumulation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Mixtures, trigger failures</a:t>
            </a:r>
          </a:p>
          <a:p>
            <a:pPr marL="457200" lvl="1" indent="0">
              <a:buNone/>
            </a:pPr>
            <a:endParaRPr lang="en-US" dirty="0">
              <a:latin typeface="Lato" panose="020F050202020403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59561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478A3-390E-2239-76A4-E48BE2B9F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5A43279-5FBC-234F-02AD-89FBF9B17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234" y="890331"/>
            <a:ext cx="7187284" cy="59676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288481-62E4-2FFF-D4AD-69B109712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Building Cognitive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C15FF-2FF3-9B07-2722-92253D169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18905"/>
            <a:ext cx="10691265" cy="3739896"/>
          </a:xfrm>
        </p:spPr>
        <p:txBody>
          <a:bodyPr/>
          <a:lstStyle/>
          <a:p>
            <a:r>
              <a:rPr lang="en-US" b="1" dirty="0">
                <a:latin typeface="Lato" panose="020F0502020204030203" pitchFamily="34" charset="77"/>
              </a:rPr>
              <a:t>A General Framework for Cognitive Architectures: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Logical rules: A not B, A or B, A and B, A stops B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Ensembles of accumulators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Sequential accumulation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Mixtures, trigger failures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Combinations thereof</a:t>
            </a:r>
          </a:p>
          <a:p>
            <a:pPr marL="457200" lvl="1" indent="0">
              <a:buNone/>
            </a:pPr>
            <a:endParaRPr lang="en-US" dirty="0">
              <a:latin typeface="Lato" panose="020F050202020403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56632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C8624D-83FB-BB2D-25FE-03E4BB1E2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6391AA-2CD6-15AB-C4C2-F3B246887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5712"/>
            <a:ext cx="4218435" cy="2390687"/>
          </a:xfrm>
        </p:spPr>
        <p:txBody>
          <a:bodyPr>
            <a:normAutofit/>
          </a:bodyPr>
          <a:lstStyle/>
          <a:p>
            <a:r>
              <a:rPr lang="en-US" cap="none" dirty="0" err="1">
                <a:latin typeface="Lava Devanagari Medium" pitchFamily="2" charset="77"/>
                <a:cs typeface="Lava Devanagari Medium" pitchFamily="2" charset="77"/>
              </a:rPr>
              <a:t>AccumulatR</a:t>
            </a:r>
            <a:br>
              <a:rPr lang="en-US" cap="none" dirty="0">
                <a:latin typeface="Lava Devanagari Medium" pitchFamily="2" charset="77"/>
                <a:cs typeface="Lava Devanagari Medium" pitchFamily="2" charset="77"/>
              </a:rPr>
            </a:br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package</a:t>
            </a:r>
          </a:p>
        </p:txBody>
      </p:sp>
      <p:pic>
        <p:nvPicPr>
          <p:cNvPr id="19" name="Graphic 18" descr="Gears">
            <a:extLst>
              <a:ext uri="{FF2B5EF4-FFF2-40B4-BE49-F238E27FC236}">
                <a16:creationId xmlns:a16="http://schemas.microsoft.com/office/drawing/2014/main" id="{7B6BCCD4-A5E1-3DD9-AABF-AE93584CC2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383" y="3210560"/>
            <a:ext cx="2959568" cy="2959568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0ADC89C-EB4E-4AA5-ABBD-448BEC5FA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255110" y="723900"/>
            <a:ext cx="0" cy="5449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A26CC-6E6B-B09E-DA13-9305F5FAA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6418" y="555712"/>
            <a:ext cx="5916168" cy="5614416"/>
          </a:xfrm>
        </p:spPr>
        <p:txBody>
          <a:bodyPr>
            <a:normAutofit/>
          </a:bodyPr>
          <a:lstStyle/>
          <a:p>
            <a:r>
              <a:rPr lang="en-US" dirty="0">
                <a:latin typeface="Lato" panose="020F0502020204030203" pitchFamily="34" charset="77"/>
              </a:rPr>
              <a:t>R interface, with C++ internals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Functions to define the architecture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Simulation and likelihood evaluation functions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Visualization tools</a:t>
            </a:r>
          </a:p>
          <a:p>
            <a:pPr lvl="1"/>
            <a:r>
              <a:rPr lang="en-US" dirty="0">
                <a:latin typeface="Lato" panose="020F0502020204030203" pitchFamily="34" charset="77"/>
              </a:rPr>
              <a:t>ADD QR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8F096F-991F-A46F-5C1D-9561D6C8C1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0741" y="3210559"/>
            <a:ext cx="5612440" cy="206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4984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16A712-AB34-D995-F513-5EAA8C844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0C8550-F243-31E3-A2DC-9A7D53251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Applications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112BBA-C2C7-B671-9913-E5140A35F0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2282830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325612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CCBAF-D584-270A-2783-76C2901E1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39675-4972-57C1-2316-51711951A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Application 1: Perceptual Decision-Making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46AE292-8154-762F-6F57-E8F98827A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dot-motion task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098" name="Picture 2" descr="Schematic diagram of the RDM stimulus with different motion coherence... |  Download Scientific Diagram">
            <a:extLst>
              <a:ext uri="{FF2B5EF4-FFF2-40B4-BE49-F238E27FC236}">
                <a16:creationId xmlns:a16="http://schemas.microsoft.com/office/drawing/2014/main" id="{A11AB220-C2D8-986A-0EE3-2766CE483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3677467"/>
            <a:ext cx="6769100" cy="2739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7412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6DE14-D089-43EE-6C20-310E888D1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E4F01-08FF-8E5E-CC96-5F0B18387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Application 1: Perceptual Decision-Making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F61718E-C8A9-3E73-AE6B-CC563F629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dot-motion task</a:t>
            </a:r>
          </a:p>
          <a:p>
            <a:r>
              <a:rPr lang="en-US" dirty="0"/>
              <a:t>Two accumulators for each dot (left/right)</a:t>
            </a:r>
          </a:p>
          <a:p>
            <a:pPr lvl="1"/>
            <a:r>
              <a:rPr lang="en-US" dirty="0"/>
              <a:t>Alternatively, if we knew the actual dot directions, one accumulator per dot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098" name="Picture 2" descr="Schematic diagram of the RDM stimulus with different motion coherence... |  Download Scientific Diagram">
            <a:extLst>
              <a:ext uri="{FF2B5EF4-FFF2-40B4-BE49-F238E27FC236}">
                <a16:creationId xmlns:a16="http://schemas.microsoft.com/office/drawing/2014/main" id="{4F85409F-F187-DBDF-81C8-7CAC50DF0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3677467"/>
            <a:ext cx="6769100" cy="2739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42460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0BF7A-29FA-6E8F-E7B9-133EE2B7B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D85C9-B228-A5D8-6F33-3D8D2BBF7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Application 1: Perceptual Decision-Making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93CF4B6-1F39-CB33-FE76-4C1B4E9D2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dot-motion task</a:t>
            </a:r>
          </a:p>
          <a:p>
            <a:r>
              <a:rPr lang="en-US" dirty="0"/>
              <a:t>Two accumulators for each dot (left/right)</a:t>
            </a:r>
          </a:p>
          <a:p>
            <a:pPr lvl="1"/>
            <a:r>
              <a:rPr lang="en-US" dirty="0"/>
              <a:t>Alternatively, if we knew the actual dot directions, one accumulator per dot</a:t>
            </a:r>
          </a:p>
          <a:p>
            <a:r>
              <a:rPr lang="en-US" dirty="0"/>
              <a:t>Respond ‘RIGHT’ if more than half of the accumulators say ‘RIGHT’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D727C3-4C3D-9D6A-F840-2B29D39CFE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7" r="3654"/>
          <a:stretch>
            <a:fillRect/>
          </a:stretch>
        </p:blipFill>
        <p:spPr>
          <a:xfrm>
            <a:off x="1" y="4458954"/>
            <a:ext cx="12192000" cy="239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0265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04ED0-1C26-909F-A4D8-85BE9819F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7B105-87A7-9216-348B-2CBFAF11E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Application 1: Perceptual Decision-Making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5AB6DCB-D087-1D86-9BE7-39340702A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dot-motion task</a:t>
            </a:r>
          </a:p>
          <a:p>
            <a:r>
              <a:rPr lang="en-US" dirty="0"/>
              <a:t>Two accumulators for each dot (left/right)</a:t>
            </a:r>
          </a:p>
          <a:p>
            <a:pPr lvl="1"/>
            <a:r>
              <a:rPr lang="en-US" dirty="0"/>
              <a:t>Alternatively, if we knew the actual dot directions, one accumulator per dot</a:t>
            </a:r>
          </a:p>
          <a:p>
            <a:r>
              <a:rPr lang="en-US" dirty="0"/>
              <a:t>Respond ‘RIGHT’ if more than half of the accumulators say ‘RIGHT’</a:t>
            </a:r>
          </a:p>
          <a:p>
            <a:r>
              <a:rPr lang="en-US" dirty="0"/>
              <a:t>Distributional parameters are shared between accumulators so still a sparse model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6FB628-2AF2-4CA1-B8A7-6C0AAFA609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7" r="3654"/>
          <a:stretch>
            <a:fillRect/>
          </a:stretch>
        </p:blipFill>
        <p:spPr>
          <a:xfrm>
            <a:off x="1" y="4458954"/>
            <a:ext cx="12192000" cy="239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5296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951C40-4C4C-7263-9E47-9E530F518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5C06E8-B9BA-9688-1CF5-071C7EE5E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 cap="none" dirty="0">
                <a:latin typeface="Lava Devanagari Medium" pitchFamily="2" charset="77"/>
                <a:cs typeface="Lava Devanagari Medium" pitchFamily="2" charset="77"/>
              </a:rPr>
              <a:t>Application 1: Perceptual Decision-Making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94ED7EB-8E94-49BA-46B4-4B1AEDAF4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87600"/>
            <a:ext cx="3799763" cy="3767328"/>
          </a:xfrm>
        </p:spPr>
        <p:txBody>
          <a:bodyPr>
            <a:normAutofit/>
          </a:bodyPr>
          <a:lstStyle/>
          <a:p>
            <a:r>
              <a:rPr lang="en-US" dirty="0"/>
              <a:t>Respond ‘RIGHT’ if more than half of the accumulators say ‘RIGHT’</a:t>
            </a:r>
          </a:p>
          <a:p>
            <a:r>
              <a:rPr lang="en-US" dirty="0"/>
              <a:t>Distributional parameters are shared between accumulators so still a sparse model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914F6D-97FE-5530-A063-62B0EA6A05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29" r="1" b="1"/>
          <a:stretch>
            <a:fillRect/>
          </a:stretch>
        </p:blipFill>
        <p:spPr>
          <a:xfrm>
            <a:off x="4249283" y="230378"/>
            <a:ext cx="7942717" cy="662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7799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F91C2-0D22-ADB4-66D9-2E1C60155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A0F1-E305-EB5F-07DC-6146EE7BC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Application 2: Cognitive Control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A2DB3A1-E35F-327F-C6C3-0155C7DC2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Flanker Task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3DAB2B-318C-C4AE-18FE-C9B7839E72BA}"/>
              </a:ext>
            </a:extLst>
          </p:cNvPr>
          <p:cNvSpPr/>
          <p:nvPr/>
        </p:nvSpPr>
        <p:spPr>
          <a:xfrm>
            <a:off x="1573471" y="3966777"/>
            <a:ext cx="595746" cy="48491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1328DC-61BB-2B39-29A5-4A736076EB1D}"/>
              </a:ext>
            </a:extLst>
          </p:cNvPr>
          <p:cNvSpPr/>
          <p:nvPr/>
        </p:nvSpPr>
        <p:spPr>
          <a:xfrm>
            <a:off x="3283601" y="3918395"/>
            <a:ext cx="595746" cy="48491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2BDADB-0B94-80AE-91D3-5CDEFF32432E}"/>
              </a:ext>
            </a:extLst>
          </p:cNvPr>
          <p:cNvSpPr/>
          <p:nvPr/>
        </p:nvSpPr>
        <p:spPr>
          <a:xfrm>
            <a:off x="5286489" y="3828902"/>
            <a:ext cx="595746" cy="48491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3ED433-6C4F-6E6F-0376-E0C590D3BC6E}"/>
              </a:ext>
            </a:extLst>
          </p:cNvPr>
          <p:cNvSpPr/>
          <p:nvPr/>
        </p:nvSpPr>
        <p:spPr>
          <a:xfrm>
            <a:off x="6957694" y="3896083"/>
            <a:ext cx="595746" cy="48491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864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66499-F02F-D503-8CC4-A3395A0C8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8BBBF-D848-3D57-8FD3-7B7BCC204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Application 2: Cognitive Control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0F0CBE-C633-A214-A1DB-0B6BF290C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Flanker Task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51BEAB-C488-49A2-6D1A-866EEA35A4D5}"/>
              </a:ext>
            </a:extLst>
          </p:cNvPr>
          <p:cNvSpPr/>
          <p:nvPr/>
        </p:nvSpPr>
        <p:spPr>
          <a:xfrm>
            <a:off x="1573471" y="3966777"/>
            <a:ext cx="595746" cy="48491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716A09-F410-D548-2C15-95E6657C6A7D}"/>
              </a:ext>
            </a:extLst>
          </p:cNvPr>
          <p:cNvSpPr/>
          <p:nvPr/>
        </p:nvSpPr>
        <p:spPr>
          <a:xfrm>
            <a:off x="3283601" y="3918395"/>
            <a:ext cx="595746" cy="48491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BACC80-CCF0-6C88-9103-6A03589995D2}"/>
              </a:ext>
            </a:extLst>
          </p:cNvPr>
          <p:cNvSpPr/>
          <p:nvPr/>
        </p:nvSpPr>
        <p:spPr>
          <a:xfrm>
            <a:off x="5286489" y="3828902"/>
            <a:ext cx="595746" cy="48491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A14791-CA3A-D730-FFFD-AD36DBED40F8}"/>
              </a:ext>
            </a:extLst>
          </p:cNvPr>
          <p:cNvSpPr/>
          <p:nvPr/>
        </p:nvSpPr>
        <p:spPr>
          <a:xfrm>
            <a:off x="6957694" y="3896083"/>
            <a:ext cx="595746" cy="48491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6" descr="fMRI Tutorial #2: Overview of The Flanker Task — Andy's Brain Book 1.0  documentation">
            <a:extLst>
              <a:ext uri="{FF2B5EF4-FFF2-40B4-BE49-F238E27FC236}">
                <a16:creationId xmlns:a16="http://schemas.microsoft.com/office/drawing/2014/main" id="{2DE52CFE-A5C3-32AA-BF3F-A8CE8E864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29277"/>
            <a:ext cx="7730836" cy="3466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5E9BEF2-0561-BCFD-2F0F-9C611555C5C3}"/>
              </a:ext>
            </a:extLst>
          </p:cNvPr>
          <p:cNvSpPr/>
          <p:nvPr/>
        </p:nvSpPr>
        <p:spPr>
          <a:xfrm>
            <a:off x="872836" y="4477765"/>
            <a:ext cx="595746" cy="48491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CEFB48-F22E-5349-A125-97484A8E62A1}"/>
              </a:ext>
            </a:extLst>
          </p:cNvPr>
          <p:cNvSpPr/>
          <p:nvPr/>
        </p:nvSpPr>
        <p:spPr>
          <a:xfrm>
            <a:off x="2582966" y="4429383"/>
            <a:ext cx="595746" cy="48491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30B5D4-88D8-7A2D-74C5-7E7D4521AA54}"/>
              </a:ext>
            </a:extLst>
          </p:cNvPr>
          <p:cNvSpPr/>
          <p:nvPr/>
        </p:nvSpPr>
        <p:spPr>
          <a:xfrm>
            <a:off x="4585854" y="4339890"/>
            <a:ext cx="595746" cy="48491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E12907-A1CC-E61E-4E64-320865F132E5}"/>
              </a:ext>
            </a:extLst>
          </p:cNvPr>
          <p:cNvSpPr/>
          <p:nvPr/>
        </p:nvSpPr>
        <p:spPr>
          <a:xfrm>
            <a:off x="6257059" y="4407071"/>
            <a:ext cx="595746" cy="48491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686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82A86-94FE-DC05-0A41-6E7018111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4FB77-A23E-8570-5479-DCAEF9F45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Application 2: Cognitive Control</a:t>
            </a:r>
          </a:p>
        </p:txBody>
      </p:sp>
      <p:pic>
        <p:nvPicPr>
          <p:cNvPr id="3" name="Picture 6" descr="fMRI Tutorial #2: Overview of The Flanker Task — Andy's Brain Book 1.0  documentation">
            <a:extLst>
              <a:ext uri="{FF2B5EF4-FFF2-40B4-BE49-F238E27FC236}">
                <a16:creationId xmlns:a16="http://schemas.microsoft.com/office/drawing/2014/main" id="{50FCB521-D893-1474-86AF-A7602D44D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29277"/>
            <a:ext cx="7730836" cy="3466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0382130-4D8F-411F-1D20-44EBF8F6E1F3}"/>
              </a:ext>
            </a:extLst>
          </p:cNvPr>
          <p:cNvSpPr/>
          <p:nvPr/>
        </p:nvSpPr>
        <p:spPr>
          <a:xfrm>
            <a:off x="872836" y="4477765"/>
            <a:ext cx="595746" cy="48491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11DF35-7E4A-BFB3-4DA3-0871A18C7B25}"/>
              </a:ext>
            </a:extLst>
          </p:cNvPr>
          <p:cNvSpPr/>
          <p:nvPr/>
        </p:nvSpPr>
        <p:spPr>
          <a:xfrm>
            <a:off x="2582966" y="4429383"/>
            <a:ext cx="595746" cy="48491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5F4569-DE4E-7402-36F2-3E63BEA7BE7C}"/>
              </a:ext>
            </a:extLst>
          </p:cNvPr>
          <p:cNvSpPr/>
          <p:nvPr/>
        </p:nvSpPr>
        <p:spPr>
          <a:xfrm>
            <a:off x="4585854" y="4339890"/>
            <a:ext cx="595746" cy="48491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75B440-96A4-4F92-B4F8-37E54DF06720}"/>
              </a:ext>
            </a:extLst>
          </p:cNvPr>
          <p:cNvSpPr/>
          <p:nvPr/>
        </p:nvSpPr>
        <p:spPr>
          <a:xfrm>
            <a:off x="6257059" y="4407071"/>
            <a:ext cx="595746" cy="48491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AC6CB29-34AA-1B49-2573-15B37225B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25" y="1823660"/>
            <a:ext cx="7730836" cy="3775456"/>
          </a:xfrm>
        </p:spPr>
        <p:txBody>
          <a:bodyPr>
            <a:normAutofit/>
          </a:bodyPr>
          <a:lstStyle/>
          <a:p>
            <a:r>
              <a:rPr lang="en-US" dirty="0"/>
              <a:t>Flanker Task</a:t>
            </a:r>
          </a:p>
          <a:p>
            <a:r>
              <a:rPr lang="en-US" dirty="0"/>
              <a:t>One accumulator for each arrow</a:t>
            </a:r>
          </a:p>
          <a:p>
            <a:r>
              <a:rPr lang="en-US" dirty="0"/>
              <a:t>Strength of evidence lower for distractor accumulators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4777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3D7EB-92C8-01A3-E957-3D6D8491C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1872A-DE02-73B6-FCAE-796F58783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Application 2: Cognitive Control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5FF38FD-3F51-9159-A5D6-18D9C50A1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960" y="2071097"/>
            <a:ext cx="4819903" cy="3775456"/>
          </a:xfrm>
        </p:spPr>
        <p:txBody>
          <a:bodyPr>
            <a:normAutofit/>
          </a:bodyPr>
          <a:lstStyle/>
          <a:p>
            <a:r>
              <a:rPr lang="en-US" dirty="0"/>
              <a:t>Flanker Task</a:t>
            </a:r>
          </a:p>
          <a:p>
            <a:r>
              <a:rPr lang="en-US" dirty="0"/>
              <a:t>One accumulator for each arrow</a:t>
            </a:r>
          </a:p>
          <a:p>
            <a:r>
              <a:rPr lang="en-US" dirty="0"/>
              <a:t>Strength of evidence lower for distractor accumulators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CDA41A-69F0-2543-4562-15E54398BA8B}"/>
              </a:ext>
            </a:extLst>
          </p:cNvPr>
          <p:cNvSpPr/>
          <p:nvPr/>
        </p:nvSpPr>
        <p:spPr>
          <a:xfrm>
            <a:off x="9977718" y="2218765"/>
            <a:ext cx="1869141" cy="3254188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4FD4D1-217D-6D37-4F24-FA38CA4AAB21}"/>
              </a:ext>
            </a:extLst>
          </p:cNvPr>
          <p:cNvSpPr/>
          <p:nvPr/>
        </p:nvSpPr>
        <p:spPr>
          <a:xfrm>
            <a:off x="10307469" y="2739030"/>
            <a:ext cx="1869141" cy="3254188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B4E26-996B-B9CF-4563-FFA2BDCF4369}"/>
              </a:ext>
            </a:extLst>
          </p:cNvPr>
          <p:cNvSpPr/>
          <p:nvPr/>
        </p:nvSpPr>
        <p:spPr>
          <a:xfrm>
            <a:off x="9781122" y="3658399"/>
            <a:ext cx="1869141" cy="151525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0026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94DF0-A9D8-E92D-2DB9-E59753D4E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A7900B4-C9F1-8EE2-AD14-C86F9583D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4647" y="1974050"/>
            <a:ext cx="9562802" cy="48839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7235CC-B0DF-A2E1-53DD-AF464C125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Application 2: Cognitive Control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601932D-176A-7B2E-047D-3B84CCAE7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960" y="2071097"/>
            <a:ext cx="4819903" cy="3775456"/>
          </a:xfrm>
        </p:spPr>
        <p:txBody>
          <a:bodyPr>
            <a:normAutofit/>
          </a:bodyPr>
          <a:lstStyle/>
          <a:p>
            <a:r>
              <a:rPr lang="en-US" dirty="0"/>
              <a:t>Flanker Task</a:t>
            </a:r>
          </a:p>
          <a:p>
            <a:r>
              <a:rPr lang="en-US" dirty="0"/>
              <a:t>One accumulator for each arrow</a:t>
            </a:r>
          </a:p>
          <a:p>
            <a:r>
              <a:rPr lang="en-US" dirty="0"/>
              <a:t>Strength of evidence lower for distractor accumulators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34149E-F1A1-18EC-9076-00988D5BB9CD}"/>
              </a:ext>
            </a:extLst>
          </p:cNvPr>
          <p:cNvSpPr/>
          <p:nvPr/>
        </p:nvSpPr>
        <p:spPr>
          <a:xfrm>
            <a:off x="9977718" y="2218765"/>
            <a:ext cx="1869141" cy="3254188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B5EEA3-EA9C-AC55-E73F-979208DB8DD0}"/>
              </a:ext>
            </a:extLst>
          </p:cNvPr>
          <p:cNvSpPr/>
          <p:nvPr/>
        </p:nvSpPr>
        <p:spPr>
          <a:xfrm>
            <a:off x="10307469" y="2735705"/>
            <a:ext cx="1869141" cy="3254188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A20320-F976-B6B3-215A-E802B06CE51E}"/>
              </a:ext>
            </a:extLst>
          </p:cNvPr>
          <p:cNvSpPr/>
          <p:nvPr/>
        </p:nvSpPr>
        <p:spPr>
          <a:xfrm>
            <a:off x="9781122" y="3658399"/>
            <a:ext cx="1869141" cy="151525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2619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8C495-34C5-740F-CEB0-984D4B877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AADBE-FBB4-9E9F-AE3C-E5C09A325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Application 2: Cognitive Control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4E7D0DE-D84C-2283-CFD6-8DA39106E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4960" y="2346960"/>
            <a:ext cx="4819903" cy="3775456"/>
          </a:xfrm>
        </p:spPr>
        <p:txBody>
          <a:bodyPr>
            <a:normAutofit/>
          </a:bodyPr>
          <a:lstStyle/>
          <a:p>
            <a:r>
              <a:rPr lang="en-US" dirty="0"/>
              <a:t>Flanker Task</a:t>
            </a:r>
          </a:p>
          <a:p>
            <a:r>
              <a:rPr lang="en-US" dirty="0"/>
              <a:t>One accumulator for each arrow</a:t>
            </a:r>
          </a:p>
          <a:p>
            <a:r>
              <a:rPr lang="en-US" dirty="0"/>
              <a:t>Strength of evidence lower for distractor accumulators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8AE992-D824-046B-181F-E795E4727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46174"/>
            <a:ext cx="6506647" cy="5177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6487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734D9-1C2F-164C-BA63-7E128D1DC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DA67E-F52F-E61A-F269-775FCB75D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Application 2: Cognitive Control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7DD3B24-415D-9D9E-DE2E-DB3C43D9E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4960" y="2346960"/>
            <a:ext cx="4819903" cy="3775456"/>
          </a:xfrm>
        </p:spPr>
        <p:txBody>
          <a:bodyPr>
            <a:normAutofit/>
          </a:bodyPr>
          <a:lstStyle/>
          <a:p>
            <a:r>
              <a:rPr lang="en-US" dirty="0"/>
              <a:t>Flanker Task</a:t>
            </a:r>
          </a:p>
          <a:p>
            <a:r>
              <a:rPr lang="en-US" dirty="0"/>
              <a:t>One accumulator for each arrow</a:t>
            </a:r>
          </a:p>
          <a:p>
            <a:r>
              <a:rPr lang="en-US" dirty="0"/>
              <a:t>Strength of evidence lower for distractor accumulators</a:t>
            </a:r>
          </a:p>
          <a:p>
            <a:r>
              <a:rPr lang="en-US" dirty="0"/>
              <a:t>No errors on congruent trials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32858-9C96-B44E-4DCD-388FD2E66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46174"/>
            <a:ext cx="6506647" cy="5177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0369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85D2A-1DD1-5772-C8F4-E5700ACF8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F37DD-A704-4FF2-3380-70DD7D5A0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Application 3: Stimulus Selective Stopping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D135CBA-7227-C06E-C35B-6F2D2394A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0419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3BD1A-CA39-53B7-D2D9-7FD672D21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890C5-195D-71AB-CCE1-5C508FFB7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>
                <a:latin typeface="Lava Devanagari Medium" pitchFamily="2" charset="77"/>
                <a:cs typeface="Lava Devanagari Medium" pitchFamily="2" charset="77"/>
              </a:rPr>
              <a:t>Application 3: Stimulus Selective Stopping</a:t>
            </a:r>
            <a:endParaRPr lang="en-US" cap="none" dirty="0">
              <a:latin typeface="Lava Devanagari Medium" pitchFamily="2" charset="77"/>
              <a:cs typeface="Lava Devanagari Medium" pitchFamily="2" charset="77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835DDD1-217C-B4E4-91BB-8F2CAA8D9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Participants respond to direction of arrow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199C7A-C3C9-ACD3-3AD1-4F1F5C629200}"/>
              </a:ext>
            </a:extLst>
          </p:cNvPr>
          <p:cNvSpPr/>
          <p:nvPr/>
        </p:nvSpPr>
        <p:spPr>
          <a:xfrm>
            <a:off x="3683142" y="3367186"/>
            <a:ext cx="2161309" cy="1824181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361500E1-BD4E-CF78-701C-7393D1C9D2A2}"/>
              </a:ext>
            </a:extLst>
          </p:cNvPr>
          <p:cNvSpPr/>
          <p:nvPr/>
        </p:nvSpPr>
        <p:spPr>
          <a:xfrm>
            <a:off x="4449822" y="4035999"/>
            <a:ext cx="627948" cy="482072"/>
          </a:xfrm>
          <a:prstGeom prst="rightArrow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8B50E48-5C58-2B9D-67E8-CE6D6BC5721C}"/>
              </a:ext>
            </a:extLst>
          </p:cNvPr>
          <p:cNvSpPr/>
          <p:nvPr/>
        </p:nvSpPr>
        <p:spPr>
          <a:xfrm>
            <a:off x="4278232" y="3792126"/>
            <a:ext cx="971128" cy="969819"/>
          </a:xfrm>
          <a:prstGeom prst="ellipse">
            <a:avLst/>
          </a:prstGeom>
          <a:noFill/>
          <a:ln w="762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9617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37B6C-3EF4-C292-519E-77DF4AD0D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14704-E685-8ABE-2149-951ED4E19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>
                <a:latin typeface="Lava Devanagari Medium" pitchFamily="2" charset="77"/>
                <a:cs typeface="Lava Devanagari Medium" pitchFamily="2" charset="77"/>
              </a:rPr>
              <a:t>Application 3: Stimulus Selective Stopping</a:t>
            </a:r>
            <a:endParaRPr lang="en-US" cap="none" dirty="0">
              <a:latin typeface="Lava Devanagari Medium" pitchFamily="2" charset="77"/>
              <a:cs typeface="Lava Devanagari Medium" pitchFamily="2" charset="77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6210D25-AC3E-54CF-0C3A-B0E96DFAC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Participants respond to direction of arrow</a:t>
            </a:r>
          </a:p>
          <a:p>
            <a:r>
              <a:rPr lang="en-US" dirty="0"/>
              <a:t>On some trials after a delay a signal appears:</a:t>
            </a:r>
          </a:p>
          <a:p>
            <a:pPr lvl="1"/>
            <a:r>
              <a:rPr lang="en-US" dirty="0"/>
              <a:t>12.5% ignore signal</a:t>
            </a:r>
          </a:p>
          <a:p>
            <a:pPr lvl="1"/>
            <a:r>
              <a:rPr lang="en-US" dirty="0"/>
              <a:t>12.5% stop signal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FC94BF-EDC1-054B-4522-28222829B061}"/>
              </a:ext>
            </a:extLst>
          </p:cNvPr>
          <p:cNvSpPr/>
          <p:nvPr/>
        </p:nvSpPr>
        <p:spPr>
          <a:xfrm>
            <a:off x="3683142" y="3367186"/>
            <a:ext cx="2161309" cy="1824181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2CFB07C2-52F3-A6E0-038D-75E082040735}"/>
              </a:ext>
            </a:extLst>
          </p:cNvPr>
          <p:cNvSpPr/>
          <p:nvPr/>
        </p:nvSpPr>
        <p:spPr>
          <a:xfrm>
            <a:off x="4449822" y="4035999"/>
            <a:ext cx="627948" cy="482072"/>
          </a:xfrm>
          <a:prstGeom prst="rightArrow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F3D984D-876A-677F-0005-3D398B62214A}"/>
              </a:ext>
            </a:extLst>
          </p:cNvPr>
          <p:cNvSpPr/>
          <p:nvPr/>
        </p:nvSpPr>
        <p:spPr>
          <a:xfrm>
            <a:off x="4278232" y="3792126"/>
            <a:ext cx="971128" cy="969819"/>
          </a:xfrm>
          <a:prstGeom prst="ellipse">
            <a:avLst/>
          </a:prstGeom>
          <a:noFill/>
          <a:ln w="762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673642-896D-92C6-13AC-5D7476850F46}"/>
              </a:ext>
            </a:extLst>
          </p:cNvPr>
          <p:cNvSpPr/>
          <p:nvPr/>
        </p:nvSpPr>
        <p:spPr>
          <a:xfrm>
            <a:off x="7524630" y="2086474"/>
            <a:ext cx="2161309" cy="1824181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232BE54D-44B7-BE0A-2AFC-C356E7EC3DE8}"/>
              </a:ext>
            </a:extLst>
          </p:cNvPr>
          <p:cNvSpPr/>
          <p:nvPr/>
        </p:nvSpPr>
        <p:spPr>
          <a:xfrm>
            <a:off x="8291310" y="2755287"/>
            <a:ext cx="627948" cy="482072"/>
          </a:xfrm>
          <a:prstGeom prst="rightArrow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41E8C9A-C956-DAA3-8F36-E7D723ABF561}"/>
              </a:ext>
            </a:extLst>
          </p:cNvPr>
          <p:cNvSpPr/>
          <p:nvPr/>
        </p:nvSpPr>
        <p:spPr>
          <a:xfrm>
            <a:off x="8119720" y="2511414"/>
            <a:ext cx="971128" cy="969819"/>
          </a:xfrm>
          <a:prstGeom prst="ellipse">
            <a:avLst/>
          </a:prstGeom>
          <a:noFill/>
          <a:ln w="76200" cap="flat" cmpd="sng" algn="ctr">
            <a:solidFill>
              <a:srgbClr val="C0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75B6AE-42D1-828A-CC63-9DC57E724DD2}"/>
              </a:ext>
            </a:extLst>
          </p:cNvPr>
          <p:cNvSpPr/>
          <p:nvPr/>
        </p:nvSpPr>
        <p:spPr>
          <a:xfrm>
            <a:off x="7524630" y="4656352"/>
            <a:ext cx="2161309" cy="1824181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335ED796-8776-DABC-AFAA-A3FD26D9E80C}"/>
              </a:ext>
            </a:extLst>
          </p:cNvPr>
          <p:cNvSpPr/>
          <p:nvPr/>
        </p:nvSpPr>
        <p:spPr>
          <a:xfrm>
            <a:off x="8291310" y="5325165"/>
            <a:ext cx="627948" cy="482072"/>
          </a:xfrm>
          <a:prstGeom prst="rightArrow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61F6714-2B5E-929E-222D-1A6201ACDFFD}"/>
              </a:ext>
            </a:extLst>
          </p:cNvPr>
          <p:cNvSpPr/>
          <p:nvPr/>
        </p:nvSpPr>
        <p:spPr>
          <a:xfrm>
            <a:off x="8119720" y="5081292"/>
            <a:ext cx="971128" cy="969819"/>
          </a:xfrm>
          <a:prstGeom prst="ellipse">
            <a:avLst/>
          </a:prstGeom>
          <a:noFill/>
          <a:ln w="76200" cap="flat" cmpd="sng" algn="ctr">
            <a:solidFill>
              <a:srgbClr val="0070C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F70B68-8614-67C0-1430-DAC41FF13853}"/>
              </a:ext>
            </a:extLst>
          </p:cNvPr>
          <p:cNvSpPr txBox="1"/>
          <p:nvPr/>
        </p:nvSpPr>
        <p:spPr>
          <a:xfrm>
            <a:off x="7806339" y="1703348"/>
            <a:ext cx="159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Stop</a:t>
            </a:r>
            <a:r>
              <a:rPr lang="en-US" dirty="0"/>
              <a:t> Signal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BDAE8B-3EBD-3393-BE19-719682AB9060}"/>
              </a:ext>
            </a:extLst>
          </p:cNvPr>
          <p:cNvSpPr txBox="1"/>
          <p:nvPr/>
        </p:nvSpPr>
        <p:spPr>
          <a:xfrm>
            <a:off x="7995684" y="4259216"/>
            <a:ext cx="159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Ignore</a:t>
            </a:r>
            <a:r>
              <a:rPr lang="en-US" dirty="0"/>
              <a:t> Signal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AA06F07-D798-C924-8945-12BBCD59FA1E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5844451" y="3005675"/>
            <a:ext cx="1539449" cy="127360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D50AF82-EB7E-FECF-C032-06F47CB4388A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5844451" y="4279277"/>
            <a:ext cx="1566218" cy="130759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B280178-180B-DCBC-98E9-F7E3021D1A61}"/>
              </a:ext>
            </a:extLst>
          </p:cNvPr>
          <p:cNvSpPr txBox="1"/>
          <p:nvPr/>
        </p:nvSpPr>
        <p:spPr>
          <a:xfrm rot="19319468">
            <a:off x="6062339" y="2984769"/>
            <a:ext cx="159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12.5%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5686A7-6ABF-9C45-17C3-D122599E5963}"/>
              </a:ext>
            </a:extLst>
          </p:cNvPr>
          <p:cNvSpPr txBox="1"/>
          <p:nvPr/>
        </p:nvSpPr>
        <p:spPr>
          <a:xfrm rot="2490793">
            <a:off x="5881000" y="5040692"/>
            <a:ext cx="159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12.5%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8C3EE1-EABF-8DEB-8AAC-8D809587BE5C}"/>
              </a:ext>
            </a:extLst>
          </p:cNvPr>
          <p:cNvSpPr txBox="1"/>
          <p:nvPr/>
        </p:nvSpPr>
        <p:spPr>
          <a:xfrm>
            <a:off x="8120312" y="6488668"/>
            <a:ext cx="159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250 </a:t>
            </a:r>
            <a:r>
              <a:rPr lang="en-US" dirty="0" err="1"/>
              <a:t>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9730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FE5E6-AEC9-2955-BA70-3C808D41D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347A3-2A51-A571-0093-B0047C81C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>
                <a:latin typeface="Lava Devanagari Medium" pitchFamily="2" charset="77"/>
                <a:cs typeface="Lava Devanagari Medium" pitchFamily="2" charset="77"/>
              </a:rPr>
              <a:t>Application 3: Stimulus Selective Stopping</a:t>
            </a:r>
            <a:endParaRPr lang="en-US" cap="none" dirty="0">
              <a:latin typeface="Lava Devanagari Medium" pitchFamily="2" charset="77"/>
              <a:cs typeface="Lava Devanagari Medium" pitchFamily="2" charset="77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2DCF761-C3BB-F050-08E8-8215F74CC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standard model:</a:t>
            </a:r>
          </a:p>
          <a:p>
            <a:pPr lvl="1"/>
            <a:r>
              <a:rPr lang="en-US" dirty="0"/>
              <a:t>Two go</a:t>
            </a:r>
          </a:p>
          <a:p>
            <a:pPr lvl="1"/>
            <a:r>
              <a:rPr lang="en-US" dirty="0"/>
              <a:t>One stop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FB936A-D22F-1813-F3A9-2499AE183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78" y="2369126"/>
            <a:ext cx="6316921" cy="44888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B4E0F2-4BE7-60BA-0009-2146413119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078" y="2364642"/>
            <a:ext cx="6316922" cy="448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071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01077-69AB-F72B-4188-E57398A24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29060-8799-194D-B6C8-D847D079D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Application 3: Stimulus Selective Stopping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95D449B-E937-C742-F243-B72B88F22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Extended model:</a:t>
            </a:r>
          </a:p>
          <a:p>
            <a:pPr lvl="1"/>
            <a:r>
              <a:rPr lang="en-US" dirty="0"/>
              <a:t>Two go</a:t>
            </a:r>
          </a:p>
          <a:p>
            <a:pPr lvl="1"/>
            <a:r>
              <a:rPr lang="en-US" dirty="0"/>
              <a:t>Two stop</a:t>
            </a:r>
          </a:p>
          <a:p>
            <a:pPr lvl="1"/>
            <a:r>
              <a:rPr lang="en-US" dirty="0"/>
              <a:t>One ignore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B9358D-CDC7-F0B0-564C-D4FCD4104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78" y="2369126"/>
            <a:ext cx="6316921" cy="448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587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D488B-8C89-C224-E851-7AAADE98F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5BC58-5C54-4A76-32A4-A090B7660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Application 3: Stimulus Selective Stopping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51DB613-ADED-C363-AC90-07C5C190F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Extended model: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657227-F67E-F5CE-8FC5-92A802DC6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78" y="2369126"/>
            <a:ext cx="6316921" cy="448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4935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866BA-937F-0F1C-7BA9-B0D96B4AF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68BFF-3A60-BD59-C8C9-AF482C2BD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Application 3: Stimulus Selective Stopping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231488-6ECE-5FF9-12AC-15396A2B0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Extended model:</a:t>
            </a:r>
          </a:p>
          <a:p>
            <a:pPr lvl="1"/>
            <a:r>
              <a:rPr lang="en-US" dirty="0"/>
              <a:t>Two go</a:t>
            </a:r>
          </a:p>
          <a:p>
            <a:pPr lvl="1"/>
            <a:r>
              <a:rPr lang="en-US" dirty="0"/>
              <a:t>Two stop</a:t>
            </a:r>
          </a:p>
          <a:p>
            <a:pPr lvl="1"/>
            <a:r>
              <a:rPr lang="en-US" dirty="0"/>
              <a:t>One ignore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89F754-7F0B-54E6-8AE3-FDD1C5DDE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78" y="2369126"/>
            <a:ext cx="6316921" cy="44888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A9B007-1499-B6DB-857A-ADEEE6ED5D3A}"/>
              </a:ext>
            </a:extLst>
          </p:cNvPr>
          <p:cNvSpPr txBox="1"/>
          <p:nvPr/>
        </p:nvSpPr>
        <p:spPr>
          <a:xfrm>
            <a:off x="700634" y="4391890"/>
            <a:ext cx="55893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Stop1 stops the go accumulators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Stop2 and Ignore decide whether to stop or ignore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5315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8AF4C-EF75-D807-C3D2-08F2A1E52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0B982-18C5-52D9-A463-01E3CEE4A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Application 3: Stimulus Selective Stopping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6157AB-2DFE-2D78-65A1-1D59A0343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Extended model:</a:t>
            </a:r>
          </a:p>
          <a:p>
            <a:pPr lvl="1"/>
            <a:r>
              <a:rPr lang="en-US" dirty="0"/>
              <a:t>Two go</a:t>
            </a:r>
          </a:p>
          <a:p>
            <a:pPr lvl="1"/>
            <a:r>
              <a:rPr lang="en-US" dirty="0"/>
              <a:t>Two stop</a:t>
            </a:r>
          </a:p>
          <a:p>
            <a:pPr lvl="1"/>
            <a:r>
              <a:rPr lang="en-US" dirty="0"/>
              <a:t>One ignore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257FA0-B4F6-7084-CFAE-1BA4C6D9C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78" y="2369126"/>
            <a:ext cx="6316921" cy="448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6826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7683C-5F4C-5610-E541-58712FFB3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B5CD7D7-9397-5F96-C8A8-A3CC435EC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86833"/>
            <a:ext cx="10260106" cy="51711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A54E68-854F-7065-624C-25C78831A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753" y="94399"/>
            <a:ext cx="10972799" cy="1088942"/>
          </a:xfrm>
        </p:spPr>
        <p:txBody>
          <a:bodyPr>
            <a:normAutofit/>
          </a:bodyPr>
          <a:lstStyle/>
          <a:p>
            <a:r>
              <a:rPr lang="en-US" sz="3600" cap="none" dirty="0">
                <a:latin typeface="Lava Devanagari Medium" pitchFamily="2" charset="77"/>
                <a:cs typeface="Lava Devanagari Medium" pitchFamily="2" charset="77"/>
              </a:rPr>
              <a:t>Application 3: Stimulus Selective Stopping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76FCE01-251C-724C-B25C-AEA19E0E5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5944" y="1431271"/>
            <a:ext cx="10691265" cy="3739896"/>
          </a:xfrm>
        </p:spPr>
        <p:txBody>
          <a:bodyPr/>
          <a:lstStyle/>
          <a:p>
            <a:r>
              <a:rPr lang="en-US" dirty="0"/>
              <a:t>RIGHT vs LEFT vs STOP1</a:t>
            </a:r>
          </a:p>
          <a:p>
            <a:r>
              <a:rPr lang="en-US" dirty="0"/>
              <a:t>If STOP1 wins</a:t>
            </a:r>
          </a:p>
          <a:p>
            <a:pPr lvl="1"/>
            <a:r>
              <a:rPr lang="en-US" dirty="0"/>
              <a:t>Wait if STOP2 or IGNORE wins</a:t>
            </a:r>
          </a:p>
        </p:txBody>
      </p:sp>
    </p:spTree>
    <p:extLst>
      <p:ext uri="{BB962C8B-B14F-4D97-AF65-F5344CB8AC3E}">
        <p14:creationId xmlns:p14="http://schemas.microsoft.com/office/powerpoint/2010/main" val="2585293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CCB9B-D258-97EE-D97B-B29EC7223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B08C4-79C2-A775-646A-1FDB377A3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Application 3: Stimulus Selective Stopping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2EA194A-0656-870D-BB6D-35DB9344F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84164"/>
            <a:ext cx="10691265" cy="3739896"/>
          </a:xfrm>
        </p:spPr>
        <p:txBody>
          <a:bodyPr/>
          <a:lstStyle/>
          <a:p>
            <a:r>
              <a:rPr lang="en-US" dirty="0"/>
              <a:t>Participants respond to direction of arrow</a:t>
            </a:r>
          </a:p>
          <a:p>
            <a:r>
              <a:rPr lang="en-US" dirty="0"/>
              <a:t>On some trials after a delay a signal appears:</a:t>
            </a:r>
          </a:p>
          <a:p>
            <a:pPr lvl="1"/>
            <a:r>
              <a:rPr lang="en-US" dirty="0"/>
              <a:t>50% ignore signal</a:t>
            </a:r>
          </a:p>
          <a:p>
            <a:pPr lvl="1"/>
            <a:r>
              <a:rPr lang="en-US" dirty="0"/>
              <a:t>50% stop signal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00E108-6BC8-6BA0-C828-70BCEF0D7AEA}"/>
              </a:ext>
            </a:extLst>
          </p:cNvPr>
          <p:cNvSpPr/>
          <p:nvPr/>
        </p:nvSpPr>
        <p:spPr>
          <a:xfrm>
            <a:off x="2877671" y="4241124"/>
            <a:ext cx="785135" cy="48491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7C369B-3005-8899-434E-7375086B5F69}"/>
              </a:ext>
            </a:extLst>
          </p:cNvPr>
          <p:cNvSpPr/>
          <p:nvPr/>
        </p:nvSpPr>
        <p:spPr>
          <a:xfrm>
            <a:off x="6956612" y="4241124"/>
            <a:ext cx="785135" cy="48491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24CC1D-0487-F45C-C440-3987740FBA6F}"/>
              </a:ext>
            </a:extLst>
          </p:cNvPr>
          <p:cNvSpPr/>
          <p:nvPr/>
        </p:nvSpPr>
        <p:spPr>
          <a:xfrm>
            <a:off x="10999332" y="4241124"/>
            <a:ext cx="785135" cy="48491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711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54182-2A0F-55F2-F656-F0A05A924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A3EEF-1989-0C75-5B97-80584CCA5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Application 3: Stimulus Selective Stopping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6A6A1-222C-F81D-C1CF-619DDC85F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84164"/>
            <a:ext cx="10691265" cy="3739896"/>
          </a:xfrm>
        </p:spPr>
        <p:txBody>
          <a:bodyPr/>
          <a:lstStyle/>
          <a:p>
            <a:r>
              <a:rPr lang="en-US" dirty="0"/>
              <a:t>Participants respond to direction of arrow</a:t>
            </a:r>
          </a:p>
          <a:p>
            <a:r>
              <a:rPr lang="en-US" dirty="0"/>
              <a:t>On some trials after a delay a signal appears:</a:t>
            </a:r>
          </a:p>
          <a:p>
            <a:pPr lvl="1"/>
            <a:r>
              <a:rPr lang="en-US" dirty="0"/>
              <a:t>50% ignore signal</a:t>
            </a:r>
          </a:p>
          <a:p>
            <a:pPr lvl="1"/>
            <a:r>
              <a:rPr lang="en-US" dirty="0"/>
              <a:t>50% stop signal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6C3725-B5E4-3BEE-7566-1D5A8EF1C171}"/>
              </a:ext>
            </a:extLst>
          </p:cNvPr>
          <p:cNvSpPr/>
          <p:nvPr/>
        </p:nvSpPr>
        <p:spPr>
          <a:xfrm>
            <a:off x="2877671" y="4241124"/>
            <a:ext cx="785135" cy="48491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34CF84-C898-31B9-207A-58B4F95BFAD0}"/>
              </a:ext>
            </a:extLst>
          </p:cNvPr>
          <p:cNvSpPr/>
          <p:nvPr/>
        </p:nvSpPr>
        <p:spPr>
          <a:xfrm>
            <a:off x="6956612" y="4241124"/>
            <a:ext cx="785135" cy="48491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B4D321-8C5D-CA9C-987C-0EE991CAAF77}"/>
              </a:ext>
            </a:extLst>
          </p:cNvPr>
          <p:cNvSpPr/>
          <p:nvPr/>
        </p:nvSpPr>
        <p:spPr>
          <a:xfrm>
            <a:off x="10999332" y="4241124"/>
            <a:ext cx="785135" cy="48491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B4AA73-DB86-7803-9BD6-6D92D5347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042" y="2589875"/>
            <a:ext cx="6402238" cy="409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9175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F6E6E-4FAF-E4C1-9C59-B239AF963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2D9D8-FE35-7A22-3955-17774DDC5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Application 3: Stimulus Selective Stopping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9E40D27-718B-2B19-D227-4372DCDCD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84164"/>
            <a:ext cx="10691265" cy="3739896"/>
          </a:xfrm>
        </p:spPr>
        <p:txBody>
          <a:bodyPr/>
          <a:lstStyle/>
          <a:p>
            <a:r>
              <a:rPr lang="en-US" dirty="0"/>
              <a:t>Participants respond to direction of arrow</a:t>
            </a:r>
          </a:p>
          <a:p>
            <a:r>
              <a:rPr lang="en-US" dirty="0"/>
              <a:t>On some trials after a delay a signal appears:</a:t>
            </a:r>
          </a:p>
          <a:p>
            <a:pPr lvl="1"/>
            <a:r>
              <a:rPr lang="en-US" dirty="0"/>
              <a:t>50% ignore signal</a:t>
            </a:r>
          </a:p>
          <a:p>
            <a:pPr lvl="1"/>
            <a:r>
              <a:rPr lang="en-US" dirty="0"/>
              <a:t>50% stop signal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7C31FE-55B3-9EAB-317F-B9F9D1804F0D}"/>
              </a:ext>
            </a:extLst>
          </p:cNvPr>
          <p:cNvSpPr/>
          <p:nvPr/>
        </p:nvSpPr>
        <p:spPr>
          <a:xfrm>
            <a:off x="2877671" y="4241124"/>
            <a:ext cx="785135" cy="48491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944C0E-AF35-49DD-CC6C-95F8554A04A8}"/>
              </a:ext>
            </a:extLst>
          </p:cNvPr>
          <p:cNvSpPr/>
          <p:nvPr/>
        </p:nvSpPr>
        <p:spPr>
          <a:xfrm>
            <a:off x="6956612" y="4241124"/>
            <a:ext cx="785135" cy="48491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FD8D99-4E92-4FD6-BCDB-0BEBBD9AC992}"/>
              </a:ext>
            </a:extLst>
          </p:cNvPr>
          <p:cNvSpPr/>
          <p:nvPr/>
        </p:nvSpPr>
        <p:spPr>
          <a:xfrm>
            <a:off x="10999332" y="4241124"/>
            <a:ext cx="785135" cy="48491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420224-03EA-4B58-D79A-40AAD9139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673" y="1568196"/>
            <a:ext cx="5329235" cy="453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381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57ADD-537D-0153-4584-D7A650A2E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7D610-190D-BF90-C8D9-2BE8D6298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Application 3: Stimulus Selective Stopping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1491217-BC83-6060-E65B-1E14822FB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84164"/>
            <a:ext cx="10691265" cy="3739896"/>
          </a:xfrm>
        </p:spPr>
        <p:txBody>
          <a:bodyPr/>
          <a:lstStyle/>
          <a:p>
            <a:r>
              <a:rPr lang="en-US" dirty="0"/>
              <a:t>Participants respond to direction of arrow</a:t>
            </a:r>
          </a:p>
          <a:p>
            <a:r>
              <a:rPr lang="en-US" dirty="0"/>
              <a:t>On some trials after a delay a signal appears:</a:t>
            </a:r>
          </a:p>
          <a:p>
            <a:pPr lvl="1"/>
            <a:r>
              <a:rPr lang="en-US" dirty="0"/>
              <a:t>50% ignore signal</a:t>
            </a:r>
          </a:p>
          <a:p>
            <a:pPr lvl="1"/>
            <a:r>
              <a:rPr lang="en-US" dirty="0"/>
              <a:t>50% stop signal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5ACCDB-C1AC-B3CA-9B1A-4371386657C1}"/>
              </a:ext>
            </a:extLst>
          </p:cNvPr>
          <p:cNvSpPr/>
          <p:nvPr/>
        </p:nvSpPr>
        <p:spPr>
          <a:xfrm>
            <a:off x="2877671" y="4241124"/>
            <a:ext cx="785135" cy="48491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E34A57-3416-0062-8B66-E8C1EDE82FAA}"/>
              </a:ext>
            </a:extLst>
          </p:cNvPr>
          <p:cNvSpPr/>
          <p:nvPr/>
        </p:nvSpPr>
        <p:spPr>
          <a:xfrm>
            <a:off x="6956612" y="4241124"/>
            <a:ext cx="785135" cy="48491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804443-0011-E0A1-4D3B-49607FD8BD46}"/>
              </a:ext>
            </a:extLst>
          </p:cNvPr>
          <p:cNvSpPr/>
          <p:nvPr/>
        </p:nvSpPr>
        <p:spPr>
          <a:xfrm>
            <a:off x="10999332" y="4241124"/>
            <a:ext cx="785135" cy="48491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54E2BA-24D8-A06C-A06B-7602252FC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841" y="1814406"/>
            <a:ext cx="5651523" cy="4129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5248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BB988-35A1-DC41-8D48-B1FE67473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2EC8-4FB2-83A6-52CC-4B092B7E5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Lava Devanagari Medium" pitchFamily="2" charset="77"/>
                <a:cs typeface="Lava Devanagari Medium" pitchFamily="2" charset="77"/>
              </a:rPr>
              <a:t>Discussion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01ABB54-0DCC-9A5F-B467-9AA4EA659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Generalized racing framework</a:t>
            </a:r>
          </a:p>
          <a:p>
            <a:r>
              <a:rPr lang="en-US" dirty="0"/>
              <a:t>Translate verbal hypotheses into model structure</a:t>
            </a:r>
          </a:p>
          <a:p>
            <a:r>
              <a:rPr lang="en-US" dirty="0"/>
              <a:t>User-friendly and efficient R package</a:t>
            </a:r>
          </a:p>
          <a:p>
            <a:pPr lvl="1"/>
            <a:r>
              <a:rPr lang="en-US" dirty="0"/>
              <a:t>Currently working on integrating into EMC2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21488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2881</TotalTime>
  <Words>1172</Words>
  <Application>Microsoft Macintosh PowerPoint</Application>
  <PresentationFormat>Widescreen</PresentationFormat>
  <Paragraphs>249</Paragraphs>
  <Slides>46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Aptos</vt:lpstr>
      <vt:lpstr>Arial</vt:lpstr>
      <vt:lpstr>Calisto MT</vt:lpstr>
      <vt:lpstr>Courier New</vt:lpstr>
      <vt:lpstr>Lato</vt:lpstr>
      <vt:lpstr>Lava Devanagari Medium</vt:lpstr>
      <vt:lpstr>Univers Condensed</vt:lpstr>
      <vt:lpstr>ChronicleVTI</vt:lpstr>
      <vt:lpstr>Building Cognitive Architectures</vt:lpstr>
      <vt:lpstr>Building Cognitive Architectures</vt:lpstr>
      <vt:lpstr>Building Cognitive Architectures</vt:lpstr>
      <vt:lpstr>Building Cognitive Architectures</vt:lpstr>
      <vt:lpstr>Evidence Accumulation Models</vt:lpstr>
      <vt:lpstr>Evidence Accumulation Models</vt:lpstr>
      <vt:lpstr>Evidence Accumulation Models</vt:lpstr>
      <vt:lpstr>Hypothesis formulation</vt:lpstr>
      <vt:lpstr>Hypothesis formulation</vt:lpstr>
      <vt:lpstr>Hypothesis formulation</vt:lpstr>
      <vt:lpstr>Hypothesis formulation</vt:lpstr>
      <vt:lpstr>Hypothesis formulation</vt:lpstr>
      <vt:lpstr>Hypothesis formulation</vt:lpstr>
      <vt:lpstr>Building Cognitive Architectures</vt:lpstr>
      <vt:lpstr>Building Cognitive Architectures</vt:lpstr>
      <vt:lpstr>Building Cognitive Architectures</vt:lpstr>
      <vt:lpstr>Building Cognitive Architectures</vt:lpstr>
      <vt:lpstr>Building Cognitive Architectures</vt:lpstr>
      <vt:lpstr>AccumulatR package</vt:lpstr>
      <vt:lpstr>Applications</vt:lpstr>
      <vt:lpstr>Application 1: Perceptual Decision-Making</vt:lpstr>
      <vt:lpstr>Application 1: Perceptual Decision-Making</vt:lpstr>
      <vt:lpstr>Application 1: Perceptual Decision-Making</vt:lpstr>
      <vt:lpstr>Application 1: Perceptual Decision-Making</vt:lpstr>
      <vt:lpstr>Application 1: Perceptual Decision-Making</vt:lpstr>
      <vt:lpstr>Application 2: Cognitive Control</vt:lpstr>
      <vt:lpstr>Application 2: Cognitive Control</vt:lpstr>
      <vt:lpstr>Application 2: Cognitive Control</vt:lpstr>
      <vt:lpstr>Application 2: Cognitive Control</vt:lpstr>
      <vt:lpstr>Application 2: Cognitive Control</vt:lpstr>
      <vt:lpstr>Application 2: Cognitive Control</vt:lpstr>
      <vt:lpstr>Application 2: Cognitive Control</vt:lpstr>
      <vt:lpstr>Application 3: Stimulus Selective Stopping</vt:lpstr>
      <vt:lpstr>Application 3: Stimulus Selective Stopping</vt:lpstr>
      <vt:lpstr>Application 3: Stimulus Selective Stopping</vt:lpstr>
      <vt:lpstr>Application 3: Stimulus Selective Stopping</vt:lpstr>
      <vt:lpstr>Application 3: Stimulus Selective Stopping</vt:lpstr>
      <vt:lpstr>Application 3: Stimulus Selective Stopping</vt:lpstr>
      <vt:lpstr>Application 3: Stimulus Selective Stopping</vt:lpstr>
      <vt:lpstr>Application 3: Stimulus Selective Stopping</vt:lpstr>
      <vt:lpstr>Application 3: Stimulus Selective Stopping</vt:lpstr>
      <vt:lpstr>Application 3: Stimulus Selective Stopping</vt:lpstr>
      <vt:lpstr>Application 3: Stimulus Selective Stopping</vt:lpstr>
      <vt:lpstr>Application 3: Stimulus Selective Stopping</vt:lpstr>
      <vt:lpstr>Application 3: Stimulus Selective Stopping</vt:lpstr>
      <vt:lpstr>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Niek Stevenson</dc:creator>
  <cp:lastModifiedBy>Niek Stevenson</cp:lastModifiedBy>
  <cp:revision>4</cp:revision>
  <dcterms:created xsi:type="dcterms:W3CDTF">2026-02-21T01:43:09Z</dcterms:created>
  <dcterms:modified xsi:type="dcterms:W3CDTF">2026-08-13T11:53:54Z</dcterms:modified>
</cp:coreProperties>
</file>