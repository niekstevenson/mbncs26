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32545fb5764caf" /><Relationship Type="http://schemas.openxmlformats.org/officeDocument/2006/relationships/extended-properties" Target="/docProps/app.xml" Id="R947d2ad5e2434df8" /><Relationship Type="http://schemas.openxmlformats.org/officeDocument/2006/relationships/officeDocument" Target="/ppt/presentation.xml" Id="Rb831694e993445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7f50a5255f43af"/>
  </p:sldMasterIdLst>
  <p:notesMasterIdLst>
    <p:notesMasterId xmlns:r="http://schemas.openxmlformats.org/officeDocument/2006/relationships" r:id="R517d06fe65fc4e7b"/>
  </p:notesMasterIdLst>
  <p:sldIdLst>
    <p:sldId xmlns:r="http://schemas.openxmlformats.org/officeDocument/2006/relationships" id="256" r:id="Rc6576e8435cb4582"/>
    <p:sldId xmlns:r="http://schemas.openxmlformats.org/officeDocument/2006/relationships" id="257" r:id="Rc34d32e3cace46a8"/>
    <p:sldId xmlns:r="http://schemas.openxmlformats.org/officeDocument/2006/relationships" id="258" r:id="R082f25d4e9d04ed4"/>
    <p:sldId xmlns:r="http://schemas.openxmlformats.org/officeDocument/2006/relationships" id="259" r:id="R9c586b69fb394e7b"/>
    <p:sldId xmlns:r="http://schemas.openxmlformats.org/officeDocument/2006/relationships" id="260" r:id="R298e7b06bbcc42ed"/>
    <p:sldId xmlns:r="http://schemas.openxmlformats.org/officeDocument/2006/relationships" id="261" r:id="R8c2b59615ddf4ca6"/>
    <p:sldId xmlns:r="http://schemas.openxmlformats.org/officeDocument/2006/relationships" id="262" r:id="Rc3a979d0b1e04faf"/>
    <p:sldId xmlns:r="http://schemas.openxmlformats.org/officeDocument/2006/relationships" id="263" r:id="R5a69daddd77f4d4c"/>
    <p:sldId xmlns:r="http://schemas.openxmlformats.org/officeDocument/2006/relationships" id="264" r:id="R9e978c6bb7dd437b"/>
    <p:sldId xmlns:r="http://schemas.openxmlformats.org/officeDocument/2006/relationships" id="265" r:id="Rd8a5d2685fe44b4c"/>
    <p:sldId xmlns:r="http://schemas.openxmlformats.org/officeDocument/2006/relationships" id="266" r:id="R5fc713ba567c4b51"/>
    <p:sldId xmlns:r="http://schemas.openxmlformats.org/officeDocument/2006/relationships" id="267" r:id="R46d23f27279e40b1"/>
    <p:sldId xmlns:r="http://schemas.openxmlformats.org/officeDocument/2006/relationships" id="268" r:id="R324838ca41be4f6a"/>
    <p:sldId xmlns:r="http://schemas.openxmlformats.org/officeDocument/2006/relationships" id="269" r:id="Rbbb99f8a49db4cb1"/>
    <p:sldId xmlns:r="http://schemas.openxmlformats.org/officeDocument/2006/relationships" id="270" r:id="R706f4e98bd6749c7"/>
    <p:sldId xmlns:r="http://schemas.openxmlformats.org/officeDocument/2006/relationships" id="271" r:id="R4d387bb0d3fa48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bc87ecf7e848a2" /><Relationship Type="http://schemas.openxmlformats.org/officeDocument/2006/relationships/slideMaster" Target="/ppt/slideMasters/slideMaster1.xml" Id="Rd27f50a5255f43af" /><Relationship Type="http://schemas.openxmlformats.org/officeDocument/2006/relationships/notesMaster" Target="/ppt/notesMasters/notesMaster1.xml" Id="R517d06fe65fc4e7b" /><Relationship Type="http://schemas.openxmlformats.org/officeDocument/2006/relationships/presProps" Target="/ppt/presProps.xml" Id="Rab41d95559f14b9a" /><Relationship Type="http://schemas.openxmlformats.org/officeDocument/2006/relationships/viewProps" Target="/ppt/viewProps.xml" Id="Rc6867e9061c84247" /><Relationship Type="http://schemas.openxmlformats.org/officeDocument/2006/relationships/tableStyles" Target="/ppt/tableStyles.xml" Id="Ra8bf7f81c0c64db5" /><Relationship Type="http://schemas.openxmlformats.org/officeDocument/2006/relationships/slide" Target="/ppt/slides/slide1.xml" Id="Rc6576e8435cb4582" /><Relationship Type="http://schemas.openxmlformats.org/officeDocument/2006/relationships/slide" Target="/ppt/slides/slide2.xml" Id="Rc34d32e3cace46a8" /><Relationship Type="http://schemas.openxmlformats.org/officeDocument/2006/relationships/slide" Target="/ppt/slides/slide3.xml" Id="R082f25d4e9d04ed4" /><Relationship Type="http://schemas.openxmlformats.org/officeDocument/2006/relationships/slide" Target="/ppt/slides/slide4.xml" Id="R9c586b69fb394e7b" /><Relationship Type="http://schemas.openxmlformats.org/officeDocument/2006/relationships/slide" Target="/ppt/slides/slide5.xml" Id="R298e7b06bbcc42ed" /><Relationship Type="http://schemas.openxmlformats.org/officeDocument/2006/relationships/slide" Target="/ppt/slides/slide6.xml" Id="R8c2b59615ddf4ca6" /><Relationship Type="http://schemas.openxmlformats.org/officeDocument/2006/relationships/slide" Target="/ppt/slides/slide7.xml" Id="Rc3a979d0b1e04faf" /><Relationship Type="http://schemas.openxmlformats.org/officeDocument/2006/relationships/slide" Target="/ppt/slides/slide8.xml" Id="R5a69daddd77f4d4c" /><Relationship Type="http://schemas.openxmlformats.org/officeDocument/2006/relationships/slide" Target="/ppt/slides/slide9.xml" Id="R9e978c6bb7dd437b" /><Relationship Type="http://schemas.openxmlformats.org/officeDocument/2006/relationships/slide" Target="/ppt/slides/slide10.xml" Id="Rd8a5d2685fe44b4c" /><Relationship Type="http://schemas.openxmlformats.org/officeDocument/2006/relationships/slide" Target="/ppt/slides/slide11.xml" Id="R5fc713ba567c4b51" /><Relationship Type="http://schemas.openxmlformats.org/officeDocument/2006/relationships/slide" Target="/ppt/slides/slide12.xml" Id="R46d23f27279e40b1" /><Relationship Type="http://schemas.openxmlformats.org/officeDocument/2006/relationships/slide" Target="/ppt/slides/slide13.xml" Id="R324838ca41be4f6a" /><Relationship Type="http://schemas.openxmlformats.org/officeDocument/2006/relationships/slide" Target="/ppt/slides/slide14.xml" Id="Rbbb99f8a49db4cb1" /><Relationship Type="http://schemas.openxmlformats.org/officeDocument/2006/relationships/slide" Target="/ppt/slides/slide15.xml" Id="R706f4e98bd6749c7" /><Relationship Type="http://schemas.openxmlformats.org/officeDocument/2006/relationships/slide" Target="/ppt/slides/slide16.xml" Id="R4d387bb0d3fa48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7d695b779d48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d17391fe0e49a1" /><Relationship Type="http://schemas.openxmlformats.org/officeDocument/2006/relationships/notesMaster" Target="/ppt/notesMasters/notesMaster1.xml" Id="Rf00c30c5a4c941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d75574e0364925" /><Relationship Type="http://schemas.openxmlformats.org/officeDocument/2006/relationships/notesMaster" Target="/ppt/notesMasters/notesMaster1.xml" Id="R10c3966124ca42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b9e7b945a24d9a" /><Relationship Type="http://schemas.openxmlformats.org/officeDocument/2006/relationships/notesMaster" Target="/ppt/notesMasters/notesMaster1.xml" Id="R5f3616af81ae4a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cea7a6177a45cc" /><Relationship Type="http://schemas.openxmlformats.org/officeDocument/2006/relationships/notesMaster" Target="/ppt/notesMasters/notesMaster1.xml" Id="Ra4232f45d7454f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f61457ab6042bd" /><Relationship Type="http://schemas.openxmlformats.org/officeDocument/2006/relationships/notesMaster" Target="/ppt/notesMasters/notesMaster1.xml" Id="R5cc217aaf66a48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32ad1ee3ca425c" /><Relationship Type="http://schemas.openxmlformats.org/officeDocument/2006/relationships/notesMaster" Target="/ppt/notesMasters/notesMaster1.xml" Id="Ra90c7751e8884d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bdc3c5297941f1" /><Relationship Type="http://schemas.openxmlformats.org/officeDocument/2006/relationships/notesMaster" Target="/ppt/notesMasters/notesMaster1.xml" Id="R734ec25398854c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e548173c2243bf" /><Relationship Type="http://schemas.openxmlformats.org/officeDocument/2006/relationships/notesMaster" Target="/ppt/notesMasters/notesMaster1.xml" Id="Rc734d571cb6a48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2ec1b7a441451d" /><Relationship Type="http://schemas.openxmlformats.org/officeDocument/2006/relationships/notesMaster" Target="/ppt/notesMasters/notesMaster1.xml" Id="R6b7912c251cf42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deb06c9abe41bf" /><Relationship Type="http://schemas.openxmlformats.org/officeDocument/2006/relationships/notesMaster" Target="/ppt/notesMasters/notesMaster1.xml" Id="R97218cfe4ce24f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a67a2caac24ed1" /><Relationship Type="http://schemas.openxmlformats.org/officeDocument/2006/relationships/notesMaster" Target="/ppt/notesMasters/notesMaster1.xml" Id="Ra9b2799578ac41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467fdbab574601" /><Relationship Type="http://schemas.openxmlformats.org/officeDocument/2006/relationships/notesMaster" Target="/ppt/notesMasters/notesMaster1.xml" Id="Rd6299653dfca4b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3e335a2f5d4f37" /><Relationship Type="http://schemas.openxmlformats.org/officeDocument/2006/relationships/notesMaster" Target="/ppt/notesMasters/notesMaster1.xml" Id="R793d270f062040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26c17ff00b4d1f" /><Relationship Type="http://schemas.openxmlformats.org/officeDocument/2006/relationships/notesMaster" Target="/ppt/notesMasters/notesMaster1.xml" Id="R95880a535ed145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908e78e30c4cb2" /><Relationship Type="http://schemas.openxmlformats.org/officeDocument/2006/relationships/notesMaster" Target="/ppt/notesMasters/notesMaster1.xml" Id="R441121e6dadc47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6b35693fa64895" /><Relationship Type="http://schemas.openxmlformats.org/officeDocument/2006/relationships/notesMaster" Target="/ppt/notesMasters/notesMaster1.xml" Id="R926196c0a5b644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~30 seconds.</a:t>
            </a:r>
            <a:endParaRPr/>
          </a:p>
          <a:p xmlns:a="http://schemas.openxmlformats.org/drawingml/2006/main">
            <a:r>
              <a:t>Frame the lesson around one question: how do we learn about a population without pretending that participant estimates are noise-free?</a:t>
            </a:r>
            <a:endParaRPr/>
          </a:p>
          <a:p xmlns:a="http://schemas.openxmlformats.org/drawingml/2006/main">
            <a:r>
              <a:t>Preview the route: pooling, measurement error, group inference, then EMC2's implementation.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/Users/nstevenson/Documents/2026/BayesFlow_comp/mathpsych-editable-v7.pptx, slide 1 (visual template)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~1 minute.</a:t>
            </a:r>
            <a:endParaRPr/>
          </a:p>
          <a:p xmlns:a="http://schemas.openxmlformats.org/drawingml/2006/main">
            <a:r>
              <a:t>Use a familiar repeated-measures example: many reaction times from each participant.</a:t>
            </a:r>
            <a:endParaRPr/>
          </a:p>
          <a:p xmlns:a="http://schemas.openxmlformats.org/drawingml/2006/main">
            <a:r>
              <a:t>The hierarchy is not decoration; it mirrors how the data were generated and where the scientific question lives.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/Users/nstevenson/Documents/2026/BayesFlow_comp/mathpsych-editable-v7.pptx, slide 2</a:t>
            </a:r>
            <a:endParaRPr/>
          </a:p>
          <a:p xmlns:a="http://schemas.openxmlformats.org/drawingml/2006/main">
            <a:r>
              <a:t>- /Users/nstevenson/Documents/2026/MBNCSS26/Day2-Hierarchical/Model-Based Neuroscience &amp; Cognition Summer School 2025.pptx, slides 3-11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~1.5 minutes.</a:t>
            </a:r>
          </a:p>
          <a:p xmlns:a="http://schemas.openxmlformats.org/drawingml/2006/main">
            <a:r>
              <a:t>Read the diagram top-down as a generative model, then bottom-up as posterior learning.</a:t>
            </a:r>
          </a:p>
          <a:p xmlns:a="http://schemas.openxmlformats.org/drawingml/2006/main">
            <a:r>
              <a:t>Participants are distinct, but connected through shared population parameters.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/Users/nstevenson/Documents/2026/BayesFlow_comp/mathpsych-editable-v7.pptx, slide 4</a:t>
            </a:r>
          </a:p>
          <a:p xmlns:a="http://schemas.openxmlformats.org/drawingml/2006/main">
            <a:r>
              <a:t>- /Users/nstevenson/Documents/2025/EMC2_tutorial/LatexFiles/main.tex, Hierarchical Modeling section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~1.5 minutes.</a:t>
            </a:r>
          </a:p>
          <a:p xmlns:a="http://schemas.openxmlformats.org/drawingml/2006/main">
            <a:r>
              <a:t>Ask the room which participant should move most under partial pooling.</a:t>
            </a:r>
          </a:p>
          <a:p xmlns:a="http://schemas.openxmlformats.org/drawingml/2006/main">
            <a:r>
              <a:t>Stress that partial pooling is adaptive, not a fixed compromise: stronger data move less.</a:t>
            </a:r>
          </a:p>
          <a:p xmlns:a="http://schemas.openxmlformats.org/drawingml/2006/main">
            <a:r>
              <a:t>Separate fitting becomes problematic when the resulting point estimates are treated as error-free observations in a second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/Users/nstevenson/Documents/2026/BayesFlow_comp/mathpsych-editable-v7.pptx, slide 3</a:t>
            </a:r>
          </a:p>
          <a:p xmlns:a="http://schemas.openxmlformats.org/drawingml/2006/main">
            <a:r>
              <a:t>- /Users/nstevenson/Documents/2025/EMC2_tutorial/LatexFiles/main.tex, Two-Step Inference and Hierarchical Modeling sections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~1 minute.</a:t>
            </a:r>
            <a:endParaRPr/>
          </a:p>
          <a:p xmlns:a="http://schemas.openxmlformats.org/drawingml/2006/main">
            <a:r>
              <a:t>Define epsilon broadly as finite-data estimation error caused by trial variability and limited information.</a:t>
            </a:r>
            <a:endParaRPr/>
          </a:p>
          <a:p xmlns:a="http://schemas.openxmlformats.org/drawingml/2006/main">
            <a:r>
              <a:t>Do not imply that every within-person fluctuation is merely bad data; it enters the likelihood and determines precision.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/Users/nstevenson/Documents/2026/MBNCSS26/Day2-Hierarchical/Model-Based Neuroscience &amp; Cognition Summer School 2025.pptx, slides 5-9</a:t>
            </a:r>
            <a:endParaRPr/>
          </a:p>
          <a:p xmlns:a="http://schemas.openxmlformats.org/drawingml/2006/main">
            <a:r>
              <a:t>- /Users/nstevenson/Documents/2025/EMC2_tutorial/LatexFiles/main.tex, lines 473-489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~1.5 minutes.</a:t>
            </a:r>
            <a:endParaRPr/>
          </a:p>
          <a:p xmlns:a="http://schemas.openxmlformats.org/drawingml/2006/main">
            <a:r>
              <a:t>This decomposition assumes independent, mean-zero estimation error.</a:t>
            </a:r>
            <a:endParaRPr/>
          </a:p>
          <a:p xmlns:a="http://schemas.openxmlformats.org/drawingml/2006/main">
            <a:r>
              <a:t>The trial-count term explains why the same population can appear more heterogeneous when participants have fewer observations.</a:t>
            </a:r>
            <a:endParaRPr/>
          </a:p>
          <a:p xmlns:a="http://schemas.openxmlformats.org/drawingml/2006/main">
            <a:r>
              <a:t>Separate two-step fits cannot distinguish these two variance components without carrying estimate uncertainty forward.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/Users/nstevenson/Documents/2026/MBNCSS26/Day2-Hierarchical/Model-Based Neuroscience &amp; Cognition Summer School 2025.pptx, slides 12-16</a:t>
            </a:r>
            <a:endParaRPr/>
          </a:p>
          <a:p xmlns:a="http://schemas.openxmlformats.org/drawingml/2006/main">
            <a:r>
              <a:t>- /Users/nstevenson/Documents/2025/EMC2_tutorial/LatexFiles/main.tex, equation var_est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~1.25 minutes.</a:t>
            </a:r>
            <a:endParaRPr/>
          </a:p>
          <a:p xmlns:a="http://schemas.openxmlformats.org/drawingml/2006/main">
            <a:r>
              <a:t>Present lambda as reliability in a simple normal-normal, homoscedastic case—not as a universal closed-form formula for cognitive models.</a:t>
            </a:r>
            <a:endParaRPr/>
          </a:p>
          <a:p xmlns:a="http://schemas.openxmlformats.org/drawingml/2006/main">
            <a:r>
              <a:t>The general principle survives: posterior shrinkage reflects likelihood information relative to population variability.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/Users/nstevenson/Documents/2026/MBNCSS26/Day2-Hierarchical/Model-Based Neuroscience &amp; Cognition Summer School 2025.pptx, slides 19 and 23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~1.5 minutes.</a:t>
            </a:r>
            <a:endParaRPr/>
          </a:p>
          <a:p xmlns:a="http://schemas.openxmlformats.org/drawingml/2006/main">
            <a:r>
              <a:t>Read across the columns first: 80 trials versus 640 trials.</a:t>
            </a:r>
            <a:endParaRPr/>
          </a:p>
          <a:p xmlns:a="http://schemas.openxmlformats.org/drawingml/2006/main">
            <a:r>
              <a:t>Then compare rows: more participants estimate the population more precisely, which can strengthen pooling of weak local estimates.</a:t>
            </a:r>
            <a:endParaRPr/>
          </a:p>
          <a:p xmlns:a="http://schemas.openxmlformats.org/drawingml/2006/main">
            <a:r>
              <a:t>Do not describe shrinkage as bias removal at the individual level; it is regularization under the population model.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/Users/nstevenson/Documents/2025/EMC2_tutorial/LatexFiles/figs/shrinkage.pdf</a:t>
            </a:r>
            <a:endParaRPr/>
          </a:p>
          <a:p xmlns:a="http://schemas.openxmlformats.org/drawingml/2006/main">
            <a:r>
              <a:t>- /Users/nstevenson/Documents/2025/EMC2_tutorial/LatexFiles/main.tex, Framework Benefits: Regularization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~2 minutes.</a:t>
            </a:r>
            <a:endParaRPr/>
          </a:p>
          <a:p xmlns:a="http://schemas.openxmlformats.org/drawingml/2006/main">
            <a:r>
              <a:t>Use the visible labels, not the inconsistent manuscript caption: columns are 80 and 640 trials; rows are response-bias variance, between-session response-bias correlation, and the Shipley effect on drift rate.</a:t>
            </a:r>
            <a:endParaRPr/>
          </a:p>
          <a:p xmlns:a="http://schemas.openxmlformats.org/drawingml/2006/main">
            <a:r>
              <a:t>Dashed lines are two-step; solid lines are hierarchical. Two-step variance is inflated and correlations are attenuated when local estimates are noisy.</a:t>
            </a:r>
            <a:endParaRPr/>
          </a:p>
          <a:p xmlns:a="http://schemas.openxmlformats.org/drawingml/2006/main">
            <a:r>
              <a:t>Regression bias is not automatic: it requires estimation error related to the predictor. In this application the Shipley effect is distorted; classical outcome noise alone would mainly increase uncertainty.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/Users/nstevenson/Documents/2025/EMC2_tutorial/LatexFiles/figs/posteriors.pdf</a:t>
            </a:r>
            <a:endParaRPr/>
          </a:p>
          <a:p xmlns:a="http://schemas.openxmlformats.org/drawingml/2006/main">
            <a:r>
              <a:t>- /Users/nstevenson/Documents/2025/EMC2_tutorial/LatexFiles/main.tex, Framework Benefits: Inference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~1.5 minutes.</a:t>
            </a:r>
          </a:p>
          <a:p xmlns:a="http://schemas.openxmlformats.org/drawingml/2006/main">
            <a:r>
              <a:t>Separate the three inferential targets: location, heterogeneity/covariance, and regression effects.</a:t>
            </a:r>
          </a:p>
          <a:p xmlns:a="http://schemas.openxmlformats.org/drawingml/2006/main">
            <a:r>
              <a:t>A posterior contrast or Bayes factor is computed from these population quantities, not by exporting point estimates into another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/Users/nstevenson/Documents/2025/EMC2_tutorial/LatexFiles/main.tex, Population-level GLM section</a:t>
            </a:r>
          </a:p>
          <a:p xmlns:a="http://schemas.openxmlformats.org/drawingml/2006/main">
            <a:r>
              <a:t>- /Users/nstevenson/Documents/2026/BayesFlow_comp/mathpsych-editable-v7.pptx, slide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~1 minute.</a:t>
            </a:r>
          </a:p>
          <a:p xmlns:a="http://schemas.openxmlformats.org/drawingml/2006/main">
            <a:r>
              <a:t>Transition from generic hierarchical models to EMC2.</a:t>
            </a:r>
          </a:p>
          <a:p xmlns:a="http://schemas.openxmlformats.org/drawingml/2006/main">
            <a:r>
              <a:t>In an evidence-accumulation model, K can include baseline terms and condition effects for drift, threshold, non-decision time, bias, and variability parameters.</a:t>
            </a:r>
          </a:p>
          <a:p xmlns:a="http://schemas.openxmlformats.org/drawingml/2006/main">
            <a:r>
              <a:t>The participant grid is the computational problem EMC2 is designed around.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/Users/nstevenson/Documents/2026/BayesFlow_comp/mathpsych-editable-v7.pptx, slide 5</a:t>
            </a:r>
          </a:p>
          <a:p xmlns:a="http://schemas.openxmlformats.org/drawingml/2006/main">
            <a:r>
              <a:t>- /Users/nstevenson/Documents/2025/EMC2_tutorial/LatexFiles/main.tex, Data-level EAM section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~1.75 minutes.</a:t>
            </a:r>
          </a:p>
          <a:p xmlns:a="http://schemas.openxmlformats.org/drawingml/2006/main">
            <a:r>
              <a:t>Be precise: every local coefficient included in the cognitive-model design is participant-specific. Shared beta, mu, and Sigma are not participant-specific, and trial-level theta values are deterministic functions of X alpha.</a:t>
            </a:r>
          </a:p>
          <a:p xmlns:a="http://schemas.openxmlformats.org/drawingml/2006/main">
            <a:r>
              <a:t>The covariance matrix can express correlations among participant coefficients.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/Users/nstevenson/Documents/2025/EMC2_tutorial/LatexFiles/main.tex, Data-level EAM and Population-level GLM sections</a:t>
            </a:r>
          </a:p>
          <a:p xmlns:a="http://schemas.openxmlformats.org/drawingml/2006/main">
            <a:r>
              <a:t>- /Users/nstevenson/Documents/2026/BayesFlow_comp/mathpsych-editable-v7.pptx, slide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~1 minute.</a:t>
            </a:r>
          </a:p>
          <a:p xmlns:a="http://schemas.openxmlformats.org/drawingml/2006/main">
            <a:r>
              <a:t>This is a reference point, not a brms lesson.</a:t>
            </a:r>
          </a:p>
          <a:p xmlns:a="http://schemas.openxmlformats.org/drawingml/2006/main">
            <a:r>
              <a:t>Typical brms/lme4 syntax selectively marks intercepts or slopes as varying. EMC2 starts from a complete participant coefficient vector for the cognitive model.</a:t>
            </a:r>
          </a:p>
          <a:p xmlns:a="http://schemas.openxmlformats.org/drawingml/2006/main">
            <a:r>
              <a:t>Do not translate statistical intercept/slope labels one-for-one into named cognitive parameters; the design matrix determines their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/Users/nstevenson/Documents/2026/MBNCSS26/Day2-Hierarchical/REs Model-Based Neuroscience &amp; Cognition Summer School 2025.pptx, slides 3-5</a:t>
            </a:r>
          </a:p>
          <a:p xmlns:a="http://schemas.openxmlformats.org/drawingml/2006/main">
            <a:r>
              <a:t>- https://paulbuerkner.com/brms/reference/brmsformula.html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~1.25 minutes.</a:t>
            </a:r>
            <a:endParaRPr/>
          </a:p>
          <a:p xmlns:a="http://schemas.openxmlformats.org/drawingml/2006/main">
            <a:r>
              <a:t>Start with the simple mean-variance hierarchy, then show that the participant-specific mean can be a regression.</a:t>
            </a:r>
            <a:endParaRPr/>
          </a:p>
          <a:p xmlns:a="http://schemas.openxmlformats.org/drawingml/2006/main">
            <a:r>
              <a:t>Beta supports person-level predictors; Sigma captures residual heterogeneity and covariance among the local coefficients.</a:t>
            </a:r>
            <a:endParaRPr/>
          </a:p>
          <a:p xmlns:a="http://schemas.openxmlformats.org/drawingml/2006/main">
            <a:r>
              <a:t>This is the main route to group-level inference in EMC2.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/Users/nstevenson/Documents/2025/EMC2_tutorial/LatexFiles/main.tex, equations population-level-MVN and participant-specific-mean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~1.5 minutes.</a:t>
            </a:r>
          </a:p>
          <a:p xmlns:a="http://schemas.openxmlformats.org/drawingml/2006/main">
            <a:r>
              <a:t>Participants are conditionally—not marginally—independent. They still borrow information because mu and Sigma are learned from everybody.</a:t>
            </a:r>
          </a:p>
          <a:p xmlns:a="http://schemas.openxmlformats.org/drawingml/2006/main">
            <a:r>
              <a:t>Conditional independence is not unique to EMC2. EMC2's advantage is that its participant-complete architecture preserves this partition and its specialized computation exploits it.</a:t>
            </a:r>
          </a:p>
          <a:p xmlns:a="http://schemas.openxmlformats.org/drawingml/2006/main">
            <a:r>
              <a:t>More general shared, crossed, or multi-membership structures are easier to express in brms/Stan but can prevent a pure participant-wise partition.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/Users/nstevenson/Documents/2025/EMC2_tutorial/LatexFiles/main.tex, Factorized Hierarchical Model appendix</a:t>
            </a:r>
          </a:p>
          <a:p xmlns:a="http://schemas.openxmlformats.org/drawingml/2006/main">
            <a:r>
              <a:t>- https://paulbuerkner.com/brms/reference/brmsformula.html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~45 seconds.</a:t>
            </a:r>
            <a:endParaRPr/>
          </a:p>
          <a:p xmlns:a="http://schemas.openxmlformats.org/drawingml/2006/main">
            <a:r>
              <a:t>Close by returning to the original question: learn about the population without pretending participant estimates are observed without error.</a:t>
            </a:r>
            <a:endParaRPr/>
          </a:p>
          <a:p xmlns:a="http://schemas.openxmlformats.org/drawingml/2006/main">
            <a:r>
              <a:t>The core EMC2 idea is a full participant coefficient vector tied together by a population distribution or regression, implemented through scalable blocks.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/Users/nstevenson/Documents/2025/EMC2_tutorial/LatexFiles/main.tex</a:t>
            </a:r>
            <a:endParaRPr/>
          </a:p>
          <a:p xmlns:a="http://schemas.openxmlformats.org/drawingml/2006/main">
            <a:r>
              <a:t>- /Users/nstevenson/Documents/2026/MBNCSS26/Day2-Hierarchical/Model-Based Neuroscience &amp; Cognition Summer School 2025.pptx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39073b51224c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9e1d5f21c45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7b81d2d2bd4b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b705f15ca41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5d12b671046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21555cf5a7478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325b4cd29450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73a8aaf3b44e2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7d4c6afb664e6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9d780e63504d2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f87f24777482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B37362-EE2A-E962-6922-78D1776EADA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99A5AC0-3B18-4D24-5582-F8D678E6E6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25FD36C-1274-2EA9-FAA4-3DC5789DC0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80C50CD-E178-4744-9B35-B2F624D6C5E9}" type="datetimeFigureOut">
              <a:t>7/18/26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224C78-0842-E83B-E1DD-9FE601AB25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A1DA34-AC5A-6FF0-97AE-8B56F27890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8CC95F-0247-41B6-91CF-DC97C76A708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CC0574-3336-7084-7409-1E12E60A3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A11A63-5064-0BD8-D634-8F8CD26B89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95D154-F53A-37E9-BA54-F3911B442C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80C50CD-E178-4744-9B35-B2F624D6C5E9}" type="datetimeFigureOut">
              <a:t>7/18/26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88E6DF-BCFE-655C-43CF-90E6E26AF9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A5BB7E-7382-A27F-958D-0E595AFAF9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8CC95F-0247-41B6-91CF-DC97C76A708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D7EF9A-6141-BC44-F922-E8919E574B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AD50D8A-52B9-4A47-0BC4-C323500721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C588FE-3AF0-3F4E-F024-267A230BE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80C50CD-E178-4744-9B35-B2F624D6C5E9}" type="datetimeFigureOut">
              <a:t>7/18/26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00E7CB3-7703-C73B-0F86-F71F496810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30F294C-6CBA-ADDD-D564-11176C53A3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8CC95F-0247-41B6-91CF-DC97C76A708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3BEFD3-B969-5CB6-9CF9-6900C3D4D5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152CC5C-87C6-D627-0CD3-ED3FB9ECAF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B54645F-BAF6-7C3D-F6BD-BA928812BDC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8F26DBA-5D88-EB9B-7FCB-2ABCA59131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80C50CD-E178-4744-9B35-B2F624D6C5E9}" type="datetimeFigureOut">
              <a:t>7/18/26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009A7FC-C970-289A-9E34-E5D787DE22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03E7611-5626-A611-0132-73D39CA484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8CC95F-0247-41B6-91CF-DC97C76A708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52E1A4-E63E-57AB-AB78-232EF099C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08F3BDB-5B2A-8042-BFFD-3D20A25D62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4DEFF5E-C24E-E738-2CD9-CFC2EB5891A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B86050A-E9EE-8E06-2EB1-CF363DC99D5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2DA8519-2A3A-3C40-779F-777F0B447D6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F25A234-F5DE-E91E-BF53-FA390B42BC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80C50CD-E178-4744-9B35-B2F624D6C5E9}" type="datetimeFigureOut">
              <a:t>7/18/26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85E6B93-D0EF-6865-A25A-8F9D816779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A122A86-3684-1477-D953-ECC86BF563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8CC95F-0247-41B6-91CF-DC97C76A708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AE6BDA-58C6-CBD5-F733-41553FB28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86B25D4-1B1C-9556-7630-D415B6B303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80C50CD-E178-4744-9B35-B2F624D6C5E9}" type="datetimeFigureOut">
              <a:t>7/18/26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A328D65-B7AB-4738-58C0-03CA571259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366E432-4519-D7C1-8626-F98C89116B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8CC95F-0247-41B6-91CF-DC97C76A708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0819154-6521-721E-C285-2A118401EA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80C50CD-E178-4744-9B35-B2F624D6C5E9}" type="datetimeFigureOut">
              <a:t>7/18/26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8D7CF5F-DF03-682F-6DD5-B571D62746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5C1C041-CF46-B1EF-038D-D48CD360BF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8CC95F-0247-41B6-91CF-DC97C76A708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987C50-9CF1-376B-5664-800FDDAAD9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A51102-396B-1916-96CA-1D506095CD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8D73B66-6B62-AD83-CCA4-87EF44966B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530ECBB-3278-60AD-2B51-840BCACB30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80C50CD-E178-4744-9B35-B2F624D6C5E9}" type="datetimeFigureOut">
              <a:t>7/18/26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9F4F5A-7B58-6689-BB2E-A4F82064B0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771F310-5B68-A008-E982-8350957D93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8CC95F-0247-41B6-91CF-DC97C76A708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61AB0F-E4B3-4858-A827-8EB5F0199F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8B201D-838A-5622-7259-B0993962B70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F2AC843-2F28-4A86-51FA-75650C5C80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7EF7841-E5E5-6EDD-ABCB-E1B627F775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80C50CD-E178-4744-9B35-B2F624D6C5E9}" type="datetimeFigureOut">
              <a:t>7/18/26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BB1B30-4B13-53FE-5A2F-B0C03483A6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852A932-B08D-8979-7FBE-0FD3198212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8CC95F-0247-41B6-91CF-DC97C76A708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2BA10F-7598-A54D-89B9-AC0575E879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5A23EE2-03A2-B143-62AE-F0F6291E40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F52FF4-E317-4566-732B-6E49EA13B8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80C50CD-E178-4744-9B35-B2F624D6C5E9}" type="datetimeFigureOut">
              <a:t>7/18/26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76D72B-2503-EB3C-1652-5DE2409932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F926EF-E41B-556F-951B-2CBD315684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8CC95F-0247-41B6-91CF-DC97C76A708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8AAC80F-B2E0-573E-94E3-351D41E960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419E485-36FD-D51D-35AA-2BBB80390C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0F589B-D94E-A027-56E6-9081F482E0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80C50CD-E178-4744-9B35-B2F624D6C5E9}" type="datetimeFigureOut">
              <a:t>7/18/26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8EC8D1-A447-ECE5-1AB0-35C3F65230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7375E0-BAC3-A4ED-B39B-3B6ABE630E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8CC95F-0247-41B6-91CF-DC97C76A7088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12504c292a43ed" /><Relationship Type="http://schemas.openxmlformats.org/officeDocument/2006/relationships/slideLayout" Target="/ppt/slideLayouts/slideLayout1.xml" Id="R6ef0a90bfba94005" /><Relationship Type="http://schemas.openxmlformats.org/officeDocument/2006/relationships/slideLayout" Target="/ppt/slideLayouts/slideLayout2.xml" Id="Rdbb39ea460d343b1" /><Relationship Type="http://schemas.openxmlformats.org/officeDocument/2006/relationships/slideLayout" Target="/ppt/slideLayouts/slideLayout3.xml" Id="R6ad88bbe4c814e77" /><Relationship Type="http://schemas.openxmlformats.org/officeDocument/2006/relationships/slideLayout" Target="/ppt/slideLayouts/slideLayout4.xml" Id="Rc137e9b86b6b44f2" /><Relationship Type="http://schemas.openxmlformats.org/officeDocument/2006/relationships/slideLayout" Target="/ppt/slideLayouts/slideLayout5.xml" Id="Ref10a55cfb4346cd" /><Relationship Type="http://schemas.openxmlformats.org/officeDocument/2006/relationships/slideLayout" Target="/ppt/slideLayouts/slideLayout6.xml" Id="Re7605d1797184c12" /><Relationship Type="http://schemas.openxmlformats.org/officeDocument/2006/relationships/slideLayout" Target="/ppt/slideLayouts/slideLayout7.xml" Id="R76ebc4d571a6445c" /><Relationship Type="http://schemas.openxmlformats.org/officeDocument/2006/relationships/slideLayout" Target="/ppt/slideLayouts/slideLayout8.xml" Id="R050c309c325b4ecb" /><Relationship Type="http://schemas.openxmlformats.org/officeDocument/2006/relationships/slideLayout" Target="/ppt/slideLayouts/slideLayout9.xml" Id="R0a3214dfda7947c6" /><Relationship Type="http://schemas.openxmlformats.org/officeDocument/2006/relationships/slideLayout" Target="/ppt/slideLayouts/slideLayout10.xml" Id="Rb8a4bff6f104435c" /><Relationship Type="http://schemas.openxmlformats.org/officeDocument/2006/relationships/slideLayout" Target="/ppt/slideLayouts/slideLayout11.xml" Id="R40b42126ed9f442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622C7D9-0E54-69F8-1CB8-EBBE5A3017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8775340-5940-EEAC-F380-08E1E2CEB5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02DBC5D-703D-BC74-9DEA-13132DFCEDF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80C50CD-E178-4744-9B35-B2F624D6C5E9}" type="datetimeFigureOut">
              <a:t>7/18/26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5F66DE-B524-E8FA-A2F2-6BC86720EAE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2700DE-4149-1003-2A4D-157F2F3D8B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148CC95F-0247-41B6-91CF-DC97C76A708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f0a90bfba94005"/>
    <p:sldLayoutId xmlns:r="http://schemas.openxmlformats.org/officeDocument/2006/relationships" id="2147483650" r:id="Rdbb39ea460d343b1"/>
    <p:sldLayoutId xmlns:r="http://schemas.openxmlformats.org/officeDocument/2006/relationships" id="2147483651" r:id="R6ad88bbe4c814e77"/>
    <p:sldLayoutId xmlns:r="http://schemas.openxmlformats.org/officeDocument/2006/relationships" id="2147483652" r:id="Rc137e9b86b6b44f2"/>
    <p:sldLayoutId xmlns:r="http://schemas.openxmlformats.org/officeDocument/2006/relationships" id="2147483653" r:id="Ref10a55cfb4346cd"/>
    <p:sldLayoutId xmlns:r="http://schemas.openxmlformats.org/officeDocument/2006/relationships" id="2147483654" r:id="Re7605d1797184c12"/>
    <p:sldLayoutId xmlns:r="http://schemas.openxmlformats.org/officeDocument/2006/relationships" id="2147483655" r:id="R76ebc4d571a6445c"/>
    <p:sldLayoutId xmlns:r="http://schemas.openxmlformats.org/officeDocument/2006/relationships" id="2147483656" r:id="R050c309c325b4ecb"/>
    <p:sldLayoutId xmlns:r="http://schemas.openxmlformats.org/officeDocument/2006/relationships" id="2147483657" r:id="R0a3214dfda7947c6"/>
    <p:sldLayoutId xmlns:r="http://schemas.openxmlformats.org/officeDocument/2006/relationships" id="2147483658" r:id="Rb8a4bff6f104435c"/>
    <p:sldLayoutId xmlns:r="http://schemas.openxmlformats.org/officeDocument/2006/relationships" id="2147483659" r:id="R40b42126ed9f442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67bcc583947cd" /><Relationship Type="http://schemas.openxmlformats.org/officeDocument/2006/relationships/image" Target="/ppt/media/image.jpeg" Id="Rc52fcd5d6794463b" /><Relationship Type="http://schemas.openxmlformats.org/officeDocument/2006/relationships/notesSlide" Target="/ppt/notesSlides/notesSlide1.xml" Id="R03575b4014b647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88cf20073c4d65" /><Relationship Type="http://schemas.openxmlformats.org/officeDocument/2006/relationships/image" Target="/ppt/media/image2.jpeg" Id="Rdc48126cd22345a9" /><Relationship Type="http://schemas.openxmlformats.org/officeDocument/2006/relationships/notesSlide" Target="/ppt/notesSlides/notesSlide2.xml" Id="Rac97b1b306fa47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06548de1f74ba7" /><Relationship Type="http://schemas.openxmlformats.org/officeDocument/2006/relationships/notesSlide" Target="/ppt/notesSlides/notesSlide3.xml" Id="Ra95f5e1c2c684e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3878cebc354836" /><Relationship Type="http://schemas.openxmlformats.org/officeDocument/2006/relationships/notesSlide" Target="/ppt/notesSlides/notesSlide4.xml" Id="R936865cd6c3b46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d267a787a84ab9" /><Relationship Type="http://schemas.openxmlformats.org/officeDocument/2006/relationships/notesSlide" Target="/ppt/notesSlides/notesSlide5.xml" Id="R7503eed3cafd4b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8aca1f46814610" /><Relationship Type="http://schemas.openxmlformats.org/officeDocument/2006/relationships/notesSlide" Target="/ppt/notesSlides/notesSlide6.xml" Id="Re9c55c19b0ec4e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d07186f4694b45" /><Relationship Type="http://schemas.openxmlformats.org/officeDocument/2006/relationships/notesSlide" Target="/ppt/notesSlides/notesSlide7.xml" Id="R9f6c021fa4ae4b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550c2a4347403e" /><Relationship Type="http://schemas.openxmlformats.org/officeDocument/2006/relationships/image" Target="/ppt/media/image2.jpeg" Id="R1df5ba13b9994293" /><Relationship Type="http://schemas.openxmlformats.org/officeDocument/2006/relationships/notesSlide" Target="/ppt/notesSlides/notesSlide8.xml" Id="Rb9ad7944f5cb45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206983ed1b4630" /><Relationship Type="http://schemas.openxmlformats.org/officeDocument/2006/relationships/image" Target="/ppt/media/image2.jpeg" Id="Rbd9b7a1865024236" /><Relationship Type="http://schemas.openxmlformats.org/officeDocument/2006/relationships/notesSlide" Target="/ppt/notesSlides/notesSlide9.xml" Id="R2794f8952e9d41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0dd63c901c4247" /><Relationship Type="http://schemas.openxmlformats.org/officeDocument/2006/relationships/notesSlide" Target="/ppt/notesSlides/notesSlide10.xml" Id="R347539fd98f747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dcc23093264c41" /><Relationship Type="http://schemas.openxmlformats.org/officeDocument/2006/relationships/notesSlide" Target="/ppt/notesSlides/notesSlide11.xml" Id="Rc694d5d8c56c44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f679c3161e4338" /><Relationship Type="http://schemas.openxmlformats.org/officeDocument/2006/relationships/notesSlide" Target="/ppt/notesSlides/notesSlide12.xml" Id="Reb6fbec906a743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858fd6cb8841e0" /><Relationship Type="http://schemas.openxmlformats.org/officeDocument/2006/relationships/notesSlide" Target="/ppt/notesSlides/notesSlide13.xml" Id="R4b4f47210f2149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3bfa3565ae4b01" /><Relationship Type="http://schemas.openxmlformats.org/officeDocument/2006/relationships/notesSlide" Target="/ppt/notesSlides/notesSlide14.xml" Id="R3c7581689a9249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c166be827c4757" /><Relationship Type="http://schemas.openxmlformats.org/officeDocument/2006/relationships/notesSlide" Target="/ppt/notesSlides/notesSlide15.xml" Id="R326aa57decab4a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296eeef64643f7" /><Relationship Type="http://schemas.openxmlformats.org/officeDocument/2006/relationships/image" Target="/ppt/media/image2.jpeg" Id="Rd708a715d9624a61" /><Relationship Type="http://schemas.openxmlformats.org/officeDocument/2006/relationships/notesSlide" Target="/ppt/notesSlides/notesSlide16.xml" Id="R055e6e099bbc4f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fcd5d6794463b">
            <a:alphaModFix amt="40000"/>
          </a:blip>
          <a:srcRect xmlns:a="http://schemas.openxmlformats.org/drawingml/2006/main" l="0" t="29688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"/>
            <a:ext cx="12192001" cy="6858001"/>
          </a:xfrm>
          <a:prstGeom xmlns:a="http://schemas.openxmlformats.org/drawingml/2006/main" prst="rect">
            <a:avLst/>
          </a:prstGeom>
        </p:spPr>
      </p:pic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176F79-F0EC-EF8E-7C61-8DB2E885BB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08068" y="657369"/>
            <a:ext cx="5473988" cy="2325113"/>
          </a:xfrm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4000" b="1" i="0">
                <a:solidFill>
                  <a:srgbClr val="242424"/>
                </a:solidFill>
                <a:latin typeface="Lato"/>
                <a:ea typeface="Lato"/>
                <a:cs typeface="Lato"/>
              </a:rPr>
              <a:t>Hierarchical modelling</a:t>
            </a:r>
          </a:p>
          <a:p xmlns:a="http://schemas.openxmlformats.org/drawingml/2006/main">
            <a:r>
              <a:rPr sz="4000" b="1" i="0">
                <a:solidFill>
                  <a:srgbClr val="242424"/>
                </a:solidFill>
                <a:latin typeface="Lato"/>
                <a:ea typeface="Lato"/>
                <a:cs typeface="Lato"/>
              </a:rPr>
              <a:t>with EMC2</a:t>
            </a:r>
          </a:p>
        </p:txBody>
      </p:sp>
      <p:sp>
        <p:nvSpPr>
          <p:cNvPr id="7" name="Subtitle 2">
            <a:extLst xmlns:a="http://schemas.openxmlformats.org/drawingml/2006/main">
              <a:ext uri="{FF2B5EF4-FFF2-40B4-BE49-F238E27FC236}">
                <a16:creationId xmlns:a16="http://schemas.microsoft.com/office/drawing/2014/main" id="{F68DB539-2492-74FC-6E8C-AEA4F20E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997" y="2477294"/>
            <a:ext cx="5473988" cy="2325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110000"/>
              </a:lnSpc>
              <a:spcBef>
                <a:spcPts val="1000"/>
              </a:spcBef>
              <a:buFont typeface="Arial"/>
              <a:buNone/>
              <a:defRPr sz="2200" i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11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11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11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11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800" b="1" i="0">
                <a:solidFill>
                  <a:srgbClr val="3A3A3A"/>
                </a:solidFill>
                <a:latin typeface="Lato"/>
                <a:ea typeface="Lato"/>
                <a:cs typeface="Lato"/>
              </a:rPr>
              <a:t>Niek Stevenson</a:t>
            </a:r>
          </a:p>
          <a:p xmlns:a="http://schemas.openxmlformats.org/drawingml/2006/main">
            <a:r>
              <a:rPr sz="2800" b="1" i="0">
                <a:solidFill>
                  <a:srgbClr val="3A3A3A"/>
                </a:solidFill>
                <a:latin typeface="Lato"/>
                <a:ea typeface="Lato"/>
                <a:cs typeface="Lato"/>
              </a:rPr>
              <a:t>MBNCSS 2026</a:t>
            </a:r>
          </a:p>
        </p:txBody>
      </p:sp>
    </p:spTree>
    <p:extLst>
      <p:ext uri="{BB962C8B-B14F-4D97-AF65-F5344CB8AC3E}">
        <p14:creationId xmlns:p14="http://schemas.microsoft.com/office/powerpoint/2010/main" val="2669859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89A9A7A6-4AF3-7FED-3641-3C0F629F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636A28E-3E12-0474-8797-EAD4B6646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1480" y="987552"/>
            <a:ext cx="4485861" cy="1088136"/>
          </a:xfrm>
        </p:spPr>
        <p:txBody>
          <a:bodyPr xmlns:a="http://schemas.openxmlformats.org/drawingml/2006/main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Psychological data are nested and noisy</a:t>
            </a:r>
            <a:endParaRPr sz="3400">
              <a:solidFill>
                <a:srgbClr val="00000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E5C279A0-DA6A-C6AE-D0CC-4550181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9223" y="387939"/>
            <a:ext cx="7315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2667B673-8664-7B83-A92C-D8A88DB4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0"/>
            <a:ext cx="4389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5888AE6E-DDA7-0F17-AF37-1998DFCA258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11479" y="2688336"/>
            <a:ext cx="4498848" cy="3584448"/>
          </a:xfr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Repeated trials sit within people</a:t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People differ in latent processes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Trials are noisy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Trial counts are often unequal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Group-level claims are usually the goal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54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c48126cd22345a9"/>
          <a:srcRect xmlns:a="http://schemas.openxmlformats.org/drawingml/2006/main" l="26691" t="0" r="266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0893" y="-25051"/>
            <a:ext cx="6571107" cy="7231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39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F94AA2BD-2E3F-4B1D-8127-5744B811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408DF60-ADAB-F951-D3FE-D94F99BC1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1480" y="987552"/>
            <a:ext cx="4485861" cy="1088136"/>
          </a:xfrm>
        </p:spPr>
        <p:txBody>
          <a:bodyPr xmlns:a="http://schemas.openxmlformats.org/drawingml/2006/main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A hierarchy links trials, people, and a population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4BD02261-2DC8-4AA8-9E16-7751AE89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9223" y="387939"/>
            <a:ext cx="7315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3D752CF2-2291-40B5-B462-C17B174C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0"/>
            <a:ext cx="4389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3F5DE156-934E-AECE-B4BC-52B57E18D9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11479" y="2688336"/>
            <a:ext cx="4498848" cy="3584448"/>
          </a:xfr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Trials inform participant parameters.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Participant parameters inform μ and Σ.</a:t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</a:p>
          <a:p xmlns:a="http://schemas.openxmlformats.org/drawingml/2006/main">
            <a:pPr marL="18" indent="-12">
              <a:lnSpc>
                <a:spcPct val="92000"/>
              </a:lnSpc>
              <a:spcBef>
                <a:spcPts val="0"/>
              </a:spcBef>
              <a:buNone/>
            </a:pPr>
            <a:r>
              <a:t>The population regularizes uncertain participants.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18" indent="-12">
              <a:lnSpc>
                <a:spcPct val="92000"/>
              </a:lnSpc>
              <a:spcBef>
                <a:spcPts val="0"/>
              </a:spcBef>
              <a:buNone/>
            </a:pPr>
            <a: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18" indent="-12">
              <a:lnSpc>
                <a:spcPct val="92000"/>
              </a:lnSpc>
              <a:spcBef>
                <a:spcPts val="0"/>
              </a:spcBef>
              <a:buNone/>
            </a:pPr>
            <a:r>
              <a:t>Inference flows both ways.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8" name="S3 editable figure background">
            <a:extLst xmlns:a="http://schemas.openxmlformats.org/drawingml/2006/main">
              <a:ext uri="{FF2B5EF4-FFF2-40B4-BE49-F238E27FC236}">
                <a16:creationId xmlns:a16="http://schemas.microsoft.com/office/drawing/2014/main" id="{F58A4FAF-EBAC-4420-B914-882375C1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S3 population">
            <a:extLst xmlns:a="http://schemas.openxmlformats.org/drawingml/2006/main">
              <a:ext uri="{FF2B5EF4-FFF2-40B4-BE49-F238E27FC236}">
                <a16:creationId xmlns:a16="http://schemas.microsoft.com/office/drawing/2014/main" id="{71E8001A-BB1E-4AA4-B6D1-29B5CB4D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23875"/>
            <a:ext cx="342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BE4DB"/>
          </a:solidFill>
          <a:ln xmlns:a="http://schemas.openxmlformats.org/drawingml/2006/main" w="20955">
            <a:solidFill>
              <a:srgbClr val="F05A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20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Population parameters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50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20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μ, Σ</a:t>
            </a:r>
          </a:p>
        </p:txBody>
      </p:sp>
      <p:sp>
        <p:nvSpPr>
          <p:cNvPr id="50" name="S3 participant 1">
            <a:extLst xmlns:a="http://schemas.openxmlformats.org/drawingml/2006/main">
              <a:ext uri="{FF2B5EF4-FFF2-40B4-BE49-F238E27FC236}">
                <a16:creationId xmlns:a16="http://schemas.microsoft.com/office/drawing/2014/main" id="{0664B2F6-A1C7-4895-902B-0517FD9F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24125"/>
            <a:ext cx="1381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C2C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Participant 1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α₁</a:t>
            </a:r>
          </a:p>
        </p:txBody>
      </p:sp>
      <p:sp>
        <p:nvSpPr>
          <p:cNvPr id="51" name="S3 participant 2">
            <a:extLst xmlns:a="http://schemas.openxmlformats.org/drawingml/2006/main">
              <a:ext uri="{FF2B5EF4-FFF2-40B4-BE49-F238E27FC236}">
                <a16:creationId xmlns:a16="http://schemas.microsoft.com/office/drawing/2014/main" id="{74850AF5-99B6-45E9-86C8-6DD343EC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1381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C2C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Participant 2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α₂</a:t>
            </a:r>
          </a:p>
        </p:txBody>
      </p:sp>
      <p:sp>
        <p:nvSpPr>
          <p:cNvPr id="52" name="S3 participant J">
            <a:extLst xmlns:a="http://schemas.openxmlformats.org/drawingml/2006/main">
              <a:ext uri="{FF2B5EF4-FFF2-40B4-BE49-F238E27FC236}">
                <a16:creationId xmlns:a16="http://schemas.microsoft.com/office/drawing/2014/main" id="{8CE6A311-1F39-4122-9F62-4EAC1BD6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24125"/>
            <a:ext cx="1381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C2C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Participant I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αᵢ</a:t>
            </a:r>
          </a:p>
        </p:txBody>
      </p:sp>
      <p:sp>
        <p:nvSpPr>
          <p:cNvPr id="53" name="S3 data 1">
            <a:extLst xmlns:a="http://schemas.openxmlformats.org/drawingml/2006/main">
              <a:ext uri="{FF2B5EF4-FFF2-40B4-BE49-F238E27FC236}">
                <a16:creationId xmlns:a16="http://schemas.microsoft.com/office/drawing/2014/main" id="{030ECFFC-6346-427D-997F-FBA5477D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7200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1EF"/>
          </a:solidFill>
          <a:ln xmlns:a="http://schemas.openxmlformats.org/drawingml/2006/main" w="17145">
            <a:solidFill>
              <a:srgbClr val="7BA99E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trials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y₁</a:t>
            </a:r>
          </a:p>
        </p:txBody>
      </p:sp>
      <p:sp>
        <p:nvSpPr>
          <p:cNvPr id="54" name="S3 data 2">
            <a:extLst xmlns:a="http://schemas.openxmlformats.org/drawingml/2006/main">
              <a:ext uri="{FF2B5EF4-FFF2-40B4-BE49-F238E27FC236}">
                <a16:creationId xmlns:a16="http://schemas.microsoft.com/office/drawing/2014/main" id="{C032818F-C8A8-4E90-9DB7-00CD3F7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1EF"/>
          </a:solidFill>
          <a:ln xmlns:a="http://schemas.openxmlformats.org/drawingml/2006/main" w="17145">
            <a:solidFill>
              <a:srgbClr val="7BA99E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trials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y₂</a:t>
            </a:r>
          </a:p>
        </p:txBody>
      </p:sp>
      <p:sp>
        <p:nvSpPr>
          <p:cNvPr id="55" name="S3 data J">
            <a:extLst xmlns:a="http://schemas.openxmlformats.org/drawingml/2006/main">
              <a:ext uri="{FF2B5EF4-FFF2-40B4-BE49-F238E27FC236}">
                <a16:creationId xmlns:a16="http://schemas.microsoft.com/office/drawing/2014/main" id="{FBE2FC63-DDD5-4C7C-A27F-0609EAD8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1EF"/>
          </a:solidFill>
          <a:ln xmlns:a="http://schemas.openxmlformats.org/drawingml/2006/main" w="17145">
            <a:solidFill>
              <a:srgbClr val="7BA99E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trials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yᵢ</a:t>
            </a:r>
          </a:p>
        </p:txBody>
      </p:sp>
      <p:cxnSp>
        <p:nvCxnSpPr>
          <p:cNvPr id="307" name="S3 population to person 1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 flipH="1">
            <a:off x="7834313" y="1304925"/>
            <a:ext cx="1738313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8" name="S3 population to person 2"/>
          <p:cNvCxnSpPr>
            <a:stCxn xmlns:a="http://schemas.openxmlformats.org/drawingml/2006/main" id="49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 flipH="1">
            <a:off x="9548813" y="1304925"/>
            <a:ext cx="23813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9" name="S3 population to person J"/>
          <p:cNvCxnSpPr>
            <a:stCxn xmlns:a="http://schemas.openxmlformats.org/drawingml/2006/main" id="49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9572625" y="1304925"/>
            <a:ext cx="1690688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0" name="S3 person 1 to data"/>
          <p:cNvCxnSpPr>
            <a:stCxn xmlns:a="http://schemas.openxmlformats.org/drawingml/2006/main" id="50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7834313" y="320992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1" name="S3 person 2 to data"/>
          <p:cNvCxnSpPr>
            <a:stCxn xmlns:a="http://schemas.openxmlformats.org/drawingml/2006/main" id="51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9548813" y="320992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2" name="S3 person J to data"/>
          <p:cNvCxnSpPr>
            <a:stCxn xmlns:a="http://schemas.openxmlformats.org/drawingml/2006/main" id="52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11263313" y="320992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5" name="S3 hierarchy equation">
            <a:extLst xmlns:a="http://schemas.openxmlformats.org/drawingml/2006/main">
              <a:ext uri="{FF2B5EF4-FFF2-40B4-BE49-F238E27FC236}">
                <a16:creationId xmlns:a16="http://schemas.microsoft.com/office/drawing/2014/main" id="{3863D907-6C8F-487D-A466-E202E8C0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735" y="5905500"/>
            <a:ext cx="5117140" cy="6858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C2C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μ,Σ ∼ p(μ,Σ)     αᵢ ∼ N(μ,Σ)     yᵢ ∼ p(y | αᵢ)</a:t>
            </a:r>
          </a:p>
        </p:txBody>
      </p:sp>
    </p:spTree>
    <p:extLst>
      <p:ext uri="{BB962C8B-B14F-4D97-AF65-F5344CB8AC3E}">
        <p14:creationId xmlns:p14="http://schemas.microsoft.com/office/powerpoint/2010/main" val="4175056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F94AA2BD-2E3F-4B1D-8127-5744B811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408DF60-ADAB-F951-D3FE-D94F99BC1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1480" y="987552"/>
            <a:ext cx="4485861" cy="1088136"/>
          </a:xfrm>
        </p:spPr>
        <p:txBody>
          <a:bodyPr xmlns:a="http://schemas.openxmlformats.org/drawingml/2006/main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Pooling is a modelling choice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4BD02261-2DC8-4AA8-9E16-7751AE89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9223" y="387939"/>
            <a:ext cx="7315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3D752CF2-2291-40B5-B462-C17B174C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0"/>
            <a:ext cx="4389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3F5DE156-934E-AECE-B4BC-52B57E18D9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11479" y="2688336"/>
            <a:ext cx="4498848" cy="3584448"/>
          </a:xfr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Separate fits</a:t>
            </a:r>
            <a:endParaRPr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b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no information sharing</a:t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Complete pooling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no individual differences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Partial pooling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distinct estimates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movement follows precision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8" name="S2 editable figure background">
            <a:extLst xmlns:a="http://schemas.openxmlformats.org/drawingml/2006/main">
              <a:ext uri="{FF2B5EF4-FFF2-40B4-BE49-F238E27FC236}">
                <a16:creationId xmlns:a16="http://schemas.microsoft.com/office/drawing/2014/main" id="{15E5EC95-08B8-4448-9E98-46FF6185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578" y="0"/>
            <a:ext cx="527961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S2 pooling header 1">
            <a:extLst xmlns:a="http://schemas.openxmlformats.org/drawingml/2006/main">
              <a:ext uri="{FF2B5EF4-FFF2-40B4-BE49-F238E27FC236}">
                <a16:creationId xmlns:a16="http://schemas.microsoft.com/office/drawing/2014/main" id="{2E30AA1E-DFAE-4EB5-9EEC-985CE38A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903" y="3810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1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252525"/>
                </a:solidFill>
                <a:latin typeface="Lato"/>
                <a:ea typeface="Lato"/>
                <a:cs typeface="Lato"/>
              </a:rPr>
              <a:t>NO POOLING</a:t>
            </a:r>
          </a:p>
        </p:txBody>
      </p:sp>
      <p:sp>
        <p:nvSpPr>
          <p:cNvPr id="50" name="S2 pooling subhead 1">
            <a:extLst xmlns:a="http://schemas.openxmlformats.org/drawingml/2006/main">
              <a:ext uri="{FF2B5EF4-FFF2-40B4-BE49-F238E27FC236}">
                <a16:creationId xmlns:a16="http://schemas.microsoft.com/office/drawing/2014/main" id="{BDD63F4B-10CE-4ADC-8713-562D5006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903" y="10096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676B6E"/>
                </a:solidFill>
                <a:latin typeface="Lato"/>
                <a:ea typeface="Lato"/>
                <a:cs typeface="Lato"/>
              </a:rPr>
              <a:t>separate fits</a:t>
            </a:r>
          </a:p>
        </p:txBody>
      </p:sp>
      <p:sp>
        <p:nvSpPr>
          <p:cNvPr id="51" name="S2 pooling header 2">
            <a:extLst xmlns:a="http://schemas.openxmlformats.org/drawingml/2006/main">
              <a:ext uri="{FF2B5EF4-FFF2-40B4-BE49-F238E27FC236}">
                <a16:creationId xmlns:a16="http://schemas.microsoft.com/office/drawing/2014/main" id="{49EABDA2-4548-4C72-A80C-11AF45EF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1123" y="3810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1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252525"/>
                </a:solidFill>
                <a:latin typeface="Lato"/>
                <a:ea typeface="Lato"/>
                <a:cs typeface="Lato"/>
              </a:rPr>
              <a:t>COMPLETE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800" b="1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252525"/>
                </a:solidFill>
                <a:latin typeface="Lato"/>
                <a:ea typeface="Lato"/>
                <a:cs typeface="Lato"/>
              </a:rPr>
              <a:t>POOLING</a:t>
            </a:r>
          </a:p>
        </p:txBody>
      </p:sp>
      <p:sp>
        <p:nvSpPr>
          <p:cNvPr id="52" name="S2 pooling subhead 2">
            <a:extLst xmlns:a="http://schemas.openxmlformats.org/drawingml/2006/main">
              <a:ext uri="{FF2B5EF4-FFF2-40B4-BE49-F238E27FC236}">
                <a16:creationId xmlns:a16="http://schemas.microsoft.com/office/drawing/2014/main" id="{57731F59-632D-40A0-A81D-5F0AD2F3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1123" y="10096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676B6E"/>
                </a:solidFill>
                <a:latin typeface="Lato"/>
                <a:ea typeface="Lato"/>
                <a:cs typeface="Lato"/>
              </a:rPr>
              <a:t>identical</a:t>
            </a:r>
          </a:p>
        </p:txBody>
      </p:sp>
      <p:sp>
        <p:nvSpPr>
          <p:cNvPr id="53" name="S2 pooling header 3">
            <a:extLst xmlns:a="http://schemas.openxmlformats.org/drawingml/2006/main">
              <a:ext uri="{FF2B5EF4-FFF2-40B4-BE49-F238E27FC236}">
                <a16:creationId xmlns:a16="http://schemas.microsoft.com/office/drawing/2014/main" id="{CEA61D9B-0202-491A-98AE-18A4947D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390" y="3810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1">
                <a:solidFill>
                  <a:srgbClr val="F05A28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F05A28"/>
                </a:solidFill>
                <a:latin typeface="Lato"/>
                <a:ea typeface="Lato"/>
                <a:cs typeface="Lato"/>
              </a:rPr>
              <a:t>PARTIAL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800" b="1">
                <a:solidFill>
                  <a:srgbClr val="F05A28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F05A28"/>
                </a:solidFill>
                <a:latin typeface="Lato"/>
                <a:ea typeface="Lato"/>
                <a:cs typeface="Lato"/>
              </a:rPr>
              <a:t>POOLING</a:t>
            </a:r>
          </a:p>
        </p:txBody>
      </p:sp>
      <p:sp>
        <p:nvSpPr>
          <p:cNvPr id="54" name="S2 pooling subhead 3">
            <a:extLst xmlns:a="http://schemas.openxmlformats.org/drawingml/2006/main">
              <a:ext uri="{FF2B5EF4-FFF2-40B4-BE49-F238E27FC236}">
                <a16:creationId xmlns:a16="http://schemas.microsoft.com/office/drawing/2014/main" id="{B9602643-0EE6-42F8-8FE8-D5D6CCF5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390" y="10096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676B6E"/>
                </a:solidFill>
                <a:latin typeface="Lato"/>
                <a:ea typeface="Lato"/>
                <a:cs typeface="Lato"/>
              </a:rPr>
              <a:t>distinct + related</a:t>
            </a:r>
          </a:p>
        </p:txBody>
      </p:sp>
      <p:sp>
        <p:nvSpPr>
          <p:cNvPr id="55" name="S2 column divider 1">
            <a:extLst xmlns:a="http://schemas.openxmlformats.org/drawingml/2006/main">
              <a:ext uri="{FF2B5EF4-FFF2-40B4-BE49-F238E27FC236}">
                <a16:creationId xmlns:a16="http://schemas.microsoft.com/office/drawing/2014/main" id="{A22C183F-DEE1-4469-82C9-EA0BC4FA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513" y="333375"/>
            <a:ext cx="0" cy="542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0D2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S2 column divider 2">
            <a:extLst xmlns:a="http://schemas.openxmlformats.org/drawingml/2006/main">
              <a:ext uri="{FF2B5EF4-FFF2-40B4-BE49-F238E27FC236}">
                <a16:creationId xmlns:a16="http://schemas.microsoft.com/office/drawing/2014/main" id="{5E2A8E1C-87AE-4136-9698-77124947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1780" y="333375"/>
            <a:ext cx="0" cy="542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0D2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S2 participant label 0-0">
            <a:extLst xmlns:a="http://schemas.openxmlformats.org/drawingml/2006/main">
              <a:ext uri="{FF2B5EF4-FFF2-40B4-BE49-F238E27FC236}">
                <a16:creationId xmlns:a16="http://schemas.microsoft.com/office/drawing/2014/main" id="{6B545F62-78A4-48F0-8D0B-B5D58E41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540" y="16002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P1</a:t>
            </a:r>
          </a:p>
        </p:txBody>
      </p:sp>
      <p:sp>
        <p:nvSpPr>
          <p:cNvPr id="58" name="S2 axis 0-0">
            <a:extLst xmlns:a="http://schemas.openxmlformats.org/drawingml/2006/main">
              <a:ext uri="{FF2B5EF4-FFF2-40B4-BE49-F238E27FC236}">
                <a16:creationId xmlns:a16="http://schemas.microsoft.com/office/drawing/2014/main" id="{C5E9A822-AD50-401F-AA40-441CDD07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92340" y="1762125"/>
            <a:ext cx="1304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EB2B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S2 local estimate 0-0">
            <a:extLst xmlns:a="http://schemas.openxmlformats.org/drawingml/2006/main">
              <a:ext uri="{FF2B5EF4-FFF2-40B4-BE49-F238E27FC236}">
                <a16:creationId xmlns:a16="http://schemas.microsoft.com/office/drawing/2014/main" id="{B1BB65BA-5C2D-404F-BC90-B2D90562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31" y="168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9095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S2 pooled estimate 0-0">
            <a:extLst xmlns:a="http://schemas.openxmlformats.org/drawingml/2006/main">
              <a:ext uri="{FF2B5EF4-FFF2-40B4-BE49-F238E27FC236}">
                <a16:creationId xmlns:a16="http://schemas.microsoft.com/office/drawing/2014/main" id="{A6BBD6B6-38C9-46B0-939F-4C6E1CCB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31" y="168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12383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S2 participant label 0-1">
            <a:extLst xmlns:a="http://schemas.openxmlformats.org/drawingml/2006/main">
              <a:ext uri="{FF2B5EF4-FFF2-40B4-BE49-F238E27FC236}">
                <a16:creationId xmlns:a16="http://schemas.microsoft.com/office/drawing/2014/main" id="{88E595E9-1649-4615-9DDE-F56563C4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540" y="30289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P2</a:t>
            </a:r>
          </a:p>
        </p:txBody>
      </p:sp>
      <p:sp>
        <p:nvSpPr>
          <p:cNvPr id="62" name="S2 axis 0-1">
            <a:extLst xmlns:a="http://schemas.openxmlformats.org/drawingml/2006/main">
              <a:ext uri="{FF2B5EF4-FFF2-40B4-BE49-F238E27FC236}">
                <a16:creationId xmlns:a16="http://schemas.microsoft.com/office/drawing/2014/main" id="{BDB09C92-A2BC-4BCE-B7CC-9F887198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92340" y="3190875"/>
            <a:ext cx="1304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EB2B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S2 local estimate 0-1">
            <a:extLst xmlns:a="http://schemas.openxmlformats.org/drawingml/2006/main">
              <a:ext uri="{FF2B5EF4-FFF2-40B4-BE49-F238E27FC236}">
                <a16:creationId xmlns:a16="http://schemas.microsoft.com/office/drawing/2014/main" id="{FB9C4F13-95E8-4CA0-9271-B5133D91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3489" y="3114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9095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S2 pooled estimate 0-1">
            <a:extLst xmlns:a="http://schemas.openxmlformats.org/drawingml/2006/main">
              <a:ext uri="{FF2B5EF4-FFF2-40B4-BE49-F238E27FC236}">
                <a16:creationId xmlns:a16="http://schemas.microsoft.com/office/drawing/2014/main" id="{FBD4FEDB-C16D-4498-BC12-CBEC3F21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3489" y="3114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12383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S2 participant label 0-2">
            <a:extLst xmlns:a="http://schemas.openxmlformats.org/drawingml/2006/main">
              <a:ext uri="{FF2B5EF4-FFF2-40B4-BE49-F238E27FC236}">
                <a16:creationId xmlns:a16="http://schemas.microsoft.com/office/drawing/2014/main" id="{C4BC7E45-EC84-4A08-A632-D2269DC6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540" y="44577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P3</a:t>
            </a:r>
          </a:p>
        </p:txBody>
      </p:sp>
      <p:sp>
        <p:nvSpPr>
          <p:cNvPr id="66" name="S2 axis 0-2">
            <a:extLst xmlns:a="http://schemas.openxmlformats.org/drawingml/2006/main">
              <a:ext uri="{FF2B5EF4-FFF2-40B4-BE49-F238E27FC236}">
                <a16:creationId xmlns:a16="http://schemas.microsoft.com/office/drawing/2014/main" id="{5721A409-2176-47A0-BFA8-A7206218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92340" y="4619625"/>
            <a:ext cx="1304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EB2B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S2 local estimate 0-2">
            <a:extLst xmlns:a="http://schemas.openxmlformats.org/drawingml/2006/main">
              <a:ext uri="{FF2B5EF4-FFF2-40B4-BE49-F238E27FC236}">
                <a16:creationId xmlns:a16="http://schemas.microsoft.com/office/drawing/2014/main" id="{EF7F59BD-EDF5-47E5-8365-C6A64926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474" y="4543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9095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S2 pooled estimate 0-2">
            <a:extLst xmlns:a="http://schemas.openxmlformats.org/drawingml/2006/main">
              <a:ext uri="{FF2B5EF4-FFF2-40B4-BE49-F238E27FC236}">
                <a16:creationId xmlns:a16="http://schemas.microsoft.com/office/drawing/2014/main" id="{7C4C1F66-449F-4CA8-B0D4-8F457551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474" y="4543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12383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S2 population marker 1">
            <a:extLst xmlns:a="http://schemas.openxmlformats.org/drawingml/2006/main">
              <a:ext uri="{FF2B5EF4-FFF2-40B4-BE49-F238E27FC236}">
                <a16:creationId xmlns:a16="http://schemas.microsoft.com/office/drawing/2014/main" id="{912F7AC7-E5AC-40AD-AE95-1FF1F738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023" y="14287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7BA99E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S2 participant label 1-0">
            <a:extLst xmlns:a="http://schemas.openxmlformats.org/drawingml/2006/main">
              <a:ext uri="{FF2B5EF4-FFF2-40B4-BE49-F238E27FC236}">
                <a16:creationId xmlns:a16="http://schemas.microsoft.com/office/drawing/2014/main" id="{0344D297-A703-43FC-9600-BD9B4664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7760" y="16002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P1</a:t>
            </a:r>
          </a:p>
        </p:txBody>
      </p:sp>
      <p:sp>
        <p:nvSpPr>
          <p:cNvPr id="71" name="S2 axis 1-0">
            <a:extLst xmlns:a="http://schemas.openxmlformats.org/drawingml/2006/main">
              <a:ext uri="{FF2B5EF4-FFF2-40B4-BE49-F238E27FC236}">
                <a16:creationId xmlns:a16="http://schemas.microsoft.com/office/drawing/2014/main" id="{3BC6F55B-D198-4794-A767-DD4D16DE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762125"/>
            <a:ext cx="1304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EB2B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S2 local estimate 1-0">
            <a:extLst xmlns:a="http://schemas.openxmlformats.org/drawingml/2006/main">
              <a:ext uri="{FF2B5EF4-FFF2-40B4-BE49-F238E27FC236}">
                <a16:creationId xmlns:a16="http://schemas.microsoft.com/office/drawing/2014/main" id="{1953A7D1-F5C7-4FA9-8D7C-9E69CDD1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2951" y="168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9095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S2 pooled estimate 1-0">
            <a:extLst xmlns:a="http://schemas.openxmlformats.org/drawingml/2006/main">
              <a:ext uri="{FF2B5EF4-FFF2-40B4-BE49-F238E27FC236}">
                <a16:creationId xmlns:a16="http://schemas.microsoft.com/office/drawing/2014/main" id="{E631E663-0636-4E7B-B12F-EB3C2844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823" y="168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12383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S2 participant label 1-1">
            <a:extLst xmlns:a="http://schemas.openxmlformats.org/drawingml/2006/main">
              <a:ext uri="{FF2B5EF4-FFF2-40B4-BE49-F238E27FC236}">
                <a16:creationId xmlns:a16="http://schemas.microsoft.com/office/drawing/2014/main" id="{6111A682-4A58-46E1-9810-C1FFD0C3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7760" y="30289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P2</a:t>
            </a:r>
          </a:p>
        </p:txBody>
      </p:sp>
      <p:sp>
        <p:nvSpPr>
          <p:cNvPr id="76" name="S2 axis 1-1">
            <a:extLst xmlns:a="http://schemas.openxmlformats.org/drawingml/2006/main">
              <a:ext uri="{FF2B5EF4-FFF2-40B4-BE49-F238E27FC236}">
                <a16:creationId xmlns:a16="http://schemas.microsoft.com/office/drawing/2014/main" id="{5C95B8F9-F25B-4160-8AD0-B5829A5F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190875"/>
            <a:ext cx="1304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EB2B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S2 local estimate 1-1">
            <a:extLst xmlns:a="http://schemas.openxmlformats.org/drawingml/2006/main">
              <a:ext uri="{FF2B5EF4-FFF2-40B4-BE49-F238E27FC236}">
                <a16:creationId xmlns:a16="http://schemas.microsoft.com/office/drawing/2014/main" id="{C2113EC6-F5B1-48BD-96F0-82947220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709" y="3114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9095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S2 pooled estimate 1-1">
            <a:extLst xmlns:a="http://schemas.openxmlformats.org/drawingml/2006/main">
              <a:ext uri="{FF2B5EF4-FFF2-40B4-BE49-F238E27FC236}">
                <a16:creationId xmlns:a16="http://schemas.microsoft.com/office/drawing/2014/main" id="{5408315B-9134-4978-8A09-1D8E96F5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823" y="3114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12383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S2 participant label 1-2">
            <a:extLst xmlns:a="http://schemas.openxmlformats.org/drawingml/2006/main">
              <a:ext uri="{FF2B5EF4-FFF2-40B4-BE49-F238E27FC236}">
                <a16:creationId xmlns:a16="http://schemas.microsoft.com/office/drawing/2014/main" id="{1EC76458-1A89-4788-9190-F60FA8C7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7760" y="44577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P3</a:t>
            </a:r>
          </a:p>
        </p:txBody>
      </p:sp>
      <p:sp>
        <p:nvSpPr>
          <p:cNvPr id="81" name="S2 axis 1-2">
            <a:extLst xmlns:a="http://schemas.openxmlformats.org/drawingml/2006/main">
              <a:ext uri="{FF2B5EF4-FFF2-40B4-BE49-F238E27FC236}">
                <a16:creationId xmlns:a16="http://schemas.microsoft.com/office/drawing/2014/main" id="{DBBEF82A-8E25-477E-BB18-2DC20510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619625"/>
            <a:ext cx="1304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EB2B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2" name="S2 local estimate 1-2">
            <a:extLst xmlns:a="http://schemas.openxmlformats.org/drawingml/2006/main">
              <a:ext uri="{FF2B5EF4-FFF2-40B4-BE49-F238E27FC236}">
                <a16:creationId xmlns:a16="http://schemas.microsoft.com/office/drawing/2014/main" id="{A8F73571-86EA-4960-8B48-CD1F5C3B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694" y="4543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9095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3" name="S2 pooled estimate 1-2">
            <a:extLst xmlns:a="http://schemas.openxmlformats.org/drawingml/2006/main">
              <a:ext uri="{FF2B5EF4-FFF2-40B4-BE49-F238E27FC236}">
                <a16:creationId xmlns:a16="http://schemas.microsoft.com/office/drawing/2014/main" id="{F2307948-F914-4FC5-9F49-89C41B2A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823" y="4543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12383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5" name="S2 population marker 2">
            <a:extLst xmlns:a="http://schemas.openxmlformats.org/drawingml/2006/main">
              <a:ext uri="{FF2B5EF4-FFF2-40B4-BE49-F238E27FC236}">
                <a16:creationId xmlns:a16="http://schemas.microsoft.com/office/drawing/2014/main" id="{C02C450B-3BD4-445B-8C6F-543038A5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290" y="14287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7BA99E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6" name="S2 participant label 2-0">
            <a:extLst xmlns:a="http://schemas.openxmlformats.org/drawingml/2006/main">
              <a:ext uri="{FF2B5EF4-FFF2-40B4-BE49-F238E27FC236}">
                <a16:creationId xmlns:a16="http://schemas.microsoft.com/office/drawing/2014/main" id="{292971DE-2529-4553-B8D2-A1C203D6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028" y="16002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P1</a:t>
            </a:r>
          </a:p>
        </p:txBody>
      </p:sp>
      <p:sp>
        <p:nvSpPr>
          <p:cNvPr id="87" name="S2 axis 2-0">
            <a:extLst xmlns:a="http://schemas.openxmlformats.org/drawingml/2006/main">
              <a:ext uri="{FF2B5EF4-FFF2-40B4-BE49-F238E27FC236}">
                <a16:creationId xmlns:a16="http://schemas.microsoft.com/office/drawing/2014/main" id="{ADF77CE8-F717-4C78-A489-143BE10C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828" y="1762125"/>
            <a:ext cx="1304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EB2B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S2 local estimate 2-0">
            <a:extLst xmlns:a="http://schemas.openxmlformats.org/drawingml/2006/main">
              <a:ext uri="{FF2B5EF4-FFF2-40B4-BE49-F238E27FC236}">
                <a16:creationId xmlns:a16="http://schemas.microsoft.com/office/drawing/2014/main" id="{DF20F774-AB99-4676-BD75-9DF5E5D0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219" y="168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9095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9" name="S2 pooled estimate 2-0">
            <a:extLst xmlns:a="http://schemas.openxmlformats.org/drawingml/2006/main">
              <a:ext uri="{FF2B5EF4-FFF2-40B4-BE49-F238E27FC236}">
                <a16:creationId xmlns:a16="http://schemas.microsoft.com/office/drawing/2014/main" id="{066D8C23-4A68-48C5-BC18-724575AC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302" y="168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12383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" name="S2 participant label 2-1">
            <a:extLst xmlns:a="http://schemas.openxmlformats.org/drawingml/2006/main">
              <a:ext uri="{FF2B5EF4-FFF2-40B4-BE49-F238E27FC236}">
                <a16:creationId xmlns:a16="http://schemas.microsoft.com/office/drawing/2014/main" id="{AE75A6F2-6548-4C4E-93A7-BB80FA45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028" y="30289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P2</a:t>
            </a:r>
          </a:p>
        </p:txBody>
      </p:sp>
      <p:sp>
        <p:nvSpPr>
          <p:cNvPr id="92" name="S2 axis 2-1">
            <a:extLst xmlns:a="http://schemas.openxmlformats.org/drawingml/2006/main">
              <a:ext uri="{FF2B5EF4-FFF2-40B4-BE49-F238E27FC236}">
                <a16:creationId xmlns:a16="http://schemas.microsoft.com/office/drawing/2014/main" id="{1D6023B7-5678-4F51-B05D-3077E57A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828" y="3190875"/>
            <a:ext cx="1304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EB2B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3" name="S2 local estimate 2-1">
            <a:extLst xmlns:a="http://schemas.openxmlformats.org/drawingml/2006/main">
              <a:ext uri="{FF2B5EF4-FFF2-40B4-BE49-F238E27FC236}">
                <a16:creationId xmlns:a16="http://schemas.microsoft.com/office/drawing/2014/main" id="{A454FBD1-5FFA-453E-A851-7BFB1181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153" y="3108678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9095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4" name="S2 pooled estimate 2-1">
            <a:extLst xmlns:a="http://schemas.openxmlformats.org/drawingml/2006/main">
              <a:ext uri="{FF2B5EF4-FFF2-40B4-BE49-F238E27FC236}">
                <a16:creationId xmlns:a16="http://schemas.microsoft.com/office/drawing/2014/main" id="{06D47018-3E42-46AA-9580-13529963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733" y="3108678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12383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6" name="S2 participant label 2-2">
            <a:extLst xmlns:a="http://schemas.openxmlformats.org/drawingml/2006/main">
              <a:ext uri="{FF2B5EF4-FFF2-40B4-BE49-F238E27FC236}">
                <a16:creationId xmlns:a16="http://schemas.microsoft.com/office/drawing/2014/main" id="{429F1F36-94F2-4E85-93AE-DD35E6EA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028" y="44577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P3</a:t>
            </a:r>
          </a:p>
        </p:txBody>
      </p:sp>
      <p:sp>
        <p:nvSpPr>
          <p:cNvPr id="97" name="S2 axis 2-2">
            <a:extLst xmlns:a="http://schemas.openxmlformats.org/drawingml/2006/main">
              <a:ext uri="{FF2B5EF4-FFF2-40B4-BE49-F238E27FC236}">
                <a16:creationId xmlns:a16="http://schemas.microsoft.com/office/drawing/2014/main" id="{D7D1020B-B52F-4649-9CD9-BFBA6502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828" y="4619625"/>
            <a:ext cx="1304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EB2B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8" name="S2 local estimate 2-2">
            <a:extLst xmlns:a="http://schemas.openxmlformats.org/drawingml/2006/main">
              <a:ext uri="{FF2B5EF4-FFF2-40B4-BE49-F238E27FC236}">
                <a16:creationId xmlns:a16="http://schemas.microsoft.com/office/drawing/2014/main" id="{A7578998-9A98-4596-AB3C-88CBD25D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961" y="4543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9095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9" name="S2 pooled estimate 2-2">
            <a:extLst xmlns:a="http://schemas.openxmlformats.org/drawingml/2006/main">
              <a:ext uri="{FF2B5EF4-FFF2-40B4-BE49-F238E27FC236}">
                <a16:creationId xmlns:a16="http://schemas.microsoft.com/office/drawing/2014/main" id="{9AD95056-F013-4FC5-B55A-334BE0DE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133" y="4543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12383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" name="S2 no pooling caption">
            <a:extLst xmlns:a="http://schemas.openxmlformats.org/drawingml/2006/main">
              <a:ext uri="{FF2B5EF4-FFF2-40B4-BE49-F238E27FC236}">
                <a16:creationId xmlns:a16="http://schemas.microsoft.com/office/drawing/2014/main" id="{EF919FF1-16BD-4B76-84D8-FF822086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903" y="5000625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676B6E"/>
                </a:solidFill>
                <a:latin typeface="Lato"/>
                <a:ea typeface="Lato"/>
                <a:cs typeface="Lato"/>
              </a:rPr>
              <a:t>local estimates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500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676B6E"/>
                </a:solidFill>
                <a:latin typeface="Lato"/>
                <a:ea typeface="Lato"/>
                <a:cs typeface="Lato"/>
              </a:rPr>
              <a:t>unchanged</a:t>
            </a:r>
          </a:p>
        </p:txBody>
      </p:sp>
      <p:sp>
        <p:nvSpPr>
          <p:cNvPr id="102" name="S2 complete pooling caption">
            <a:extLst xmlns:a="http://schemas.openxmlformats.org/drawingml/2006/main">
              <a:ext uri="{FF2B5EF4-FFF2-40B4-BE49-F238E27FC236}">
                <a16:creationId xmlns:a16="http://schemas.microsoft.com/office/drawing/2014/main" id="{121181B3-2DD5-4C33-9CBA-8565832F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1123" y="5000625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676B6E"/>
                </a:solidFill>
                <a:latin typeface="Lato"/>
                <a:ea typeface="Lato"/>
                <a:cs typeface="Lato"/>
              </a:rPr>
              <a:t>all estimates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500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676B6E"/>
                </a:solidFill>
                <a:latin typeface="Lato"/>
                <a:ea typeface="Lato"/>
                <a:cs typeface="Lato"/>
              </a:rPr>
              <a:t>become equal</a:t>
            </a:r>
          </a:p>
        </p:txBody>
      </p:sp>
      <p:sp>
        <p:nvSpPr>
          <p:cNvPr id="103" name="S2 partial pooling caption">
            <a:extLst xmlns:a="http://schemas.openxmlformats.org/drawingml/2006/main">
              <a:ext uri="{FF2B5EF4-FFF2-40B4-BE49-F238E27FC236}">
                <a16:creationId xmlns:a16="http://schemas.microsoft.com/office/drawing/2014/main" id="{6DF3FCF2-2857-4EBE-B2AE-E0FCF1FA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390" y="5000625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0">
                <a:solidFill>
                  <a:srgbClr val="F05A28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F05A28"/>
                </a:solidFill>
                <a:latin typeface="Lato"/>
                <a:ea typeface="Lato"/>
                <a:cs typeface="Lato"/>
              </a:rPr>
              <a:t>low-precision data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500" b="0">
                <a:solidFill>
                  <a:srgbClr val="F05A28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F05A28"/>
                </a:solidFill>
                <a:latin typeface="Lato"/>
                <a:ea typeface="Lato"/>
                <a:cs typeface="Lato"/>
              </a:rPr>
              <a:t>move farther</a:t>
            </a:r>
          </a:p>
        </p:txBody>
      </p:sp>
      <p:sp>
        <p:nvSpPr>
          <p:cNvPr id="104" name="S2 legend local">
            <a:extLst xmlns:a="http://schemas.openxmlformats.org/drawingml/2006/main">
              <a:ext uri="{FF2B5EF4-FFF2-40B4-BE49-F238E27FC236}">
                <a16:creationId xmlns:a16="http://schemas.microsoft.com/office/drawing/2014/main" id="{B575466F-3F00-4F98-9F83-ADBFE386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962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9095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5" name="S2 legend local label">
            <a:extLst xmlns:a="http://schemas.openxmlformats.org/drawingml/2006/main">
              <a:ext uri="{FF2B5EF4-FFF2-40B4-BE49-F238E27FC236}">
                <a16:creationId xmlns:a16="http://schemas.microsoft.com/office/drawing/2014/main" id="{28FF3648-4143-4F13-AE25-503347CF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848350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00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676B6E"/>
                </a:solidFill>
                <a:latin typeface="Lato"/>
                <a:ea typeface="Lato"/>
                <a:cs typeface="Lato"/>
              </a:rPr>
              <a:t>Local value</a:t>
            </a:r>
          </a:p>
        </p:txBody>
      </p:sp>
      <p:sp>
        <p:nvSpPr>
          <p:cNvPr id="106" name="S2 legend pooled">
            <a:extLst xmlns:a="http://schemas.openxmlformats.org/drawingml/2006/main">
              <a:ext uri="{FF2B5EF4-FFF2-40B4-BE49-F238E27FC236}">
                <a16:creationId xmlns:a16="http://schemas.microsoft.com/office/drawing/2014/main" id="{38D6E6E6-2339-429E-805C-7A00A1E4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962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12383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7" name="S2 legend pooled label">
            <a:extLst xmlns:a="http://schemas.openxmlformats.org/drawingml/2006/main">
              <a:ext uri="{FF2B5EF4-FFF2-40B4-BE49-F238E27FC236}">
                <a16:creationId xmlns:a16="http://schemas.microsoft.com/office/drawing/2014/main" id="{31EE47F3-DFAC-4778-A1C2-A24308EA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8483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00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676B6E"/>
                </a:solidFill>
                <a:latin typeface="Lato"/>
                <a:ea typeface="Lato"/>
                <a:cs typeface="Lato"/>
              </a:rPr>
              <a:t>model estimate</a:t>
            </a:r>
          </a:p>
        </p:txBody>
      </p:sp>
      <p:sp>
        <p:nvSpPr>
          <p:cNvPr id="224" name="S2 movement 1-0">
            <a:extLst xmlns:a="http://schemas.openxmlformats.org/drawingml/2006/main">
              <a:ext uri="{FF2B5EF4-FFF2-40B4-BE49-F238E27FC236}">
                <a16:creationId xmlns:a16="http://schemas.microsoft.com/office/drawing/2014/main" id="{BBF165F2-51BA-4DDE-9E3C-F69B438D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5351" y="1762125"/>
            <a:ext cx="343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5" name="S2 movement 1-1">
            <a:extLst xmlns:a="http://schemas.openxmlformats.org/drawingml/2006/main">
              <a:ext uri="{FF2B5EF4-FFF2-40B4-BE49-F238E27FC236}">
                <a16:creationId xmlns:a16="http://schemas.microsoft.com/office/drawing/2014/main" id="{7978E4AF-DA52-4EE9-A427-9759A6BD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1223" y="3190875"/>
            <a:ext cx="824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6" name="S2 movement 1-2">
            <a:extLst xmlns:a="http://schemas.openxmlformats.org/drawingml/2006/main">
              <a:ext uri="{FF2B5EF4-FFF2-40B4-BE49-F238E27FC236}">
                <a16:creationId xmlns:a16="http://schemas.microsoft.com/office/drawing/2014/main" id="{25714DA6-17B3-4CD9-B605-EE90EE51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1223" y="4619625"/>
            <a:ext cx="343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7" name="S2 movement 2-0">
            <a:extLst xmlns:a="http://schemas.openxmlformats.org/drawingml/2006/main">
              <a:ext uri="{FF2B5EF4-FFF2-40B4-BE49-F238E27FC236}">
                <a16:creationId xmlns:a16="http://schemas.microsoft.com/office/drawing/2014/main" id="{2FD4B988-6E99-4520-A907-59DAE437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619" y="1762125"/>
            <a:ext cx="1346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8" name="S2 movement 2-1">
            <a:extLst xmlns:a="http://schemas.openxmlformats.org/drawingml/2006/main">
              <a:ext uri="{FF2B5EF4-FFF2-40B4-BE49-F238E27FC236}">
                <a16:creationId xmlns:a16="http://schemas.microsoft.com/office/drawing/2014/main" id="{0428360D-4BB4-48D8-9C7E-252DAE98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733" y="3190875"/>
            <a:ext cx="1174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9" name="S2 movement 2-2">
            <a:extLst xmlns:a="http://schemas.openxmlformats.org/drawingml/2006/main">
              <a:ext uri="{FF2B5EF4-FFF2-40B4-BE49-F238E27FC236}">
                <a16:creationId xmlns:a16="http://schemas.microsoft.com/office/drawing/2014/main" id="{02AB006E-9C89-4E4C-BEBE-76C22AAC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866" y="4619625"/>
            <a:ext cx="782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4175056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89A9A7A6-4AF3-7FED-3641-3C0F629F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636A28E-3E12-0474-8797-EAD4B6646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1480" y="987552"/>
            <a:ext cx="4485861" cy="1088136"/>
          </a:xfrm>
        </p:spPr>
        <p:txBody>
          <a:bodyPr xmlns:a="http://schemas.openxmlformats.org/drawingml/2006/main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Participant estimates contain measurement error</a:t>
            </a:r>
            <a:endParaRPr sz="3400">
              <a:solidFill>
                <a:srgbClr val="00000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E5C279A0-DA6A-C6AE-D0CC-4550181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9223" y="387939"/>
            <a:ext cx="7315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2667B673-8664-7B83-A92C-D8A88DB4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0"/>
            <a:ext cx="4389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5888AE6E-DDA7-0F17-AF37-1998DFCA258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11479" y="2688336"/>
            <a:ext cx="4498848" cy="3584448"/>
          </a:xfr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Finite data make participant estimates noisy.</a:t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Sources include: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attention lapses and fatigue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motor and processing variability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limited or unequal trial counts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8" name="S5 measurement eyebrow">
            <a:extLst xmlns:a="http://schemas.openxmlformats.org/drawingml/2006/main">
              <a:ext uri="{FF2B5EF4-FFF2-40B4-BE49-F238E27FC236}">
                <a16:creationId xmlns:a16="http://schemas.microsoft.com/office/drawing/2014/main" id="{5896B9D5-E005-41F1-B005-2E39D129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76767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676767"/>
                </a:solidFill>
                <a:latin typeface="Lato"/>
                <a:ea typeface="Lato"/>
                <a:cs typeface="Lato"/>
              </a:rPr>
              <a:t>OBSERVED PARTICIPANT ESTIMATE</a:t>
            </a:r>
          </a:p>
        </p:txBody>
      </p:sp>
      <p:sp>
        <p:nvSpPr>
          <p:cNvPr id="49" name="S5 measurement equation">
            <a:extLst xmlns:a="http://schemas.openxmlformats.org/drawingml/2006/main">
              <a:ext uri="{FF2B5EF4-FFF2-40B4-BE49-F238E27FC236}">
                <a16:creationId xmlns:a16="http://schemas.microsoft.com/office/drawing/2014/main" id="{CE0EBCF7-12DE-40A9-B76F-6C9AD7E6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defRPr>
            </a:pPr>
            <a:r>
              <a:rPr sz="435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rPr>
              <a:t>α̂ᵢ  =  αᵢ  +  εᵢ</a:t>
            </a:r>
          </a:p>
        </p:txBody>
      </p:sp>
      <p:sp>
        <p:nvSpPr>
          <p:cNvPr id="50" name="S5 measurement labels">
            <a:extLst xmlns:a="http://schemas.openxmlformats.org/drawingml/2006/main">
              <a:ext uri="{FF2B5EF4-FFF2-40B4-BE49-F238E27FC236}">
                <a16:creationId xmlns:a16="http://schemas.microsoft.com/office/drawing/2014/main" id="{E385F885-D92B-4F94-B235-6C3DC417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76767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76767"/>
                </a:solidFill>
                <a:latin typeface="Lato"/>
                <a:ea typeface="Lato"/>
                <a:cs typeface="Lato"/>
              </a:rPr>
              <a:t>estimate                 latent value               finite-data noise</a:t>
            </a:r>
          </a:p>
        </p:txBody>
      </p:sp>
      <p:sp>
        <p:nvSpPr>
          <p:cNvPr id="51" name="S5 measurement implication">
            <a:extLst xmlns:a="http://schemas.openxmlformats.org/drawingml/2006/main">
              <a:ext uri="{FF2B5EF4-FFF2-40B4-BE49-F238E27FC236}">
                <a16:creationId xmlns:a16="http://schemas.microsoft.com/office/drawing/2014/main" id="{D4E8ECD9-403C-496F-B10B-5B631F10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95C27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E95C27"/>
                </a:solidFill>
                <a:latin typeface="Lato"/>
                <a:ea typeface="Lato"/>
                <a:cs typeface="Lato"/>
              </a:rPr>
              <a:t>A two-step analysis keeps α̂ᵢ</a:t>
            </a:r>
          </a:p>
          <a:p xmlns:a="http://schemas.openxmlformats.org/drawingml/2006/main">
            <a:pPr algn="ctr">
              <a:defRPr sz="2025" b="1">
                <a:solidFill>
                  <a:srgbClr val="E95C27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E95C27"/>
                </a:solidFill>
                <a:latin typeface="Lato"/>
                <a:ea typeface="Lato"/>
                <a:cs typeface="Lato"/>
              </a:rPr>
              <a:t>but usually discards uncertainty about εᵢ.</a:t>
            </a:r>
          </a:p>
        </p:txBody>
      </p:sp>
    </p:spTree>
    <p:extLst>
      <p:ext uri="{BB962C8B-B14F-4D97-AF65-F5344CB8AC3E}">
        <p14:creationId xmlns:p14="http://schemas.microsoft.com/office/powerpoint/2010/main" val="9720390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89A9A7A6-4AF3-7FED-3641-3C0F629F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636A28E-3E12-0474-8797-EAD4B6646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1480" y="987552"/>
            <a:ext cx="4485861" cy="1088136"/>
          </a:xfrm>
        </p:spPr>
        <p:txBody>
          <a:bodyPr xmlns:a="http://schemas.openxmlformats.org/drawingml/2006/main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Aggregates mix signal with estimation noise</a:t>
            </a:r>
            <a:endParaRPr sz="3400">
              <a:solidFill>
                <a:srgbClr val="00000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E5C279A0-DA6A-C6AE-D0CC-4550181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9223" y="387939"/>
            <a:ext cx="7315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2667B673-8664-7B83-A92C-D8A88DB4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0"/>
            <a:ext cx="4389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5888AE6E-DDA7-0F17-AF37-1998DFCA258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11479" y="2688336"/>
            <a:ext cx="4498848" cy="3584448"/>
          </a:xfr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Across participants, the variance of estimates contains both:</a:t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real between-person differences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participant-level estimation error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Fewer trials ⇒ more contamination.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8" name="S6 variance equation">
            <a:extLst xmlns:a="http://schemas.openxmlformats.org/drawingml/2006/main">
              <a:ext uri="{FF2B5EF4-FFF2-40B4-BE49-F238E27FC236}">
                <a16:creationId xmlns:a16="http://schemas.microsoft.com/office/drawing/2014/main" id="{9D8BD752-0D80-49B1-B9C8-22F3EFDF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14500"/>
            <a:ext cx="595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defRPr>
            </a:pPr>
            <a:r>
              <a:rPr sz="330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rPr>
              <a:t>Var(α̂ᵢ)  =  σ²between  +  σ²error,ᵢ / nᵢ</a:t>
            </a:r>
          </a:p>
        </p:txBody>
      </p:sp>
      <p:sp>
        <p:nvSpPr>
          <p:cNvPr id="49" name="S6 signal label">
            <a:extLst xmlns:a="http://schemas.openxmlformats.org/drawingml/2006/main">
              <a:ext uri="{FF2B5EF4-FFF2-40B4-BE49-F238E27FC236}">
                <a16:creationId xmlns:a16="http://schemas.microsoft.com/office/drawing/2014/main" id="{69FB785F-BF98-43EE-B324-F6C00929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E928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4E9288"/>
                </a:solidFill>
                <a:latin typeface="Lato"/>
                <a:ea typeface="Lato"/>
                <a:cs typeface="Lato"/>
              </a:rPr>
              <a:t>what psychology wants</a:t>
            </a:r>
          </a:p>
        </p:txBody>
      </p:sp>
      <p:sp>
        <p:nvSpPr>
          <p:cNvPr id="50" name="S6 error label">
            <a:extLst xmlns:a="http://schemas.openxmlformats.org/drawingml/2006/main">
              <a:ext uri="{FF2B5EF4-FFF2-40B4-BE49-F238E27FC236}">
                <a16:creationId xmlns:a16="http://schemas.microsoft.com/office/drawing/2014/main" id="{A0619F69-09F9-4366-BA5C-C1EFF0DA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57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95C27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E95C27"/>
                </a:solidFill>
                <a:latin typeface="Lato"/>
                <a:ea typeface="Lato"/>
                <a:cs typeface="Lato"/>
              </a:rPr>
              <a:t>added by finite trials</a:t>
            </a:r>
          </a:p>
        </p:txBody>
      </p:sp>
      <p:sp>
        <p:nvSpPr>
          <p:cNvPr id="51" name="S6 consequence">
            <a:extLst xmlns:a="http://schemas.openxmlformats.org/drawingml/2006/main">
              <a:ext uri="{FF2B5EF4-FFF2-40B4-BE49-F238E27FC236}">
                <a16:creationId xmlns:a16="http://schemas.microsoft.com/office/drawing/2014/main" id="{FB5C88A6-9E2B-47EC-A8BB-51369A88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8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242424"/>
                </a:solidFill>
                <a:latin typeface="Lato"/>
                <a:ea typeface="Lato"/>
                <a:cs typeface="Lato"/>
              </a:rPr>
              <a:t>If the second stage treats α̂ᵢ as data,</a:t>
            </a:r>
          </a:p>
          <a:p xmlns:a="http://schemas.openxmlformats.org/drawingml/2006/main">
            <a:pPr algn="ctr">
              <a:defRPr sz="2100" b="1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242424"/>
                </a:solidFill>
                <a:latin typeface="Lato"/>
                <a:ea typeface="Lato"/>
                <a:cs typeface="Lato"/>
              </a:rPr>
              <a:t>noise is mistaken for stable heterogeneity.</a:t>
            </a:r>
          </a:p>
        </p:txBody>
      </p:sp>
    </p:spTree>
    <p:extLst>
      <p:ext uri="{BB962C8B-B14F-4D97-AF65-F5344CB8AC3E}">
        <p14:creationId xmlns:p14="http://schemas.microsoft.com/office/powerpoint/2010/main" val="9720390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89A9A7A6-4AF3-7FED-3641-3C0F629F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636A28E-3E12-0474-8797-EAD4B6646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1480" y="987552"/>
            <a:ext cx="4485861" cy="1088136"/>
          </a:xfrm>
        </p:spPr>
        <p:txBody>
          <a:bodyPr xmlns:a="http://schemas.openxmlformats.org/drawingml/2006/main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Partial pooling follows precision</a:t>
            </a:r>
            <a:endParaRPr sz="3400">
              <a:solidFill>
                <a:srgbClr val="00000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E5C279A0-DA6A-C6AE-D0CC-4550181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9223" y="387939"/>
            <a:ext cx="7315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2667B673-8664-7B83-A92C-D8A88DB4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0"/>
            <a:ext cx="4389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5888AE6E-DDA7-0F17-AF37-1998DFCA258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11479" y="2688336"/>
            <a:ext cx="4498848" cy="3584448"/>
          </a:xfr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A participant moves more when:</a:t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their estimate is noisy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they have fewer trials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A participant moves less when: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their data are informative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8" name="S7 reliability equation">
            <a:extLst xmlns:a="http://schemas.openxmlformats.org/drawingml/2006/main">
              <a:ext uri="{FF2B5EF4-FFF2-40B4-BE49-F238E27FC236}">
                <a16:creationId xmlns:a16="http://schemas.microsoft.com/office/drawing/2014/main" id="{B51FEDDD-E5CB-4D54-AF30-C261D67B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904875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rPr>
              <a:t>λᵢ  =       σ²between</a:t>
            </a:r>
          </a:p>
          <a:p xmlns:a="http://schemas.openxmlformats.org/drawingml/2006/main">
            <a:pPr algn="ctr">
              <a:defRPr sz="285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rPr>
              <a:t>         ─────────────────</a:t>
            </a:r>
          </a:p>
          <a:p xmlns:a="http://schemas.openxmlformats.org/drawingml/2006/main">
            <a:pPr algn="ctr">
              <a:defRPr sz="285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rPr>
              <a:t>         σ²between + σ²error,ᵢ / nᵢ</a:t>
            </a:r>
          </a:p>
        </p:txBody>
      </p:sp>
      <p:sp>
        <p:nvSpPr>
          <p:cNvPr id="49" name="S7 posterior equation">
            <a:extLst xmlns:a="http://schemas.openxmlformats.org/drawingml/2006/main">
              <a:ext uri="{FF2B5EF4-FFF2-40B4-BE49-F238E27FC236}">
                <a16:creationId xmlns:a16="http://schemas.microsoft.com/office/drawing/2014/main" id="{6C65E552-48F5-4279-B1DB-50AA47D9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337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0">
                <a:solidFill>
                  <a:srgbClr val="242424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242424"/>
                </a:solidFill>
                <a:latin typeface="Cambria Math"/>
                <a:ea typeface="Cambria Math"/>
                <a:cs typeface="Cambria Math"/>
              </a:rPr>
              <a:t>α̃ᵢ  =  μ  +  λᵢ(α̂ᵢ − μ)</a:t>
            </a:r>
          </a:p>
        </p:txBody>
      </p:sp>
      <p:sp>
        <p:nvSpPr>
          <p:cNvPr id="50" name="S7 strong shrinkage">
            <a:extLst xmlns:a="http://schemas.openxmlformats.org/drawingml/2006/main">
              <a:ext uri="{FF2B5EF4-FFF2-40B4-BE49-F238E27FC236}">
                <a16:creationId xmlns:a16="http://schemas.microsoft.com/office/drawing/2014/main" id="{A351D4A9-204D-4094-AF5B-D0988820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1962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95C27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E95C27"/>
                </a:solidFill>
                <a:latin typeface="Lato"/>
                <a:ea typeface="Lato"/>
                <a:cs typeface="Lato"/>
              </a:rPr>
              <a:t>λ ≈ 0   strong shrinkage</a:t>
            </a:r>
          </a:p>
        </p:txBody>
      </p:sp>
      <p:sp>
        <p:nvSpPr>
          <p:cNvPr id="51" name="S7 weak shrinkage">
            <a:extLst xmlns:a="http://schemas.openxmlformats.org/drawingml/2006/main">
              <a:ext uri="{FF2B5EF4-FFF2-40B4-BE49-F238E27FC236}">
                <a16:creationId xmlns:a16="http://schemas.microsoft.com/office/drawing/2014/main" id="{7C5ABB64-0881-4F0C-825B-C0C452FB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1962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E928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4E9288"/>
                </a:solidFill>
                <a:latin typeface="Lato"/>
                <a:ea typeface="Lato"/>
                <a:cs typeface="Lato"/>
              </a:rPr>
              <a:t>λ ≈ 1   little shrinkage</a:t>
            </a:r>
          </a:p>
        </p:txBody>
      </p:sp>
    </p:spTree>
    <p:extLst>
      <p:ext uri="{BB962C8B-B14F-4D97-AF65-F5344CB8AC3E}">
        <p14:creationId xmlns:p14="http://schemas.microsoft.com/office/powerpoint/2010/main" val="9720390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89A9A7A6-4AF3-7FED-3641-3C0F629F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636A28E-3E12-0474-8797-EAD4B6646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1480" y="987552"/>
            <a:ext cx="4485861" cy="1088136"/>
          </a:xfrm>
        </p:spPr>
        <p:txBody>
          <a:bodyPr xmlns:a="http://schemas.openxmlformats.org/drawingml/2006/main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Sparse participant data produce stronger shrinkage</a:t>
            </a:r>
            <a:endParaRPr sz="3400">
              <a:solidFill>
                <a:srgbClr val="00000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E5C279A0-DA6A-C6AE-D0CC-4550181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9223" y="387939"/>
            <a:ext cx="7315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2667B673-8664-7B83-A92C-D8A88DB4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0"/>
            <a:ext cx="4389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5888AE6E-DDA7-0F17-AF37-1998DFCA258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11479" y="2688336"/>
            <a:ext cx="4498848" cy="3584448"/>
          </a:xfr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Orange: hierarchical estimates</a:t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Blue: separate two-step fits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Few trials: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extremes move toward the population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Many trials: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the methods nearly agree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54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f5ba13b9994293"/>
          <a:stretch xmlns:a="http://schemas.openxmlformats.org/drawingml/2006/main"/>
        </p:blipFill>
        <p:spPr>
          <a:xfrm xmlns:a="http://schemas.openxmlformats.org/drawingml/2006/main">
            <a:off x="5429250" y="1982515"/>
            <a:ext cx="6381750" cy="32739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390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89A9A7A6-4AF3-7FED-3641-3C0F629F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636A28E-3E12-0474-8797-EAD4B6646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1480" y="987552"/>
            <a:ext cx="4485861" cy="1088136"/>
          </a:xfrm>
        </p:spPr>
        <p:txBody>
          <a:bodyPr xmlns:a="http://schemas.openxmlformats.org/drawingml/2006/main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Measurement error changes group-level conclusions</a:t>
            </a:r>
            <a:endParaRPr sz="3400">
              <a:solidFill>
                <a:srgbClr val="00000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E5C279A0-DA6A-C6AE-D0CC-4550181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9223" y="387939"/>
            <a:ext cx="7315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2667B673-8664-7B83-A92C-D8A88DB4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0"/>
            <a:ext cx="4389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5888AE6E-DDA7-0F17-AF37-1998DFCA258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11479" y="2688336"/>
            <a:ext cx="4498848" cy="3584448"/>
          </a:xfr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A two-step analysis can:</a:t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inflate between-person variance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attenuate correlations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distort regression effects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become precise about the wrong target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54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9b7a1865024236"/>
          <a:stretch xmlns:a="http://schemas.openxmlformats.org/drawingml/2006/main"/>
        </p:blipFill>
        <p:spPr>
          <a:xfrm xmlns:a="http://schemas.openxmlformats.org/drawingml/2006/main">
            <a:off x="5429250" y="1982515"/>
            <a:ext cx="6381750" cy="32739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390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F94AA2BD-2E3F-4B1D-8127-5744B811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408DF60-ADAB-F951-D3FE-D94F99BC1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1480" y="987552"/>
            <a:ext cx="4485861" cy="1088136"/>
          </a:xfrm>
        </p:spPr>
        <p:txBody>
          <a:bodyPr xmlns:a="http://schemas.openxmlformats.org/drawingml/2006/main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Group inference is more than an average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4BD02261-2DC8-4AA8-9E16-7751AE89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9223" y="387939"/>
            <a:ext cx="7315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3D752CF2-2291-40B5-B462-C17B174C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0"/>
            <a:ext cx="4389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3F5DE156-934E-AECE-B4BC-52B57E18D9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11479" y="2688336"/>
            <a:ext cx="4498848" cy="3584448"/>
          </a:xfr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μ: typical participant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Σ: heterogeneity and correlations</a:t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</a:p>
          <a:p xmlns:a="http://schemas.openxmlformats.org/drawingml/2006/main">
            <a:pPr marL="18" indent="-12">
              <a:lnSpc>
                <a:spcPct val="92000"/>
              </a:lnSpc>
              <a:spcBef>
                <a:spcPts val="0"/>
              </a:spcBef>
              <a:buNone/>
            </a:pPr>
            <a:r>
              <a:t>β: person-level predictors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18" indent="-12">
              <a:lnSpc>
                <a:spcPct val="92000"/>
              </a:lnSpc>
              <a:spcBef>
                <a:spcPts val="0"/>
              </a:spcBef>
              <a:buNone/>
            </a:pPr>
            <a: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18" indent="-12">
              <a:lnSpc>
                <a:spcPct val="92000"/>
              </a:lnSpc>
              <a:spcBef>
                <a:spcPts val="0"/>
              </a:spcBef>
              <a:buNone/>
            </a:pPr>
            <a:r>
              <a:t>Their posterior uncertainty includes uncertainty in every αᵢ.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8" name="S3 editable figure background">
            <a:extLst xmlns:a="http://schemas.openxmlformats.org/drawingml/2006/main">
              <a:ext uri="{FF2B5EF4-FFF2-40B4-BE49-F238E27FC236}">
                <a16:creationId xmlns:a16="http://schemas.microsoft.com/office/drawing/2014/main" id="{F58A4FAF-EBAC-4420-B914-882375C1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S3 population">
            <a:extLst xmlns:a="http://schemas.openxmlformats.org/drawingml/2006/main">
              <a:ext uri="{FF2B5EF4-FFF2-40B4-BE49-F238E27FC236}">
                <a16:creationId xmlns:a16="http://schemas.microsoft.com/office/drawing/2014/main" id="{71E8001A-BB1E-4AA4-B6D1-29B5CB4D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23875"/>
            <a:ext cx="342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BE4DB"/>
          </a:solidFill>
          <a:ln xmlns:a="http://schemas.openxmlformats.org/drawingml/2006/main" w="20955">
            <a:solidFill>
              <a:srgbClr val="F05A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20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Group targets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50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20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μ, Σ, β</a:t>
            </a:r>
          </a:p>
        </p:txBody>
      </p:sp>
      <p:sp>
        <p:nvSpPr>
          <p:cNvPr id="50" name="S3 participant 1">
            <a:extLst xmlns:a="http://schemas.openxmlformats.org/drawingml/2006/main">
              <a:ext uri="{FF2B5EF4-FFF2-40B4-BE49-F238E27FC236}">
                <a16:creationId xmlns:a16="http://schemas.microsoft.com/office/drawing/2014/main" id="{0664B2F6-A1C7-4895-902B-0517FD9F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24125"/>
            <a:ext cx="1381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C2C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Participant 1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α₁</a:t>
            </a:r>
          </a:p>
        </p:txBody>
      </p:sp>
      <p:sp>
        <p:nvSpPr>
          <p:cNvPr id="51" name="S3 participant 2">
            <a:extLst xmlns:a="http://schemas.openxmlformats.org/drawingml/2006/main">
              <a:ext uri="{FF2B5EF4-FFF2-40B4-BE49-F238E27FC236}">
                <a16:creationId xmlns:a16="http://schemas.microsoft.com/office/drawing/2014/main" id="{74850AF5-99B6-45E9-86C8-6DD343EC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1381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C2C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Participant 2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α₂</a:t>
            </a:r>
          </a:p>
        </p:txBody>
      </p:sp>
      <p:sp>
        <p:nvSpPr>
          <p:cNvPr id="52" name="S3 participant J">
            <a:extLst xmlns:a="http://schemas.openxmlformats.org/drawingml/2006/main">
              <a:ext uri="{FF2B5EF4-FFF2-40B4-BE49-F238E27FC236}">
                <a16:creationId xmlns:a16="http://schemas.microsoft.com/office/drawing/2014/main" id="{8CE6A311-1F39-4122-9F62-4EAC1BD6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24125"/>
            <a:ext cx="1381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C2C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Participant I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αᵢ</a:t>
            </a:r>
          </a:p>
        </p:txBody>
      </p:sp>
      <p:sp>
        <p:nvSpPr>
          <p:cNvPr id="53" name="S3 data 1">
            <a:extLst xmlns:a="http://schemas.openxmlformats.org/drawingml/2006/main">
              <a:ext uri="{FF2B5EF4-FFF2-40B4-BE49-F238E27FC236}">
                <a16:creationId xmlns:a16="http://schemas.microsoft.com/office/drawing/2014/main" id="{030ECFFC-6346-427D-997F-FBA5477D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7200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1EF"/>
          </a:solidFill>
          <a:ln xmlns:a="http://schemas.openxmlformats.org/drawingml/2006/main" w="17145">
            <a:solidFill>
              <a:srgbClr val="7BA99E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data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y₁</a:t>
            </a:r>
          </a:p>
        </p:txBody>
      </p:sp>
      <p:sp>
        <p:nvSpPr>
          <p:cNvPr id="54" name="S3 data 2">
            <a:extLst xmlns:a="http://schemas.openxmlformats.org/drawingml/2006/main">
              <a:ext uri="{FF2B5EF4-FFF2-40B4-BE49-F238E27FC236}">
                <a16:creationId xmlns:a16="http://schemas.microsoft.com/office/drawing/2014/main" id="{C032818F-C8A8-4E90-9DB7-00CD3F7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1EF"/>
          </a:solidFill>
          <a:ln xmlns:a="http://schemas.openxmlformats.org/drawingml/2006/main" w="17145">
            <a:solidFill>
              <a:srgbClr val="7BA99E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data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y₂</a:t>
            </a:r>
          </a:p>
        </p:txBody>
      </p:sp>
      <p:sp>
        <p:nvSpPr>
          <p:cNvPr id="55" name="S3 data J">
            <a:extLst xmlns:a="http://schemas.openxmlformats.org/drawingml/2006/main">
              <a:ext uri="{FF2B5EF4-FFF2-40B4-BE49-F238E27FC236}">
                <a16:creationId xmlns:a16="http://schemas.microsoft.com/office/drawing/2014/main" id="{FBE2FC63-DDD5-4C7C-A27F-0609EAD8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1EF"/>
          </a:solidFill>
          <a:ln xmlns:a="http://schemas.openxmlformats.org/drawingml/2006/main" w="17145">
            <a:solidFill>
              <a:srgbClr val="7BA99E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data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yᵢ</a:t>
            </a:r>
          </a:p>
        </p:txBody>
      </p:sp>
      <p:cxnSp>
        <p:nvCxnSpPr>
          <p:cNvPr id="307" name="S3 population to person 1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 flipH="1">
            <a:off x="7834313" y="1304925"/>
            <a:ext cx="1738313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8" name="S3 population to person 2"/>
          <p:cNvCxnSpPr>
            <a:stCxn xmlns:a="http://schemas.openxmlformats.org/drawingml/2006/main" id="49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 flipH="1">
            <a:off x="9548813" y="1304925"/>
            <a:ext cx="23813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9" name="S3 population to person J"/>
          <p:cNvCxnSpPr>
            <a:stCxn xmlns:a="http://schemas.openxmlformats.org/drawingml/2006/main" id="49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9572625" y="1304925"/>
            <a:ext cx="1690688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0" name="S3 person 1 to data"/>
          <p:cNvCxnSpPr>
            <a:stCxn xmlns:a="http://schemas.openxmlformats.org/drawingml/2006/main" id="50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7834313" y="320992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1" name="S3 person 2 to data"/>
          <p:cNvCxnSpPr>
            <a:stCxn xmlns:a="http://schemas.openxmlformats.org/drawingml/2006/main" id="51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9548813" y="320992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2" name="S3 person J to data"/>
          <p:cNvCxnSpPr>
            <a:stCxn xmlns:a="http://schemas.openxmlformats.org/drawingml/2006/main" id="52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11263313" y="320992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5" name="S3 hierarchy equation">
            <a:extLst xmlns:a="http://schemas.openxmlformats.org/drawingml/2006/main">
              <a:ext uri="{FF2B5EF4-FFF2-40B4-BE49-F238E27FC236}">
                <a16:creationId xmlns:a16="http://schemas.microsoft.com/office/drawing/2014/main" id="{3863D907-6C8F-487D-A466-E202E8C0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735" y="5905500"/>
            <a:ext cx="5117140" cy="6858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C2C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μᵢ = Wᵢβ     αᵢ ∼ N(μᵢ,Σ)     yᵢ ∼ p(yᵢ | αᵢ)</a:t>
            </a:r>
          </a:p>
        </p:txBody>
      </p:sp>
    </p:spTree>
    <p:extLst>
      <p:ext uri="{BB962C8B-B14F-4D97-AF65-F5344CB8AC3E}">
        <p14:creationId xmlns:p14="http://schemas.microsoft.com/office/powerpoint/2010/main" val="4175056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F94AA2BD-2E3F-4B1D-8127-5744B811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425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408DF60-ADAB-F951-D3FE-D94F99BC1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1480" y="987552"/>
            <a:ext cx="4485861" cy="1088136"/>
          </a:xfrm>
        </p:spPr>
        <p:txBody>
          <a:bodyPr xmlns:a="http://schemas.openxmlformats.org/drawingml/2006/main" anchor="b">
            <a:normAutofit fontScale="90239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400">
                <a:latin typeface="Lato"/>
                <a:ea typeface="Lato"/>
                <a:cs typeface="Lato"/>
              </a:rPr>
              <a:t>Cognitive models multiply local parameters</a:t>
            </a:r>
            <a:endParaRPr sz="3400">
              <a:latin typeface="Lato"/>
              <a:ea typeface="Lato"/>
              <a:cs typeface="Lato"/>
            </a:endParaRP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4BD02261-2DC8-4AA8-9E16-7751AE89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9223" y="387939"/>
            <a:ext cx="7315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3D752CF2-2291-40B5-B462-C17B174C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0"/>
            <a:ext cx="4389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3F5DE156-934E-AECE-B4BC-52B57E18D9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11478" y="2688336"/>
            <a:ext cx="5738909" cy="358444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Each participant needs a cognitive model.</a:t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I participants</a:t>
            </a:r>
          </a:p>
          <a:p xmlns:a="http://schemas.openxmlformats.org/drawingml/2006/main">
            <a:pPr marL="457206" lvl="1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>
                <a:solidFill>
                  <a:srgbClr val="202020"/>
                </a:solidFill>
                <a:latin typeface="Lato"/>
                <a:ea typeface="Lato"/>
                <a:cs typeface="Lato"/>
              </a:rPr>
              <a:t>× K local coefficients</a:t>
            </a:r>
            <a:endParaRPr sz="20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= I × K participant coefficients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plus population parameters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8" name="S4 editable figure background">
            <a:extLst xmlns:a="http://schemas.openxmlformats.org/drawingml/2006/main">
              <a:ext uri="{FF2B5EF4-FFF2-40B4-BE49-F238E27FC236}">
                <a16:creationId xmlns:a16="http://schemas.microsoft.com/office/drawing/2014/main" id="{5BD8DAED-0BD2-4D24-9C6E-27925D2F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388" y="0"/>
            <a:ext cx="527961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S4 upper decision boundary">
            <a:extLst xmlns:a="http://schemas.openxmlformats.org/drawingml/2006/main">
              <a:ext uri="{FF2B5EF4-FFF2-40B4-BE49-F238E27FC236}">
                <a16:creationId xmlns:a16="http://schemas.microsoft.com/office/drawing/2014/main" id="{7454D509-59E6-4E34-A94D-B3FE25A8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43000"/>
            <a:ext cx="4333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S4 starting line">
            <a:extLst xmlns:a="http://schemas.openxmlformats.org/drawingml/2006/main">
              <a:ext uri="{FF2B5EF4-FFF2-40B4-BE49-F238E27FC236}">
                <a16:creationId xmlns:a16="http://schemas.microsoft.com/office/drawing/2014/main" id="{DE4B67BC-66B2-40EC-A58D-61A74AAE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4333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7AAAC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S4 lower decision boundary">
            <a:extLst xmlns:a="http://schemas.openxmlformats.org/drawingml/2006/main">
              <a:ext uri="{FF2B5EF4-FFF2-40B4-BE49-F238E27FC236}">
                <a16:creationId xmlns:a16="http://schemas.microsoft.com/office/drawing/2014/main" id="{7269B8A3-DD10-4FFC-992D-6035894F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10000"/>
            <a:ext cx="4333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S4 starting point">
            <a:extLst xmlns:a="http://schemas.openxmlformats.org/drawingml/2006/main">
              <a:ext uri="{FF2B5EF4-FFF2-40B4-BE49-F238E27FC236}">
                <a16:creationId xmlns:a16="http://schemas.microsoft.com/office/drawing/2014/main" id="{28A0C989-6559-4DCD-B647-CC9176E5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5715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4 upper accumulation path">
            <a:extLst xmlns:a="http://schemas.openxmlformats.org/drawingml/2006/main">
              <a:ext uri="{FF2B5EF4-FFF2-40B4-BE49-F238E27FC236}">
                <a16:creationId xmlns:a16="http://schemas.microsoft.com/office/drawing/2014/main" id="{7AC84C69-FB48-4A7B-B779-036D8896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90625"/>
            <a:ext cx="3143250" cy="1304925"/>
          </a:xfrm>
          <a:custGeom xmlns:a="http://schemas.openxmlformats.org/drawingml/2006/main">
            <a:rect l="0" t="0" r="0" b="0"/>
            <a:pathLst>
              <a:path w="3143250" h="1304925">
                <a:moveTo>
                  <a:pt x="0" y="1304925"/>
                </a:moveTo>
                <a:lnTo>
                  <a:pt x="266700" y="1219200"/>
                </a:lnTo>
                <a:lnTo>
                  <a:pt x="447675" y="1057275"/>
                </a:lnTo>
                <a:lnTo>
                  <a:pt x="685800" y="1114425"/>
                </a:lnTo>
                <a:lnTo>
                  <a:pt x="904875" y="876300"/>
                </a:lnTo>
                <a:lnTo>
                  <a:pt x="1162050" y="952500"/>
                </a:lnTo>
                <a:lnTo>
                  <a:pt x="1381125" y="666750"/>
                </a:lnTo>
                <a:lnTo>
                  <a:pt x="1619250" y="714375"/>
                </a:lnTo>
                <a:lnTo>
                  <a:pt x="1857375" y="476250"/>
                </a:lnTo>
                <a:lnTo>
                  <a:pt x="2124075" y="533400"/>
                </a:lnTo>
                <a:lnTo>
                  <a:pt x="2362200" y="266700"/>
                </a:lnTo>
                <a:lnTo>
                  <a:pt x="2619375" y="323850"/>
                </a:lnTo>
                <a:lnTo>
                  <a:pt x="285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4 upper accumulation path 2">
            <a:extLst xmlns:a="http://schemas.openxmlformats.org/drawingml/2006/main">
              <a:ext uri="{FF2B5EF4-FFF2-40B4-BE49-F238E27FC236}">
                <a16:creationId xmlns:a16="http://schemas.microsoft.com/office/drawing/2014/main" id="{B32FE612-8180-43F6-9C58-6E73C2F8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810000" cy="1066800"/>
          </a:xfrm>
          <a:custGeom xmlns:a="http://schemas.openxmlformats.org/drawingml/2006/main">
            <a:rect l="0" t="0" r="0" b="0"/>
            <a:pathLst>
              <a:path w="3810000" h="1066800">
                <a:moveTo>
                  <a:pt x="0" y="1066800"/>
                </a:moveTo>
                <a:lnTo>
                  <a:pt x="285750" y="962025"/>
                </a:lnTo>
                <a:lnTo>
                  <a:pt x="523875" y="1019175"/>
                </a:lnTo>
                <a:lnTo>
                  <a:pt x="800100" y="838200"/>
                </a:lnTo>
                <a:lnTo>
                  <a:pt x="1047750" y="914400"/>
                </a:lnTo>
                <a:lnTo>
                  <a:pt x="1333500" y="723900"/>
                </a:lnTo>
                <a:lnTo>
                  <a:pt x="1619250" y="771525"/>
                </a:lnTo>
                <a:lnTo>
                  <a:pt x="1952625" y="523875"/>
                </a:lnTo>
                <a:lnTo>
                  <a:pt x="2247900" y="609600"/>
                </a:lnTo>
                <a:lnTo>
                  <a:pt x="2571750" y="400050"/>
                </a:lnTo>
                <a:lnTo>
                  <a:pt x="2905125" y="476250"/>
                </a:lnTo>
                <a:lnTo>
                  <a:pt x="3219450" y="219075"/>
                </a:lnTo>
                <a:lnTo>
                  <a:pt x="352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4A1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S4 lower accumulation path">
            <a:extLst xmlns:a="http://schemas.openxmlformats.org/drawingml/2006/main">
              <a:ext uri="{FF2B5EF4-FFF2-40B4-BE49-F238E27FC236}">
                <a16:creationId xmlns:a16="http://schemas.microsoft.com/office/drawing/2014/main" id="{02BC0D18-57B6-4847-9BF1-842756D1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3333750" cy="1333500"/>
          </a:xfrm>
          <a:custGeom xmlns:a="http://schemas.openxmlformats.org/drawingml/2006/main">
            <a:rect l="0" t="0" r="0" b="0"/>
            <a:pathLst>
              <a:path w="3333750" h="1333500">
                <a:moveTo>
                  <a:pt x="0" y="0"/>
                </a:moveTo>
                <a:lnTo>
                  <a:pt x="285750" y="142875"/>
                </a:lnTo>
                <a:lnTo>
                  <a:pt x="571500" y="95250"/>
                </a:lnTo>
                <a:lnTo>
                  <a:pt x="857250" y="352425"/>
                </a:lnTo>
                <a:lnTo>
                  <a:pt x="1123950" y="276225"/>
                </a:lnTo>
                <a:lnTo>
                  <a:pt x="1428750" y="533400"/>
                </a:lnTo>
                <a:lnTo>
                  <a:pt x="1714500" y="457200"/>
                </a:lnTo>
                <a:lnTo>
                  <a:pt x="1981200" y="781050"/>
                </a:lnTo>
                <a:lnTo>
                  <a:pt x="2305050" y="704850"/>
                </a:lnTo>
                <a:lnTo>
                  <a:pt x="2619375" y="1000125"/>
                </a:lnTo>
                <a:lnTo>
                  <a:pt x="2952750" y="933450"/>
                </a:lnTo>
                <a:lnTo>
                  <a:pt x="3238500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S4 lower accumulation path 2">
            <a:extLst xmlns:a="http://schemas.openxmlformats.org/drawingml/2006/main">
              <a:ext uri="{FF2B5EF4-FFF2-40B4-BE49-F238E27FC236}">
                <a16:creationId xmlns:a16="http://schemas.microsoft.com/office/drawing/2014/main" id="{AB591A80-DD1C-4AAA-82C6-A718DBCF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4000500" cy="1123950"/>
          </a:xfrm>
          <a:custGeom xmlns:a="http://schemas.openxmlformats.org/drawingml/2006/main">
            <a:rect l="0" t="0" r="0" b="0"/>
            <a:pathLst>
              <a:path w="4000500" h="1123950">
                <a:moveTo>
                  <a:pt x="0" y="0"/>
                </a:moveTo>
                <a:lnTo>
                  <a:pt x="361950" y="104775"/>
                </a:lnTo>
                <a:lnTo>
                  <a:pt x="666750" y="57150"/>
                </a:lnTo>
                <a:lnTo>
                  <a:pt x="990600" y="228600"/>
                </a:lnTo>
                <a:lnTo>
                  <a:pt x="1314450" y="180975"/>
                </a:lnTo>
                <a:lnTo>
                  <a:pt x="1666875" y="419100"/>
                </a:lnTo>
                <a:lnTo>
                  <a:pt x="2019300" y="361950"/>
                </a:lnTo>
                <a:lnTo>
                  <a:pt x="2381250" y="619125"/>
                </a:lnTo>
                <a:lnTo>
                  <a:pt x="2762250" y="561975"/>
                </a:lnTo>
                <a:lnTo>
                  <a:pt x="3143250" y="790575"/>
                </a:lnTo>
                <a:lnTo>
                  <a:pt x="3524250" y="742950"/>
                </a:lnTo>
                <a:lnTo>
                  <a:pt x="3905250" y="11239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969A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S4 upper response label">
            <a:extLst xmlns:a="http://schemas.openxmlformats.org/drawingml/2006/main">
              <a:ext uri="{FF2B5EF4-FFF2-40B4-BE49-F238E27FC236}">
                <a16:creationId xmlns:a16="http://schemas.microsoft.com/office/drawing/2014/main" id="{6DC708B9-F464-415E-A917-44D49B08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62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0">
                <a:solidFill>
                  <a:srgbClr val="F05A28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F05A28"/>
                </a:solidFill>
                <a:latin typeface="Lato"/>
                <a:ea typeface="Lato"/>
                <a:cs typeface="Lato"/>
              </a:rPr>
              <a:t>upper-bound response</a:t>
            </a:r>
          </a:p>
        </p:txBody>
      </p:sp>
      <p:sp>
        <p:nvSpPr>
          <p:cNvPr id="58" name="S4 lower response label">
            <a:extLst xmlns:a="http://schemas.openxmlformats.org/drawingml/2006/main">
              <a:ext uri="{FF2B5EF4-FFF2-40B4-BE49-F238E27FC236}">
                <a16:creationId xmlns:a16="http://schemas.microsoft.com/office/drawing/2014/main" id="{4953449F-4792-4315-95D6-B2DCFB1D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lower-bound response</a:t>
            </a:r>
          </a:p>
        </p:txBody>
      </p:sp>
      <p:sp>
        <p:nvSpPr>
          <p:cNvPr id="60" name="S4 participant dot 1">
            <a:extLst xmlns:a="http://schemas.openxmlformats.org/drawingml/2006/main">
              <a:ext uri="{FF2B5EF4-FFF2-40B4-BE49-F238E27FC236}">
                <a16:creationId xmlns:a16="http://schemas.microsoft.com/office/drawing/2014/main" id="{F8A42C4F-27A3-485A-9341-BB5B1008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24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S4 participant dot 2">
            <a:extLst xmlns:a="http://schemas.openxmlformats.org/drawingml/2006/main">
              <a:ext uri="{FF2B5EF4-FFF2-40B4-BE49-F238E27FC236}">
                <a16:creationId xmlns:a16="http://schemas.microsoft.com/office/drawing/2014/main" id="{60AF336F-4EFF-4065-AE9C-271FA535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24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S4 participant dot 3">
            <a:extLst xmlns:a="http://schemas.openxmlformats.org/drawingml/2006/main">
              <a:ext uri="{FF2B5EF4-FFF2-40B4-BE49-F238E27FC236}">
                <a16:creationId xmlns:a16="http://schemas.microsoft.com/office/drawing/2014/main" id="{285B8C77-03E2-4C09-A0E2-EE2115FD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24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99E"/>
          </a:solidFill>
          <a:ln xmlns:a="http://schemas.openxmlformats.org/drawingml/2006/main" w="5715">
            <a:solidFill>
              <a:srgbClr val="7BA9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S4 participant dot 4">
            <a:extLst xmlns:a="http://schemas.openxmlformats.org/drawingml/2006/main">
              <a:ext uri="{FF2B5EF4-FFF2-40B4-BE49-F238E27FC236}">
                <a16:creationId xmlns:a16="http://schemas.microsoft.com/office/drawing/2014/main" id="{4170132F-F766-470A-BF4E-2533015F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24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S4 participant dot 5">
            <a:extLst xmlns:a="http://schemas.openxmlformats.org/drawingml/2006/main">
              <a:ext uri="{FF2B5EF4-FFF2-40B4-BE49-F238E27FC236}">
                <a16:creationId xmlns:a16="http://schemas.microsoft.com/office/drawing/2014/main" id="{A3447D67-DF7F-4AC9-AF71-4924E06A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24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S4 participant dot 6">
            <a:extLst xmlns:a="http://schemas.openxmlformats.org/drawingml/2006/main">
              <a:ext uri="{FF2B5EF4-FFF2-40B4-BE49-F238E27FC236}">
                <a16:creationId xmlns:a16="http://schemas.microsoft.com/office/drawing/2014/main" id="{B469B329-F1AF-4FD3-9CD9-637539BE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24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5715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S4 participant dot 7">
            <a:extLst xmlns:a="http://schemas.openxmlformats.org/drawingml/2006/main">
              <a:ext uri="{FF2B5EF4-FFF2-40B4-BE49-F238E27FC236}">
                <a16:creationId xmlns:a16="http://schemas.microsoft.com/office/drawing/2014/main" id="{3957304C-1377-4441-8E58-9552E949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S4 participant dot 8">
            <a:extLst xmlns:a="http://schemas.openxmlformats.org/drawingml/2006/main">
              <a:ext uri="{FF2B5EF4-FFF2-40B4-BE49-F238E27FC236}">
                <a16:creationId xmlns:a16="http://schemas.microsoft.com/office/drawing/2014/main" id="{CB213A3B-1228-492D-B605-8D070E1C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S4 participant dot 9">
            <a:extLst xmlns:a="http://schemas.openxmlformats.org/drawingml/2006/main">
              <a:ext uri="{FF2B5EF4-FFF2-40B4-BE49-F238E27FC236}">
                <a16:creationId xmlns:a16="http://schemas.microsoft.com/office/drawing/2014/main" id="{CFF7A3F6-31CE-4DA2-A3CC-E30C9185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S4 participant dot 10">
            <a:extLst xmlns:a="http://schemas.openxmlformats.org/drawingml/2006/main">
              <a:ext uri="{FF2B5EF4-FFF2-40B4-BE49-F238E27FC236}">
                <a16:creationId xmlns:a16="http://schemas.microsoft.com/office/drawing/2014/main" id="{482EF6BC-611E-488B-9D09-E7A84E5D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99E"/>
          </a:solidFill>
          <a:ln xmlns:a="http://schemas.openxmlformats.org/drawingml/2006/main" w="5715">
            <a:solidFill>
              <a:srgbClr val="7BA9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S4 participant dot 11">
            <a:extLst xmlns:a="http://schemas.openxmlformats.org/drawingml/2006/main">
              <a:ext uri="{FF2B5EF4-FFF2-40B4-BE49-F238E27FC236}">
                <a16:creationId xmlns:a16="http://schemas.microsoft.com/office/drawing/2014/main" id="{1F82F6C5-4D60-45A4-9E0D-0EC52569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S4 participant dot 12">
            <a:extLst xmlns:a="http://schemas.openxmlformats.org/drawingml/2006/main">
              <a:ext uri="{FF2B5EF4-FFF2-40B4-BE49-F238E27FC236}">
                <a16:creationId xmlns:a16="http://schemas.microsoft.com/office/drawing/2014/main" id="{322B804A-A135-40E9-A5E7-6621C0E5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S4 participant dot 13">
            <a:extLst xmlns:a="http://schemas.openxmlformats.org/drawingml/2006/main">
              <a:ext uri="{FF2B5EF4-FFF2-40B4-BE49-F238E27FC236}">
                <a16:creationId xmlns:a16="http://schemas.microsoft.com/office/drawing/2014/main" id="{872DA70F-1FBF-4709-B17F-26149C73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86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5715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S4 participant dot 14">
            <a:extLst xmlns:a="http://schemas.openxmlformats.org/drawingml/2006/main">
              <a:ext uri="{FF2B5EF4-FFF2-40B4-BE49-F238E27FC236}">
                <a16:creationId xmlns:a16="http://schemas.microsoft.com/office/drawing/2014/main" id="{E093278F-4E67-4814-86B1-BC5EF59F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86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S4 participant dot 15">
            <a:extLst xmlns:a="http://schemas.openxmlformats.org/drawingml/2006/main">
              <a:ext uri="{FF2B5EF4-FFF2-40B4-BE49-F238E27FC236}">
                <a16:creationId xmlns:a16="http://schemas.microsoft.com/office/drawing/2014/main" id="{E3916CBB-7ACC-4CCB-A3EB-CBC5DB6F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86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S4 participant dot 16">
            <a:extLst xmlns:a="http://schemas.openxmlformats.org/drawingml/2006/main">
              <a:ext uri="{FF2B5EF4-FFF2-40B4-BE49-F238E27FC236}">
                <a16:creationId xmlns:a16="http://schemas.microsoft.com/office/drawing/2014/main" id="{7CFBD0A4-104D-4E1D-9330-9BA67365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86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S4 participant dot 17">
            <a:extLst xmlns:a="http://schemas.openxmlformats.org/drawingml/2006/main">
              <a:ext uri="{FF2B5EF4-FFF2-40B4-BE49-F238E27FC236}">
                <a16:creationId xmlns:a16="http://schemas.microsoft.com/office/drawing/2014/main" id="{649658C9-479E-4EA9-9983-6E1D0668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286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99E"/>
          </a:solidFill>
          <a:ln xmlns:a="http://schemas.openxmlformats.org/drawingml/2006/main" w="5715">
            <a:solidFill>
              <a:srgbClr val="7BA9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S4 participant dot 18">
            <a:extLst xmlns:a="http://schemas.openxmlformats.org/drawingml/2006/main">
              <a:ext uri="{FF2B5EF4-FFF2-40B4-BE49-F238E27FC236}">
                <a16:creationId xmlns:a16="http://schemas.microsoft.com/office/drawing/2014/main" id="{9364344E-699F-4E62-BE37-F24DB48C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86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S4 participant dot 19">
            <a:extLst xmlns:a="http://schemas.openxmlformats.org/drawingml/2006/main">
              <a:ext uri="{FF2B5EF4-FFF2-40B4-BE49-F238E27FC236}">
                <a16:creationId xmlns:a16="http://schemas.microsoft.com/office/drawing/2014/main" id="{7C3BFD62-343B-4A79-BEEE-513B7D7B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67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S4 participant dot 20">
            <a:extLst xmlns:a="http://schemas.openxmlformats.org/drawingml/2006/main">
              <a:ext uri="{FF2B5EF4-FFF2-40B4-BE49-F238E27FC236}">
                <a16:creationId xmlns:a16="http://schemas.microsoft.com/office/drawing/2014/main" id="{4EC0C4B1-8818-442E-AB6C-EE69C5B1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667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S4 participant dot 21">
            <a:extLst xmlns:a="http://schemas.openxmlformats.org/drawingml/2006/main">
              <a:ext uri="{FF2B5EF4-FFF2-40B4-BE49-F238E27FC236}">
                <a16:creationId xmlns:a16="http://schemas.microsoft.com/office/drawing/2014/main" id="{3454981D-05F7-4F98-802F-86A32B9F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667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5715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1" name="S4 participant dot 22">
            <a:extLst xmlns:a="http://schemas.openxmlformats.org/drawingml/2006/main">
              <a:ext uri="{FF2B5EF4-FFF2-40B4-BE49-F238E27FC236}">
                <a16:creationId xmlns:a16="http://schemas.microsoft.com/office/drawing/2014/main" id="{6B7E5476-D6B9-48F4-87A3-25DB64BA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67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2" name="S4 participant dot 23">
            <a:extLst xmlns:a="http://schemas.openxmlformats.org/drawingml/2006/main">
              <a:ext uri="{FF2B5EF4-FFF2-40B4-BE49-F238E27FC236}">
                <a16:creationId xmlns:a16="http://schemas.microsoft.com/office/drawing/2014/main" id="{A0F54723-995D-4571-922E-D64B01AD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667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3" name="S4 participant dot 24">
            <a:extLst xmlns:a="http://schemas.openxmlformats.org/drawingml/2006/main">
              <a:ext uri="{FF2B5EF4-FFF2-40B4-BE49-F238E27FC236}">
                <a16:creationId xmlns:a16="http://schemas.microsoft.com/office/drawing/2014/main" id="{1BBB080C-9429-40F1-87EF-12FAC81E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667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4175056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F94AA2BD-2E3F-4B1D-8127-5744B811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408DF60-ADAB-F951-D3FE-D94F99BC1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1480" y="987552"/>
            <a:ext cx="4485861" cy="1088136"/>
          </a:xfrm>
        </p:spPr>
        <p:txBody>
          <a:bodyPr xmlns:a="http://schemas.openxmlformats.org/drawingml/2006/main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EMC2 estimates a complete vector for every participant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4BD02261-2DC8-4AA8-9E16-7751AE89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9223" y="387939"/>
            <a:ext cx="7315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3D752CF2-2291-40B5-B462-C17B174C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0"/>
            <a:ext cx="4389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3F5DE156-934E-AECE-B4BC-52B57E18D9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11479" y="2688336"/>
            <a:ext cx="4498848" cy="3584448"/>
          </a:xfr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For every included local coefficient k: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every participant has αᵢₖ</a:t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trial parameters come from Xᵢαᵢ</a:t>
            </a:r>
          </a:p>
          <a:p xmlns:a="http://schemas.openxmlformats.org/drawingml/2006/main">
            <a:pPr marL="18" indent="-12">
              <a:lnSpc>
                <a:spcPct val="92000"/>
              </a:lnSpc>
              <a:spcBef>
                <a:spcPts val="0"/>
              </a:spcBef>
              <a:buNone/>
            </a:pPr>
            <a:r>
              <a:t>• all coefficients are linked through μᵢ and Σ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8" name="S3 editable figure background">
            <a:extLst xmlns:a="http://schemas.openxmlformats.org/drawingml/2006/main">
              <a:ext uri="{FF2B5EF4-FFF2-40B4-BE49-F238E27FC236}">
                <a16:creationId xmlns:a16="http://schemas.microsoft.com/office/drawing/2014/main" id="{F58A4FAF-EBAC-4420-B914-882375C1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S3 population">
            <a:extLst xmlns:a="http://schemas.openxmlformats.org/drawingml/2006/main">
              <a:ext uri="{FF2B5EF4-FFF2-40B4-BE49-F238E27FC236}">
                <a16:creationId xmlns:a16="http://schemas.microsoft.com/office/drawing/2014/main" id="{71E8001A-BB1E-4AA4-B6D1-29B5CB4D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23875"/>
            <a:ext cx="342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BE4DB"/>
          </a:solidFill>
          <a:ln xmlns:a="http://schemas.openxmlformats.org/drawingml/2006/main" w="20955">
            <a:solidFill>
              <a:srgbClr val="F05A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20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Population model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50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20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μᵢ, Σ</a:t>
            </a:r>
          </a:p>
        </p:txBody>
      </p:sp>
      <p:sp>
        <p:nvSpPr>
          <p:cNvPr id="50" name="S3 participant 1">
            <a:extLst xmlns:a="http://schemas.openxmlformats.org/drawingml/2006/main">
              <a:ext uri="{FF2B5EF4-FFF2-40B4-BE49-F238E27FC236}">
                <a16:creationId xmlns:a16="http://schemas.microsoft.com/office/drawing/2014/main" id="{0664B2F6-A1C7-4895-902B-0517FD9F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24125"/>
            <a:ext cx="1381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C2C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Participant 1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α₁</a:t>
            </a:r>
          </a:p>
        </p:txBody>
      </p:sp>
      <p:sp>
        <p:nvSpPr>
          <p:cNvPr id="51" name="S3 participant 2">
            <a:extLst xmlns:a="http://schemas.openxmlformats.org/drawingml/2006/main">
              <a:ext uri="{FF2B5EF4-FFF2-40B4-BE49-F238E27FC236}">
                <a16:creationId xmlns:a16="http://schemas.microsoft.com/office/drawing/2014/main" id="{74850AF5-99B6-45E9-86C8-6DD343EC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1381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C2C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Participant 2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α₂</a:t>
            </a:r>
          </a:p>
        </p:txBody>
      </p:sp>
      <p:sp>
        <p:nvSpPr>
          <p:cNvPr id="52" name="S3 participant J">
            <a:extLst xmlns:a="http://schemas.openxmlformats.org/drawingml/2006/main">
              <a:ext uri="{FF2B5EF4-FFF2-40B4-BE49-F238E27FC236}">
                <a16:creationId xmlns:a16="http://schemas.microsoft.com/office/drawing/2014/main" id="{8CE6A311-1F39-4122-9F62-4EAC1BD6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24125"/>
            <a:ext cx="1381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C2C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Participant I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αᵢ</a:t>
            </a:r>
          </a:p>
        </p:txBody>
      </p:sp>
      <p:sp>
        <p:nvSpPr>
          <p:cNvPr id="53" name="S3 data 1">
            <a:extLst xmlns:a="http://schemas.openxmlformats.org/drawingml/2006/main">
              <a:ext uri="{FF2B5EF4-FFF2-40B4-BE49-F238E27FC236}">
                <a16:creationId xmlns:a16="http://schemas.microsoft.com/office/drawing/2014/main" id="{030ECFFC-6346-427D-997F-FBA5477D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7200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1EF"/>
          </a:solidFill>
          <a:ln xmlns:a="http://schemas.openxmlformats.org/drawingml/2006/main" w="17145">
            <a:solidFill>
              <a:srgbClr val="7BA99E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choices + RTs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y₁</a:t>
            </a:r>
          </a:p>
        </p:txBody>
      </p:sp>
      <p:sp>
        <p:nvSpPr>
          <p:cNvPr id="54" name="S3 data 2">
            <a:extLst xmlns:a="http://schemas.openxmlformats.org/drawingml/2006/main">
              <a:ext uri="{FF2B5EF4-FFF2-40B4-BE49-F238E27FC236}">
                <a16:creationId xmlns:a16="http://schemas.microsoft.com/office/drawing/2014/main" id="{C032818F-C8A8-4E90-9DB7-00CD3F7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1EF"/>
          </a:solidFill>
          <a:ln xmlns:a="http://schemas.openxmlformats.org/drawingml/2006/main" w="17145">
            <a:solidFill>
              <a:srgbClr val="7BA99E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choices + RTs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y₂</a:t>
            </a:r>
          </a:p>
        </p:txBody>
      </p:sp>
      <p:sp>
        <p:nvSpPr>
          <p:cNvPr id="55" name="S3 data J">
            <a:extLst xmlns:a="http://schemas.openxmlformats.org/drawingml/2006/main">
              <a:ext uri="{FF2B5EF4-FFF2-40B4-BE49-F238E27FC236}">
                <a16:creationId xmlns:a16="http://schemas.microsoft.com/office/drawing/2014/main" id="{FBE2FC63-DDD5-4C7C-A27F-0609EAD8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1EF"/>
          </a:solidFill>
          <a:ln xmlns:a="http://schemas.openxmlformats.org/drawingml/2006/main" w="17145">
            <a:solidFill>
              <a:srgbClr val="7BA99E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choices + RTs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yᵢ</a:t>
            </a:r>
          </a:p>
        </p:txBody>
      </p:sp>
      <p:cxnSp>
        <p:nvCxnSpPr>
          <p:cNvPr id="307" name="S3 population to person 1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 flipH="1">
            <a:off x="7834313" y="1304925"/>
            <a:ext cx="1738313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8" name="S3 population to person 2"/>
          <p:cNvCxnSpPr>
            <a:stCxn xmlns:a="http://schemas.openxmlformats.org/drawingml/2006/main" id="49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 flipH="1">
            <a:off x="9548813" y="1304925"/>
            <a:ext cx="23813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9" name="S3 population to person J"/>
          <p:cNvCxnSpPr>
            <a:stCxn xmlns:a="http://schemas.openxmlformats.org/drawingml/2006/main" id="49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9572625" y="1304925"/>
            <a:ext cx="1690688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0" name="S3 person 1 to data"/>
          <p:cNvCxnSpPr>
            <a:stCxn xmlns:a="http://schemas.openxmlformats.org/drawingml/2006/main" id="50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7834313" y="320992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1" name="S3 person 2 to data"/>
          <p:cNvCxnSpPr>
            <a:stCxn xmlns:a="http://schemas.openxmlformats.org/drawingml/2006/main" id="51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9548813" y="320992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2" name="S3 person J to data"/>
          <p:cNvCxnSpPr>
            <a:stCxn xmlns:a="http://schemas.openxmlformats.org/drawingml/2006/main" id="52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11263313" y="320992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5" name="S3 hierarchy equation">
            <a:extLst xmlns:a="http://schemas.openxmlformats.org/drawingml/2006/main">
              <a:ext uri="{FF2B5EF4-FFF2-40B4-BE49-F238E27FC236}">
                <a16:creationId xmlns:a16="http://schemas.microsoft.com/office/drawing/2014/main" id="{3863D907-6C8F-487D-A466-E202E8C0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735" y="5905500"/>
            <a:ext cx="5117140" cy="6858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C2C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θᵢ = Xᵢαᵢ          αᵢ ∼ N(μᵢ,Σ)</a:t>
            </a:r>
          </a:p>
        </p:txBody>
      </p:sp>
    </p:spTree>
    <p:extLst>
      <p:ext uri="{BB962C8B-B14F-4D97-AF65-F5344CB8AC3E}">
        <p14:creationId xmlns:p14="http://schemas.microsoft.com/office/powerpoint/2010/main" val="4175056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F94AA2BD-2E3F-4B1D-8127-5744B811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425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408DF60-ADAB-F951-D3FE-D94F99BC1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1480" y="987552"/>
            <a:ext cx="4485861" cy="1088136"/>
          </a:xfrm>
        </p:spPr>
        <p:txBody>
          <a:bodyPr xmlns:a="http://schemas.openxmlformats.org/drawingml/2006/main" anchor="b">
            <a:normAutofit fontScale="97055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400">
                <a:latin typeface="Lato"/>
                <a:ea typeface="Lato"/>
                <a:cs typeface="Lato"/>
              </a:rPr>
              <a:t>If you know brms/lme4: translate the hierarchy</a:t>
            </a:r>
            <a:endParaRPr sz="3400">
              <a:latin typeface="Lato"/>
              <a:ea typeface="Lato"/>
              <a:cs typeface="Lato"/>
            </a:endParaRP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4BD02261-2DC8-4AA8-9E16-7751AE89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9223" y="387939"/>
            <a:ext cx="7315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3D752CF2-2291-40B5-B462-C17B174C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0"/>
            <a:ext cx="4389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3F5DE156-934E-AECE-B4BC-52B57E18D9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11478" y="2688336"/>
            <a:ext cx="5738909" cy="3584448"/>
          </a:xfrm>
        </p:spPr>
        <p:txBody>
          <a:bodyPr xmlns:a="http://schemas.openxmlformats.org/drawingml/2006/main" anchor="t">
            <a:normAutofit fontScale="93962"/>
          </a:bodyPr>
          <a:lstStyle xmlns:a="http://schemas.openxmlformats.org/drawingml/2006/main"/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Formula syntax chooses which terms vary by participant.</a:t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EMC2 makes every included cognitive coefficient participant-specific.</a:t>
            </a:r>
          </a:p>
          <a:p xmlns:a="http://schemas.openxmlformats.org/drawingml/2006/main">
            <a:pPr marL="457206" lvl="1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  <a:endParaRPr sz="20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The labels are design-dependent: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bias may be an intercept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drift may be a condition slope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8" name="S4 editable figure background">
            <a:extLst xmlns:a="http://schemas.openxmlformats.org/drawingml/2006/main">
              <a:ext uri="{FF2B5EF4-FFF2-40B4-BE49-F238E27FC236}">
                <a16:creationId xmlns:a16="http://schemas.microsoft.com/office/drawing/2014/main" id="{5BD8DAED-0BD2-4D24-9C6E-27925D2F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388" y="0"/>
            <a:ext cx="527961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S4 upper decision boundary">
            <a:extLst xmlns:a="http://schemas.openxmlformats.org/drawingml/2006/main">
              <a:ext uri="{FF2B5EF4-FFF2-40B4-BE49-F238E27FC236}">
                <a16:creationId xmlns:a16="http://schemas.microsoft.com/office/drawing/2014/main" id="{7454D509-59E6-4E34-A94D-B3FE25A8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43000"/>
            <a:ext cx="4333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S4 starting line">
            <a:extLst xmlns:a="http://schemas.openxmlformats.org/drawingml/2006/main">
              <a:ext uri="{FF2B5EF4-FFF2-40B4-BE49-F238E27FC236}">
                <a16:creationId xmlns:a16="http://schemas.microsoft.com/office/drawing/2014/main" id="{DE4B67BC-66B2-40EC-A58D-61A74AAE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4333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7AAAC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S4 lower decision boundary">
            <a:extLst xmlns:a="http://schemas.openxmlformats.org/drawingml/2006/main">
              <a:ext uri="{FF2B5EF4-FFF2-40B4-BE49-F238E27FC236}">
                <a16:creationId xmlns:a16="http://schemas.microsoft.com/office/drawing/2014/main" id="{7269B8A3-DD10-4FFC-992D-6035894F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10000"/>
            <a:ext cx="4333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S4 starting point">
            <a:extLst xmlns:a="http://schemas.openxmlformats.org/drawingml/2006/main">
              <a:ext uri="{FF2B5EF4-FFF2-40B4-BE49-F238E27FC236}">
                <a16:creationId xmlns:a16="http://schemas.microsoft.com/office/drawing/2014/main" id="{28A0C989-6559-4DCD-B647-CC9176E5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5715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4 upper accumulation path">
            <a:extLst xmlns:a="http://schemas.openxmlformats.org/drawingml/2006/main">
              <a:ext uri="{FF2B5EF4-FFF2-40B4-BE49-F238E27FC236}">
                <a16:creationId xmlns:a16="http://schemas.microsoft.com/office/drawing/2014/main" id="{7AC84C69-FB48-4A7B-B779-036D8896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90625"/>
            <a:ext cx="3143250" cy="1304925"/>
          </a:xfrm>
          <a:custGeom xmlns:a="http://schemas.openxmlformats.org/drawingml/2006/main">
            <a:rect l="0" t="0" r="0" b="0"/>
            <a:pathLst>
              <a:path w="3143250" h="1304925">
                <a:moveTo>
                  <a:pt x="0" y="1304925"/>
                </a:moveTo>
                <a:lnTo>
                  <a:pt x="266700" y="1219200"/>
                </a:lnTo>
                <a:lnTo>
                  <a:pt x="447675" y="1057275"/>
                </a:lnTo>
                <a:lnTo>
                  <a:pt x="685800" y="1114425"/>
                </a:lnTo>
                <a:lnTo>
                  <a:pt x="904875" y="876300"/>
                </a:lnTo>
                <a:lnTo>
                  <a:pt x="1162050" y="952500"/>
                </a:lnTo>
                <a:lnTo>
                  <a:pt x="1381125" y="666750"/>
                </a:lnTo>
                <a:lnTo>
                  <a:pt x="1619250" y="714375"/>
                </a:lnTo>
                <a:lnTo>
                  <a:pt x="1857375" y="476250"/>
                </a:lnTo>
                <a:lnTo>
                  <a:pt x="2124075" y="533400"/>
                </a:lnTo>
                <a:lnTo>
                  <a:pt x="2362200" y="266700"/>
                </a:lnTo>
                <a:lnTo>
                  <a:pt x="2619375" y="323850"/>
                </a:lnTo>
                <a:lnTo>
                  <a:pt x="285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4 upper accumulation path 2">
            <a:extLst xmlns:a="http://schemas.openxmlformats.org/drawingml/2006/main">
              <a:ext uri="{FF2B5EF4-FFF2-40B4-BE49-F238E27FC236}">
                <a16:creationId xmlns:a16="http://schemas.microsoft.com/office/drawing/2014/main" id="{B32FE612-8180-43F6-9C58-6E73C2F8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810000" cy="1066800"/>
          </a:xfrm>
          <a:custGeom xmlns:a="http://schemas.openxmlformats.org/drawingml/2006/main">
            <a:rect l="0" t="0" r="0" b="0"/>
            <a:pathLst>
              <a:path w="3810000" h="1066800">
                <a:moveTo>
                  <a:pt x="0" y="1066800"/>
                </a:moveTo>
                <a:lnTo>
                  <a:pt x="285750" y="962025"/>
                </a:lnTo>
                <a:lnTo>
                  <a:pt x="523875" y="1019175"/>
                </a:lnTo>
                <a:lnTo>
                  <a:pt x="800100" y="838200"/>
                </a:lnTo>
                <a:lnTo>
                  <a:pt x="1047750" y="914400"/>
                </a:lnTo>
                <a:lnTo>
                  <a:pt x="1333500" y="723900"/>
                </a:lnTo>
                <a:lnTo>
                  <a:pt x="1619250" y="771525"/>
                </a:lnTo>
                <a:lnTo>
                  <a:pt x="1952625" y="523875"/>
                </a:lnTo>
                <a:lnTo>
                  <a:pt x="2247900" y="609600"/>
                </a:lnTo>
                <a:lnTo>
                  <a:pt x="2571750" y="400050"/>
                </a:lnTo>
                <a:lnTo>
                  <a:pt x="2905125" y="476250"/>
                </a:lnTo>
                <a:lnTo>
                  <a:pt x="3219450" y="219075"/>
                </a:lnTo>
                <a:lnTo>
                  <a:pt x="352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4A1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S4 lower accumulation path">
            <a:extLst xmlns:a="http://schemas.openxmlformats.org/drawingml/2006/main">
              <a:ext uri="{FF2B5EF4-FFF2-40B4-BE49-F238E27FC236}">
                <a16:creationId xmlns:a16="http://schemas.microsoft.com/office/drawing/2014/main" id="{02BC0D18-57B6-4847-9BF1-842756D1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3333750" cy="1333500"/>
          </a:xfrm>
          <a:custGeom xmlns:a="http://schemas.openxmlformats.org/drawingml/2006/main">
            <a:rect l="0" t="0" r="0" b="0"/>
            <a:pathLst>
              <a:path w="3333750" h="1333500">
                <a:moveTo>
                  <a:pt x="0" y="0"/>
                </a:moveTo>
                <a:lnTo>
                  <a:pt x="285750" y="142875"/>
                </a:lnTo>
                <a:lnTo>
                  <a:pt x="571500" y="95250"/>
                </a:lnTo>
                <a:lnTo>
                  <a:pt x="857250" y="352425"/>
                </a:lnTo>
                <a:lnTo>
                  <a:pt x="1123950" y="276225"/>
                </a:lnTo>
                <a:lnTo>
                  <a:pt x="1428750" y="533400"/>
                </a:lnTo>
                <a:lnTo>
                  <a:pt x="1714500" y="457200"/>
                </a:lnTo>
                <a:lnTo>
                  <a:pt x="1981200" y="781050"/>
                </a:lnTo>
                <a:lnTo>
                  <a:pt x="2305050" y="704850"/>
                </a:lnTo>
                <a:lnTo>
                  <a:pt x="2619375" y="1000125"/>
                </a:lnTo>
                <a:lnTo>
                  <a:pt x="2952750" y="933450"/>
                </a:lnTo>
                <a:lnTo>
                  <a:pt x="3238500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S4 lower accumulation path 2">
            <a:extLst xmlns:a="http://schemas.openxmlformats.org/drawingml/2006/main">
              <a:ext uri="{FF2B5EF4-FFF2-40B4-BE49-F238E27FC236}">
                <a16:creationId xmlns:a16="http://schemas.microsoft.com/office/drawing/2014/main" id="{AB591A80-DD1C-4AAA-82C6-A718DBCF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4000500" cy="1123950"/>
          </a:xfrm>
          <a:custGeom xmlns:a="http://schemas.openxmlformats.org/drawingml/2006/main">
            <a:rect l="0" t="0" r="0" b="0"/>
            <a:pathLst>
              <a:path w="4000500" h="1123950">
                <a:moveTo>
                  <a:pt x="0" y="0"/>
                </a:moveTo>
                <a:lnTo>
                  <a:pt x="361950" y="104775"/>
                </a:lnTo>
                <a:lnTo>
                  <a:pt x="666750" y="57150"/>
                </a:lnTo>
                <a:lnTo>
                  <a:pt x="990600" y="228600"/>
                </a:lnTo>
                <a:lnTo>
                  <a:pt x="1314450" y="180975"/>
                </a:lnTo>
                <a:lnTo>
                  <a:pt x="1666875" y="419100"/>
                </a:lnTo>
                <a:lnTo>
                  <a:pt x="2019300" y="361950"/>
                </a:lnTo>
                <a:lnTo>
                  <a:pt x="2381250" y="619125"/>
                </a:lnTo>
                <a:lnTo>
                  <a:pt x="2762250" y="561975"/>
                </a:lnTo>
                <a:lnTo>
                  <a:pt x="3143250" y="790575"/>
                </a:lnTo>
                <a:lnTo>
                  <a:pt x="3524250" y="742950"/>
                </a:lnTo>
                <a:lnTo>
                  <a:pt x="3905250" y="11239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969A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S4 upper response label">
            <a:extLst xmlns:a="http://schemas.openxmlformats.org/drawingml/2006/main">
              <a:ext uri="{FF2B5EF4-FFF2-40B4-BE49-F238E27FC236}">
                <a16:creationId xmlns:a16="http://schemas.microsoft.com/office/drawing/2014/main" id="{6DC708B9-F464-415E-A917-44D49B08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62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0">
                <a:solidFill>
                  <a:srgbClr val="F05A28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F05A28"/>
                </a:solidFill>
                <a:latin typeface="Lato"/>
                <a:ea typeface="Lato"/>
                <a:cs typeface="Lato"/>
              </a:rPr>
              <a:t>upper-bound response</a:t>
            </a:r>
          </a:p>
        </p:txBody>
      </p:sp>
      <p:sp>
        <p:nvSpPr>
          <p:cNvPr id="58" name="S4 lower response label">
            <a:extLst xmlns:a="http://schemas.openxmlformats.org/drawingml/2006/main">
              <a:ext uri="{FF2B5EF4-FFF2-40B4-BE49-F238E27FC236}">
                <a16:creationId xmlns:a16="http://schemas.microsoft.com/office/drawing/2014/main" id="{4953449F-4792-4315-95D6-B2DCFB1D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lower-bound response</a:t>
            </a:r>
          </a:p>
        </p:txBody>
      </p:sp>
      <p:sp>
        <p:nvSpPr>
          <p:cNvPr id="60" name="S4 participant dot 1">
            <a:extLst xmlns:a="http://schemas.openxmlformats.org/drawingml/2006/main">
              <a:ext uri="{FF2B5EF4-FFF2-40B4-BE49-F238E27FC236}">
                <a16:creationId xmlns:a16="http://schemas.microsoft.com/office/drawing/2014/main" id="{F8A42C4F-27A3-485A-9341-BB5B1008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24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S4 participant dot 2">
            <a:extLst xmlns:a="http://schemas.openxmlformats.org/drawingml/2006/main">
              <a:ext uri="{FF2B5EF4-FFF2-40B4-BE49-F238E27FC236}">
                <a16:creationId xmlns:a16="http://schemas.microsoft.com/office/drawing/2014/main" id="{60AF336F-4EFF-4065-AE9C-271FA535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24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S4 participant dot 3">
            <a:extLst xmlns:a="http://schemas.openxmlformats.org/drawingml/2006/main">
              <a:ext uri="{FF2B5EF4-FFF2-40B4-BE49-F238E27FC236}">
                <a16:creationId xmlns:a16="http://schemas.microsoft.com/office/drawing/2014/main" id="{285B8C77-03E2-4C09-A0E2-EE2115FD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24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99E"/>
          </a:solidFill>
          <a:ln xmlns:a="http://schemas.openxmlformats.org/drawingml/2006/main" w="5715">
            <a:solidFill>
              <a:srgbClr val="7BA9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S4 participant dot 4">
            <a:extLst xmlns:a="http://schemas.openxmlformats.org/drawingml/2006/main">
              <a:ext uri="{FF2B5EF4-FFF2-40B4-BE49-F238E27FC236}">
                <a16:creationId xmlns:a16="http://schemas.microsoft.com/office/drawing/2014/main" id="{4170132F-F766-470A-BF4E-2533015F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24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S4 participant dot 5">
            <a:extLst xmlns:a="http://schemas.openxmlformats.org/drawingml/2006/main">
              <a:ext uri="{FF2B5EF4-FFF2-40B4-BE49-F238E27FC236}">
                <a16:creationId xmlns:a16="http://schemas.microsoft.com/office/drawing/2014/main" id="{A3447D67-DF7F-4AC9-AF71-4924E06A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24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S4 participant dot 6">
            <a:extLst xmlns:a="http://schemas.openxmlformats.org/drawingml/2006/main">
              <a:ext uri="{FF2B5EF4-FFF2-40B4-BE49-F238E27FC236}">
                <a16:creationId xmlns:a16="http://schemas.microsoft.com/office/drawing/2014/main" id="{B469B329-F1AF-4FD3-9CD9-637539BE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24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5715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S4 participant dot 7">
            <a:extLst xmlns:a="http://schemas.openxmlformats.org/drawingml/2006/main">
              <a:ext uri="{FF2B5EF4-FFF2-40B4-BE49-F238E27FC236}">
                <a16:creationId xmlns:a16="http://schemas.microsoft.com/office/drawing/2014/main" id="{3957304C-1377-4441-8E58-9552E949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S4 participant dot 8">
            <a:extLst xmlns:a="http://schemas.openxmlformats.org/drawingml/2006/main">
              <a:ext uri="{FF2B5EF4-FFF2-40B4-BE49-F238E27FC236}">
                <a16:creationId xmlns:a16="http://schemas.microsoft.com/office/drawing/2014/main" id="{CB213A3B-1228-492D-B605-8D070E1C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S4 participant dot 9">
            <a:extLst xmlns:a="http://schemas.openxmlformats.org/drawingml/2006/main">
              <a:ext uri="{FF2B5EF4-FFF2-40B4-BE49-F238E27FC236}">
                <a16:creationId xmlns:a16="http://schemas.microsoft.com/office/drawing/2014/main" id="{CFF7A3F6-31CE-4DA2-A3CC-E30C9185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S4 participant dot 10">
            <a:extLst xmlns:a="http://schemas.openxmlformats.org/drawingml/2006/main">
              <a:ext uri="{FF2B5EF4-FFF2-40B4-BE49-F238E27FC236}">
                <a16:creationId xmlns:a16="http://schemas.microsoft.com/office/drawing/2014/main" id="{482EF6BC-611E-488B-9D09-E7A84E5D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99E"/>
          </a:solidFill>
          <a:ln xmlns:a="http://schemas.openxmlformats.org/drawingml/2006/main" w="5715">
            <a:solidFill>
              <a:srgbClr val="7BA9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S4 participant dot 11">
            <a:extLst xmlns:a="http://schemas.openxmlformats.org/drawingml/2006/main">
              <a:ext uri="{FF2B5EF4-FFF2-40B4-BE49-F238E27FC236}">
                <a16:creationId xmlns:a16="http://schemas.microsoft.com/office/drawing/2014/main" id="{1F82F6C5-4D60-45A4-9E0D-0EC52569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S4 participant dot 12">
            <a:extLst xmlns:a="http://schemas.openxmlformats.org/drawingml/2006/main">
              <a:ext uri="{FF2B5EF4-FFF2-40B4-BE49-F238E27FC236}">
                <a16:creationId xmlns:a16="http://schemas.microsoft.com/office/drawing/2014/main" id="{322B804A-A135-40E9-A5E7-6621C0E5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S4 participant dot 13">
            <a:extLst xmlns:a="http://schemas.openxmlformats.org/drawingml/2006/main">
              <a:ext uri="{FF2B5EF4-FFF2-40B4-BE49-F238E27FC236}">
                <a16:creationId xmlns:a16="http://schemas.microsoft.com/office/drawing/2014/main" id="{872DA70F-1FBF-4709-B17F-26149C73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86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5715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S4 participant dot 14">
            <a:extLst xmlns:a="http://schemas.openxmlformats.org/drawingml/2006/main">
              <a:ext uri="{FF2B5EF4-FFF2-40B4-BE49-F238E27FC236}">
                <a16:creationId xmlns:a16="http://schemas.microsoft.com/office/drawing/2014/main" id="{E093278F-4E67-4814-86B1-BC5EF59F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86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S4 participant dot 15">
            <a:extLst xmlns:a="http://schemas.openxmlformats.org/drawingml/2006/main">
              <a:ext uri="{FF2B5EF4-FFF2-40B4-BE49-F238E27FC236}">
                <a16:creationId xmlns:a16="http://schemas.microsoft.com/office/drawing/2014/main" id="{E3916CBB-7ACC-4CCB-A3EB-CBC5DB6F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86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S4 participant dot 16">
            <a:extLst xmlns:a="http://schemas.openxmlformats.org/drawingml/2006/main">
              <a:ext uri="{FF2B5EF4-FFF2-40B4-BE49-F238E27FC236}">
                <a16:creationId xmlns:a16="http://schemas.microsoft.com/office/drawing/2014/main" id="{7CFBD0A4-104D-4E1D-9330-9BA67365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86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S4 participant dot 17">
            <a:extLst xmlns:a="http://schemas.openxmlformats.org/drawingml/2006/main">
              <a:ext uri="{FF2B5EF4-FFF2-40B4-BE49-F238E27FC236}">
                <a16:creationId xmlns:a16="http://schemas.microsoft.com/office/drawing/2014/main" id="{649658C9-479E-4EA9-9983-6E1D0668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286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99E"/>
          </a:solidFill>
          <a:ln xmlns:a="http://schemas.openxmlformats.org/drawingml/2006/main" w="5715">
            <a:solidFill>
              <a:srgbClr val="7BA9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S4 participant dot 18">
            <a:extLst xmlns:a="http://schemas.openxmlformats.org/drawingml/2006/main">
              <a:ext uri="{FF2B5EF4-FFF2-40B4-BE49-F238E27FC236}">
                <a16:creationId xmlns:a16="http://schemas.microsoft.com/office/drawing/2014/main" id="{9364344E-699F-4E62-BE37-F24DB48C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86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S4 participant dot 19">
            <a:extLst xmlns:a="http://schemas.openxmlformats.org/drawingml/2006/main">
              <a:ext uri="{FF2B5EF4-FFF2-40B4-BE49-F238E27FC236}">
                <a16:creationId xmlns:a16="http://schemas.microsoft.com/office/drawing/2014/main" id="{7C3BFD62-343B-4A79-BEEE-513B7D7B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67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S4 participant dot 20">
            <a:extLst xmlns:a="http://schemas.openxmlformats.org/drawingml/2006/main">
              <a:ext uri="{FF2B5EF4-FFF2-40B4-BE49-F238E27FC236}">
                <a16:creationId xmlns:a16="http://schemas.microsoft.com/office/drawing/2014/main" id="{4EC0C4B1-8818-442E-AB6C-EE69C5B1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667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S4 participant dot 21">
            <a:extLst xmlns:a="http://schemas.openxmlformats.org/drawingml/2006/main">
              <a:ext uri="{FF2B5EF4-FFF2-40B4-BE49-F238E27FC236}">
                <a16:creationId xmlns:a16="http://schemas.microsoft.com/office/drawing/2014/main" id="{3454981D-05F7-4F98-802F-86A32B9F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667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5715">
            <a:solidFill>
              <a:srgbClr val="F05A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1" name="S4 participant dot 22">
            <a:extLst xmlns:a="http://schemas.openxmlformats.org/drawingml/2006/main">
              <a:ext uri="{FF2B5EF4-FFF2-40B4-BE49-F238E27FC236}">
                <a16:creationId xmlns:a16="http://schemas.microsoft.com/office/drawing/2014/main" id="{6B7E5476-D6B9-48F4-87A3-25DB64BA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67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2" name="S4 participant dot 23">
            <a:extLst xmlns:a="http://schemas.openxmlformats.org/drawingml/2006/main">
              <a:ext uri="{FF2B5EF4-FFF2-40B4-BE49-F238E27FC236}">
                <a16:creationId xmlns:a16="http://schemas.microsoft.com/office/drawing/2014/main" id="{A0F54723-995D-4571-922E-D64B01AD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667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3" name="S4 participant dot 24">
            <a:extLst xmlns:a="http://schemas.openxmlformats.org/drawingml/2006/main">
              <a:ext uri="{FF2B5EF4-FFF2-40B4-BE49-F238E27FC236}">
                <a16:creationId xmlns:a16="http://schemas.microsoft.com/office/drawing/2014/main" id="{1BBB080C-9429-40F1-87EF-12FAC81E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667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C2C4"/>
          </a:solidFill>
          <a:ln xmlns:a="http://schemas.openxmlformats.org/drawingml/2006/main" w="5715">
            <a:solidFill>
              <a:srgbClr val="BFC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41750565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89A9A7A6-4AF3-7FED-3641-3C0F629F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636A28E-3E12-0474-8797-EAD4B6646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1480" y="987552"/>
            <a:ext cx="4485861" cy="1088136"/>
          </a:xfrm>
        </p:spPr>
        <p:txBody>
          <a:bodyPr xmlns:a="http://schemas.openxmlformats.org/drawingml/2006/main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EMC2 models the population mean—or a regression</a:t>
            </a:r>
            <a:endParaRPr sz="3400">
              <a:solidFill>
                <a:srgbClr val="00000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E5C279A0-DA6A-C6AE-D0CC-4550181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9223" y="387939"/>
            <a:ext cx="7315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2667B673-8664-7B83-A92C-D8A88DB4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0"/>
            <a:ext cx="4389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5888AE6E-DDA7-0F17-AF37-1998DFCA258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11479" y="2688336"/>
            <a:ext cx="4498848" cy="3584448"/>
          </a:xfr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Simplest hierarchy:</a:t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μ is common across people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Regression hierarchy: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μᵢ = Wᵢβ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Σ captures remaining heterogeneity and correlations.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8" name="S14 population surface">
            <a:extLst xmlns:a="http://schemas.openxmlformats.org/drawingml/2006/main">
              <a:ext uri="{FF2B5EF4-FFF2-40B4-BE49-F238E27FC236}">
                <a16:creationId xmlns:a16="http://schemas.microsoft.com/office/drawing/2014/main" id="{EE3CAD42-CC72-4F3D-A52D-BD06C0C5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238250"/>
            <a:ext cx="49530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BE7DE"/>
          </a:solidFill>
          <a:ln xmlns:a="http://schemas.openxmlformats.org/drawingml/2006/main" w="11906">
            <a:solidFill>
              <a:srgbClr val="E95C27"/>
            </a:solidFill>
            <a:prstDash val="solid"/>
          </a:ln>
        </p:spPr>
      </p:sp>
      <p:sp>
        <p:nvSpPr>
          <p:cNvPr id="49" name="S14 population equation">
            <a:extLst xmlns:a="http://schemas.openxmlformats.org/drawingml/2006/main">
              <a:ext uri="{FF2B5EF4-FFF2-40B4-BE49-F238E27FC236}">
                <a16:creationId xmlns:a16="http://schemas.microsoft.com/office/drawing/2014/main" id="{C030ED55-D0FE-4340-9D12-463DB324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71625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75" b="0">
                <a:solidFill>
                  <a:srgbClr val="242424"/>
                </a:solidFill>
                <a:latin typeface="Cambria Math"/>
                <a:ea typeface="Cambria Math"/>
                <a:cs typeface="Cambria Math"/>
              </a:defRPr>
            </a:pPr>
            <a:r>
              <a:rPr sz="3675" b="0">
                <a:solidFill>
                  <a:srgbClr val="242424"/>
                </a:solidFill>
                <a:latin typeface="Cambria Math"/>
                <a:ea typeface="Cambria Math"/>
                <a:cs typeface="Cambria Math"/>
              </a:rPr>
              <a:t>αᵢ  ∼  N(μᵢ, Σ)</a:t>
            </a:r>
          </a:p>
        </p:txBody>
      </p:sp>
      <p:sp>
        <p:nvSpPr>
          <p:cNvPr id="50" name="S14 regression surface">
            <a:extLst xmlns:a="http://schemas.openxmlformats.org/drawingml/2006/main">
              <a:ext uri="{FF2B5EF4-FFF2-40B4-BE49-F238E27FC236}">
                <a16:creationId xmlns:a16="http://schemas.microsoft.com/office/drawing/2014/main" id="{3BCB8DAF-E817-4D5E-8B22-5FBD3F7E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81375"/>
            <a:ext cx="49530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6F0EE"/>
          </a:solidFill>
          <a:ln xmlns:a="http://schemas.openxmlformats.org/drawingml/2006/main" w="11906">
            <a:solidFill>
              <a:srgbClr val="4E9288"/>
            </a:solidFill>
            <a:prstDash val="solid"/>
          </a:ln>
        </p:spPr>
      </p:sp>
      <p:sp>
        <p:nvSpPr>
          <p:cNvPr id="51" name="S14 regression equation">
            <a:extLst xmlns:a="http://schemas.openxmlformats.org/drawingml/2006/main">
              <a:ext uri="{FF2B5EF4-FFF2-40B4-BE49-F238E27FC236}">
                <a16:creationId xmlns:a16="http://schemas.microsoft.com/office/drawing/2014/main" id="{3EBBAC16-B908-414E-8A4F-D8AAC1D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67125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75" b="0">
                <a:solidFill>
                  <a:srgbClr val="242424"/>
                </a:solidFill>
                <a:latin typeface="Cambria Math"/>
                <a:ea typeface="Cambria Math"/>
                <a:cs typeface="Cambria Math"/>
              </a:defRPr>
            </a:pPr>
            <a:r>
              <a:rPr sz="3675" b="0">
                <a:solidFill>
                  <a:srgbClr val="242424"/>
                </a:solidFill>
                <a:latin typeface="Cambria Math"/>
                <a:ea typeface="Cambria Math"/>
                <a:cs typeface="Cambria Math"/>
              </a:rPr>
              <a:t>μᵢ  =  Wᵢ β</a:t>
            </a:r>
          </a:p>
        </p:txBody>
      </p:sp>
      <p:sp>
        <p:nvSpPr>
          <p:cNvPr id="52" name="S14 inference label">
            <a:extLst xmlns:a="http://schemas.openxmlformats.org/drawingml/2006/main">
              <a:ext uri="{FF2B5EF4-FFF2-40B4-BE49-F238E27FC236}">
                <a16:creationId xmlns:a16="http://schemas.microsoft.com/office/drawing/2014/main" id="{32FE6F55-D3FF-473E-82C3-0D005686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387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242424"/>
                </a:solidFill>
                <a:latin typeface="Lato"/>
                <a:ea typeface="Lato"/>
                <a:cs typeface="Lato"/>
              </a:rPr>
              <a:t>Group-level claims live in β and Σ.</a:t>
            </a:r>
          </a:p>
        </p:txBody>
      </p:sp>
    </p:spTree>
    <p:extLst>
      <p:ext uri="{BB962C8B-B14F-4D97-AF65-F5344CB8AC3E}">
        <p14:creationId xmlns:p14="http://schemas.microsoft.com/office/powerpoint/2010/main" val="9720390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F94AA2BD-2E3F-4B1D-8127-5744B811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408DF60-ADAB-F951-D3FE-D94F99BC1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1480" y="987552"/>
            <a:ext cx="4485861" cy="1088136"/>
          </a:xfrm>
        </p:spPr>
        <p:txBody>
          <a:bodyPr xmlns:a="http://schemas.openxmlformats.org/drawingml/2006/main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Factorization is EMC2's computational lever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4BD02261-2DC8-4AA8-9E16-7751AE89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9223" y="387939"/>
            <a:ext cx="7315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3D752CF2-2291-40B5-B462-C17B174C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0"/>
            <a:ext cx="4389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3F5DE156-934E-AECE-B4BC-52B57E18D9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11479" y="2688336"/>
            <a:ext cx="4498848" cy="3584448"/>
          </a:xfr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Conditional on μᵢ and Σ: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each participant is an independent block</a:t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αᵢ can be updated blockwise or in parallel</a:t>
            </a:r>
          </a:p>
          <a:p xmlns:a="http://schemas.openxmlformats.org/drawingml/2006/main">
            <a:pPr marL="18" indent="-12">
              <a:lnSpc>
                <a:spcPct val="92000"/>
              </a:lnSpc>
              <a:spcBef>
                <a:spcPts val="0"/>
              </a:spcBef>
              <a:buNone/>
            </a:pPr>
            <a:r>
              <a:t>• the shared population step reconnects everyone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18" indent="-12">
              <a:lnSpc>
                <a:spcPct val="92000"/>
              </a:lnSpc>
              <a:spcBef>
                <a:spcPts val="0"/>
              </a:spcBef>
              <a:buNone/>
            </a:pPr>
            <a: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18" indent="-12">
              <a:lnSpc>
                <a:spcPct val="92000"/>
              </a:lnSpc>
              <a:spcBef>
                <a:spcPts val="0"/>
              </a:spcBef>
              <a:buNone/>
            </a:pPr>
            <a:r>
              <a:t>This structure is deliberate.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8" name="S3 editable figure background">
            <a:extLst xmlns:a="http://schemas.openxmlformats.org/drawingml/2006/main">
              <a:ext uri="{FF2B5EF4-FFF2-40B4-BE49-F238E27FC236}">
                <a16:creationId xmlns:a16="http://schemas.microsoft.com/office/drawing/2014/main" id="{F58A4FAF-EBAC-4420-B914-882375C1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S3 population">
            <a:extLst xmlns:a="http://schemas.openxmlformats.org/drawingml/2006/main">
              <a:ext uri="{FF2B5EF4-FFF2-40B4-BE49-F238E27FC236}">
                <a16:creationId xmlns:a16="http://schemas.microsoft.com/office/drawing/2014/main" id="{71E8001A-BB1E-4AA4-B6D1-29B5CB4D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23875"/>
            <a:ext cx="342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BE4DB"/>
          </a:solidFill>
          <a:ln xmlns:a="http://schemas.openxmlformats.org/drawingml/2006/main" w="20955">
            <a:solidFill>
              <a:srgbClr val="F05A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20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Shared population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50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20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μᵢ, Σ</a:t>
            </a:r>
          </a:p>
        </p:txBody>
      </p:sp>
      <p:sp>
        <p:nvSpPr>
          <p:cNvPr id="50" name="S3 participant 1">
            <a:extLst xmlns:a="http://schemas.openxmlformats.org/drawingml/2006/main">
              <a:ext uri="{FF2B5EF4-FFF2-40B4-BE49-F238E27FC236}">
                <a16:creationId xmlns:a16="http://schemas.microsoft.com/office/drawing/2014/main" id="{0664B2F6-A1C7-4895-902B-0517FD9F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24125"/>
            <a:ext cx="1381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C2C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Block 1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α₁</a:t>
            </a:r>
          </a:p>
        </p:txBody>
      </p:sp>
      <p:sp>
        <p:nvSpPr>
          <p:cNvPr id="51" name="S3 participant 2">
            <a:extLst xmlns:a="http://schemas.openxmlformats.org/drawingml/2006/main">
              <a:ext uri="{FF2B5EF4-FFF2-40B4-BE49-F238E27FC236}">
                <a16:creationId xmlns:a16="http://schemas.microsoft.com/office/drawing/2014/main" id="{74850AF5-99B6-45E9-86C8-6DD343EC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1381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C2C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Block 2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α₂</a:t>
            </a:r>
          </a:p>
        </p:txBody>
      </p:sp>
      <p:sp>
        <p:nvSpPr>
          <p:cNvPr id="52" name="S3 participant J">
            <a:extLst xmlns:a="http://schemas.openxmlformats.org/drawingml/2006/main">
              <a:ext uri="{FF2B5EF4-FFF2-40B4-BE49-F238E27FC236}">
                <a16:creationId xmlns:a16="http://schemas.microsoft.com/office/drawing/2014/main" id="{8CE6A311-1F39-4122-9F62-4EAC1BD6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24125"/>
            <a:ext cx="1381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C2C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Block I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αᵢ</a:t>
            </a:r>
          </a:p>
        </p:txBody>
      </p:sp>
      <p:sp>
        <p:nvSpPr>
          <p:cNvPr id="53" name="S3 data 1">
            <a:extLst xmlns:a="http://schemas.openxmlformats.org/drawingml/2006/main">
              <a:ext uri="{FF2B5EF4-FFF2-40B4-BE49-F238E27FC236}">
                <a16:creationId xmlns:a16="http://schemas.microsoft.com/office/drawing/2014/main" id="{030ECFFC-6346-427D-997F-FBA5477D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7200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1EF"/>
          </a:solidFill>
          <a:ln xmlns:a="http://schemas.openxmlformats.org/drawingml/2006/main" w="17145">
            <a:solidFill>
              <a:srgbClr val="7BA99E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data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y₁</a:t>
            </a:r>
          </a:p>
        </p:txBody>
      </p:sp>
      <p:sp>
        <p:nvSpPr>
          <p:cNvPr id="54" name="S3 data 2">
            <a:extLst xmlns:a="http://schemas.openxmlformats.org/drawingml/2006/main">
              <a:ext uri="{FF2B5EF4-FFF2-40B4-BE49-F238E27FC236}">
                <a16:creationId xmlns:a16="http://schemas.microsoft.com/office/drawing/2014/main" id="{C032818F-C8A8-4E90-9DB7-00CD3F7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1EF"/>
          </a:solidFill>
          <a:ln xmlns:a="http://schemas.openxmlformats.org/drawingml/2006/main" w="17145">
            <a:solidFill>
              <a:srgbClr val="7BA99E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data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y₂</a:t>
            </a:r>
          </a:p>
        </p:txBody>
      </p:sp>
      <p:sp>
        <p:nvSpPr>
          <p:cNvPr id="55" name="S3 data J">
            <a:extLst xmlns:a="http://schemas.openxmlformats.org/drawingml/2006/main">
              <a:ext uri="{FF2B5EF4-FFF2-40B4-BE49-F238E27FC236}">
                <a16:creationId xmlns:a16="http://schemas.microsoft.com/office/drawing/2014/main" id="{FBE2FC63-DDD5-4C7C-A27F-0609EAD8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1EF"/>
          </a:solidFill>
          <a:ln xmlns:a="http://schemas.openxmlformats.org/drawingml/2006/main" w="17145">
            <a:solidFill>
              <a:srgbClr val="7BA99E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data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yᵢ</a:t>
            </a:r>
          </a:p>
        </p:txBody>
      </p:sp>
      <p:cxnSp>
        <p:nvCxnSpPr>
          <p:cNvPr id="307" name="S3 population to person 1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 flipH="1">
            <a:off x="7834313" y="1304925"/>
            <a:ext cx="1738313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8" name="S3 population to person 2"/>
          <p:cNvCxnSpPr>
            <a:stCxn xmlns:a="http://schemas.openxmlformats.org/drawingml/2006/main" id="49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 flipH="1">
            <a:off x="9548813" y="1304925"/>
            <a:ext cx="23813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9" name="S3 population to person J"/>
          <p:cNvCxnSpPr>
            <a:stCxn xmlns:a="http://schemas.openxmlformats.org/drawingml/2006/main" id="49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9572625" y="1304925"/>
            <a:ext cx="1690688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0" name="S3 person 1 to data"/>
          <p:cNvCxnSpPr>
            <a:stCxn xmlns:a="http://schemas.openxmlformats.org/drawingml/2006/main" id="50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7834313" y="320992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1" name="S3 person 2 to data"/>
          <p:cNvCxnSpPr>
            <a:stCxn xmlns:a="http://schemas.openxmlformats.org/drawingml/2006/main" id="51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9548813" y="320992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2" name="S3 person J to data"/>
          <p:cNvCxnSpPr>
            <a:stCxn xmlns:a="http://schemas.openxmlformats.org/drawingml/2006/main" id="52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11263313" y="320992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5" name="S3 hierarchy equation">
            <a:extLst xmlns:a="http://schemas.openxmlformats.org/drawingml/2006/main">
              <a:ext uri="{FF2B5EF4-FFF2-40B4-BE49-F238E27FC236}">
                <a16:creationId xmlns:a16="http://schemas.microsoft.com/office/drawing/2014/main" id="{3863D907-6C8F-487D-A466-E202E8C0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735" y="5905500"/>
            <a:ext cx="5117140" cy="6858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C2C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p(α₁,…,αᵢ | y,μ,Σ) ∝ ∏ᵢ p(yᵢ | αᵢ) p(αᵢ | μᵢ,Σ)</a:t>
            </a:r>
          </a:p>
        </p:txBody>
      </p:sp>
    </p:spTree>
    <p:extLst>
      <p:ext uri="{BB962C8B-B14F-4D97-AF65-F5344CB8AC3E}">
        <p14:creationId xmlns:p14="http://schemas.microsoft.com/office/powerpoint/2010/main" val="41750565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89A9A7A6-4AF3-7FED-3641-3C0F629F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636A28E-3E12-0474-8797-EAD4B6646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1480" y="987552"/>
            <a:ext cx="4485861" cy="1088136"/>
          </a:xfrm>
        </p:spPr>
        <p:txBody>
          <a:bodyPr xmlns:a="http://schemas.openxmlformats.org/drawingml/2006/main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Three rules to carry forward</a:t>
            </a:r>
            <a:endParaRPr sz="3400">
              <a:solidFill>
                <a:srgbClr val="00000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E5C279A0-DA6A-C6AE-D0CC-4550181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9223" y="387939"/>
            <a:ext cx="7315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2667B673-8664-7B83-A92C-D8A88DB4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0"/>
            <a:ext cx="4389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5888AE6E-DDA7-0F17-AF37-1998DFCA258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11479" y="2688336"/>
            <a:ext cx="4498848" cy="3584448"/>
          </a:xfr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1  Match the hierarchy to the data-generating process.</a:t>
            </a: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2  Let precision determine how much participants pool.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3  Make group claims from μ, Σ, or β—not from error-free point estimates.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/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 xmlns:a="http://schemas.openxmlformats.org/drawingml/2006/main"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EMC2 implements these rules with participant-complete blocks.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54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08a715d9624a61"/>
          <a:srcRect xmlns:a="http://schemas.openxmlformats.org/drawingml/2006/main" l="26691" t="0" r="266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0893" y="-25051"/>
            <a:ext cx="6571107" cy="7231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3902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2026-08-10T12:30:24.4870000Z</dcterms:created>
  <dcterms:modified xsi:type="dcterms:W3CDTF">2026-08-10T12:30:24.4870000Z</dcterms:modified>
</coreProperties>
</file>