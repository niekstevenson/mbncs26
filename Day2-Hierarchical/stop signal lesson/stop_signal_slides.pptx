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5" r:id="rId4"/>
    <p:sldId id="257" r:id="rId5"/>
    <p:sldId id="258" r:id="rId6"/>
    <p:sldId id="259" r:id="rId7"/>
    <p:sldId id="266" r:id="rId8"/>
    <p:sldId id="261" r:id="rId9"/>
    <p:sldId id="262" r:id="rId10"/>
    <p:sldId id="263" r:id="rId11"/>
    <p:sldId id="264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8"/>
  </p:normalViewPr>
  <p:slideViewPr>
    <p:cSldViewPr snapToGrid="0">
      <p:cViewPr>
        <p:scale>
          <a:sx n="105" d="100"/>
          <a:sy n="105" d="100"/>
        </p:scale>
        <p:origin x="86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DBA87-B09E-653F-2213-0BC498BA9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87AE07-30FC-6FB2-EF0E-20B89E0A9F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3845C-B783-F33D-143C-0B4673D2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66A53-88C4-0141-AFCB-72EB059BDE0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22173-0AE1-E99D-FE6A-ED256BDD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D5B3C-9F7D-8161-BCA7-A2590A9D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4498-A260-D14C-A00B-C6FE8680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302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A7B31-2824-76C6-197D-F7E7D7B80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1D7C0-6BDF-2DD5-BB33-D76B6A5B4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D7C38-C294-29DB-9522-2A19A6C1C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66A53-88C4-0141-AFCB-72EB059BDE0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CF746-2459-0C45-3C4B-32087B218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70AFB-E61A-F228-5BE0-EBAF8794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4498-A260-D14C-A00B-C6FE8680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20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D33C6-BA91-8745-F694-6A9F02E1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3517E-811E-4332-21A0-F2418F212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7086F-D9A8-9AD6-CDFE-BF3E83EA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66A53-88C4-0141-AFCB-72EB059BDE0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A21E4-8D13-5C6B-B8DB-0A7815894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C3476-75CC-4AC4-87F5-431ABCE4E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4498-A260-D14C-A00B-C6FE8680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34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8C8F2-AFCA-3A96-23A4-432826873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26A8-7E23-66A9-D550-E442885F92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F6DD0-5615-AFF8-75C7-257C0F27D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100B5-20C3-AD68-6305-FF51082E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66A53-88C4-0141-AFCB-72EB059BDE0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C5A38-4B07-59EA-D7F4-E1237CF38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0362E-9D1D-A88B-5D56-F0B585DF9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4498-A260-D14C-A00B-C6FE8680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0CD2D-EAD0-422F-5F17-83A174F65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F52F7-6EDD-0E3A-8649-EA5650991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E9EE1-C387-5C49-E1D8-BDBC17714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4BC6D5-52A0-CF57-5E66-A56CEC1FA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0FDF9C-CF54-3D0A-4ECC-4AAF278525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00DA0E-42E0-7326-15A7-70A5328B3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66A53-88C4-0141-AFCB-72EB059BDE0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D957C4-CBA2-E88D-E0BD-61FD0F761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AB4D3C-436D-6096-ACD7-21AE8024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4498-A260-D14C-A00B-C6FE8680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88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8F0C-1551-BABA-4640-25E1F3FD5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2A9F8B-B9AB-A839-DA14-93A037D00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66A53-88C4-0141-AFCB-72EB059BDE0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0191D2-65D4-6568-1CCB-E4C1C84CD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29508-1700-EB15-7813-2B546F4A8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4498-A260-D14C-A00B-C6FE8680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99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E50451-DFFC-EE49-8CF7-D0ABCAB0B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66A53-88C4-0141-AFCB-72EB059BDE0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22FF50-01EF-3B2E-1000-28D93FFCA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7B958-1EBC-40FA-CC33-25C171C6D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4498-A260-D14C-A00B-C6FE8680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82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63A6-DF6D-0D3F-DA6F-56E2F826B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01EF3-56A9-4FBB-5C75-B62EAB441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23031-DA67-6C26-2163-7E5F2AB04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5DD87-8531-E135-666E-0744CA25A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66A53-88C4-0141-AFCB-72EB059BDE0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A667D-2982-655F-A206-FC8FE0B26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D349B-8B82-4CBD-B61F-73ABF797C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4498-A260-D14C-A00B-C6FE8680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16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35FD8-714A-5AF4-CBE4-E1185BE3F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8F700-0F55-2A95-CCF3-2175A92C7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A4A8D-1888-B7D4-35AE-3C04901F7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0859B-D24E-C3E9-0085-4A99D4D5F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66A53-88C4-0141-AFCB-72EB059BDE0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45281-A4C3-08B9-56AB-2425CB910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7181B-2FF2-3A31-B372-6FEABD930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4498-A260-D14C-A00B-C6FE8680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56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A7759-B1E7-0B83-D0CE-152C24ED3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69AAEC-77D2-BB16-29E7-5ED82A920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8EB59-33DC-A273-4D60-C2207024E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66A53-88C4-0141-AFCB-72EB059BDE0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64419-DFE0-108B-F896-DDA3022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800F5-5BDC-50E1-399D-C3250676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4498-A260-D14C-A00B-C6FE8680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14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4551E4-4F51-800B-9F2F-11D097463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93066E-73E8-CF42-7499-BA2C3D10F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3EE78-36C9-7587-EDCC-DBFDCD4CF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66A53-88C4-0141-AFCB-72EB059BDE0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5816F-DB35-F7E5-EED8-F9AF47D0B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2DAE4-44E0-4121-C539-4FBCAE3A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4498-A260-D14C-A00B-C6FE8680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14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052730-7EFF-CEBE-83A3-9E8ED1429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FF3F8-02E1-8E3E-F4B2-44E04F337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12808-7A51-F1C4-3014-35F98E9C5D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66A53-88C4-0141-AFCB-72EB059BDE0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AED19-70C7-A739-3796-A03EE27D1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4B460-5813-B200-3C01-2A81D0D8E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34498-A260-D14C-A00B-C6FE8680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78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FE3F-56BF-71B3-106D-74798A46DF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Stop signal 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6B6F0-33D0-6100-EBBA-C7D7B684C8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Summer School 2026</a:t>
            </a:r>
          </a:p>
        </p:txBody>
      </p:sp>
    </p:spTree>
    <p:extLst>
      <p:ext uri="{BB962C8B-B14F-4D97-AF65-F5344CB8AC3E}">
        <p14:creationId xmlns:p14="http://schemas.microsoft.com/office/powerpoint/2010/main" val="381265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FDB92-AE46-B34C-527E-2197FDDDF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FBA9-FBF4-695C-ACBC-A8D2B6E8C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neuroscience of healthy ageing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2491F-3682-E7CB-DB68-131400EAA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of a researcher than an invoice-maker </a:t>
            </a:r>
          </a:p>
          <a:p>
            <a:r>
              <a:rPr lang="en-US" dirty="0"/>
              <a:t>Research interests </a:t>
            </a:r>
          </a:p>
          <a:p>
            <a:pPr lvl="1"/>
            <a:r>
              <a:rPr lang="en-US" dirty="0"/>
              <a:t>Motor and cognitive control</a:t>
            </a:r>
          </a:p>
          <a:p>
            <a:pPr lvl="1"/>
            <a:r>
              <a:rPr lang="en-US" dirty="0"/>
              <a:t>Healthy ageing</a:t>
            </a:r>
          </a:p>
          <a:p>
            <a:pPr lvl="1"/>
            <a:r>
              <a:rPr lang="en-US" dirty="0"/>
              <a:t>Different data types – </a:t>
            </a:r>
            <a:r>
              <a:rPr lang="en-US" dirty="0" err="1"/>
              <a:t>behavioural</a:t>
            </a:r>
            <a:r>
              <a:rPr lang="en-US" dirty="0"/>
              <a:t>, movement, physiological, neural </a:t>
            </a:r>
          </a:p>
          <a:p>
            <a:r>
              <a:rPr lang="en-US" dirty="0"/>
              <a:t>An EMC user not an EMC developer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771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F9374-6B35-6838-14B4-7FF804933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E194A-1FCA-3098-40F5-9DAC928DF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signal modelling in EMC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D355E-0211-B3D2-51EA-63A9AD779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a dev branch today </a:t>
            </a:r>
          </a:p>
          <a:p>
            <a:r>
              <a:rPr lang="en-US" dirty="0"/>
              <a:t>Stop signal part of EMC is undergoing changes </a:t>
            </a:r>
          </a:p>
          <a:p>
            <a:r>
              <a:rPr lang="en-US" dirty="0"/>
              <a:t>Tutorial paper coming in the next few months </a:t>
            </a:r>
          </a:p>
          <a:p>
            <a:r>
              <a:rPr lang="en-US" dirty="0"/>
              <a:t>Bit slow at the moment and doesn’t have full functionality </a:t>
            </a:r>
          </a:p>
          <a:p>
            <a:r>
              <a:rPr lang="en-US" dirty="0">
                <a:sym typeface="Wingdings" pitchFamily="2" charset="2"/>
              </a:rPr>
              <a:t>If you’re working with stop signal data – contact us!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753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F4276-86F1-2093-0DE0-D7285717E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785" y="338899"/>
            <a:ext cx="11027735" cy="1325563"/>
          </a:xfrm>
        </p:spPr>
        <p:txBody>
          <a:bodyPr/>
          <a:lstStyle/>
          <a:p>
            <a:r>
              <a:rPr lang="en-US" dirty="0"/>
              <a:t>Stop signal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74ABA-A17E-6D7D-B315-0EC83CBB6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4462"/>
            <a:ext cx="10515600" cy="4351338"/>
          </a:xfrm>
        </p:spPr>
        <p:txBody>
          <a:bodyPr/>
          <a:lstStyle/>
          <a:p>
            <a:r>
              <a:rPr lang="en-US" dirty="0"/>
              <a:t>Stop signal model is a race model </a:t>
            </a:r>
          </a:p>
          <a:p>
            <a:r>
              <a:rPr lang="en-US" dirty="0"/>
              <a:t>Using this part of EMC should feel somewhat familiar </a:t>
            </a:r>
          </a:p>
          <a:p>
            <a:r>
              <a:rPr lang="en-US" dirty="0"/>
              <a:t>If you’re not a stop signal person, you can use this lesson to consolidate your EMC knowledge </a:t>
            </a:r>
            <a:r>
              <a:rPr lang="en-US" dirty="0">
                <a:sym typeface="Wingdings" pitchFamily="2" charset="2"/>
              </a:rPr>
              <a:t>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1C0697-4ED3-EE5A-473D-22B9B52DFA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3" t="4270"/>
          <a:stretch>
            <a:fillRect/>
          </a:stretch>
        </p:blipFill>
        <p:spPr>
          <a:xfrm>
            <a:off x="1385040" y="3690269"/>
            <a:ext cx="8906540" cy="282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080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32D82-7C68-4808-F4D8-36FE175D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signal data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42A408-C181-96B8-59AD-EFBC5E038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197" y="365125"/>
            <a:ext cx="6353735" cy="68580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C38DD3-4C82-9BD5-0CAB-B9D90DF6C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4462"/>
            <a:ext cx="4450492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Requires S and R columns just like the other race models </a:t>
            </a:r>
          </a:p>
          <a:p>
            <a:r>
              <a:rPr lang="en-US" dirty="0"/>
              <a:t>Go and stop trials are identified by the SSD </a:t>
            </a:r>
          </a:p>
          <a:p>
            <a:pPr lvl="1"/>
            <a:r>
              <a:rPr lang="en-US" dirty="0"/>
              <a:t>SSD must be </a:t>
            </a:r>
            <a:r>
              <a:rPr lang="en-US" i="1" dirty="0"/>
              <a:t>Inf</a:t>
            </a:r>
            <a:r>
              <a:rPr lang="en-US" dirty="0"/>
              <a:t> for go trials </a:t>
            </a:r>
          </a:p>
          <a:p>
            <a:r>
              <a:rPr lang="en-US" dirty="0"/>
              <a:t>In correct stop trials, R will be NA </a:t>
            </a:r>
          </a:p>
          <a:p>
            <a:r>
              <a:rPr lang="en-US" dirty="0"/>
              <a:t>In failed stop trials, R will have a response direction</a:t>
            </a:r>
          </a:p>
          <a:p>
            <a:r>
              <a:rPr lang="en-US" dirty="0"/>
              <a:t>rt in seconds</a:t>
            </a:r>
          </a:p>
        </p:txBody>
      </p:sp>
    </p:spTree>
    <p:extLst>
      <p:ext uri="{BB962C8B-B14F-4D97-AF65-F5344CB8AC3E}">
        <p14:creationId xmlns:p14="http://schemas.microsoft.com/office/powerpoint/2010/main" val="3335431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09BDD-3173-B480-A2B5-C2118EBF0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signal trial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B1674-3AC7-C290-A64C-0AF90E1E7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Correct go – RT</a:t>
            </a:r>
          </a:p>
          <a:p>
            <a:r>
              <a:rPr lang="en-US" dirty="0"/>
              <a:t>Incorrect go </a:t>
            </a:r>
          </a:p>
          <a:p>
            <a:pPr lvl="1"/>
            <a:r>
              <a:rPr lang="en-US" dirty="0"/>
              <a:t>No response – </a:t>
            </a:r>
            <a:r>
              <a:rPr lang="en-US" dirty="0">
                <a:solidFill>
                  <a:srgbClr val="FF0000"/>
                </a:solidFill>
              </a:rPr>
              <a:t>no RT</a:t>
            </a:r>
          </a:p>
          <a:p>
            <a:pPr lvl="1"/>
            <a:r>
              <a:rPr lang="en-US" dirty="0"/>
              <a:t>Incorrect direction - RT</a:t>
            </a:r>
          </a:p>
          <a:p>
            <a:r>
              <a:rPr lang="en-US" dirty="0"/>
              <a:t>Correct stop – </a:t>
            </a:r>
            <a:r>
              <a:rPr lang="en-US" dirty="0">
                <a:solidFill>
                  <a:srgbClr val="FF0000"/>
                </a:solidFill>
              </a:rPr>
              <a:t>no RT</a:t>
            </a:r>
          </a:p>
          <a:p>
            <a:r>
              <a:rPr lang="en-US" dirty="0"/>
              <a:t>Incorrect stop – RT </a:t>
            </a:r>
          </a:p>
        </p:txBody>
      </p:sp>
    </p:spTree>
    <p:extLst>
      <p:ext uri="{BB962C8B-B14F-4D97-AF65-F5344CB8AC3E}">
        <p14:creationId xmlns:p14="http://schemas.microsoft.com/office/powerpoint/2010/main" val="2131352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1C45C-C670-5849-E15C-A82BF0CA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49829"/>
            <a:ext cx="10515600" cy="1325563"/>
          </a:xfrm>
        </p:spPr>
        <p:txBody>
          <a:bodyPr/>
          <a:lstStyle/>
          <a:p>
            <a:r>
              <a:rPr lang="en-US" dirty="0"/>
              <a:t>(switch to R)</a:t>
            </a:r>
          </a:p>
        </p:txBody>
      </p:sp>
    </p:spTree>
    <p:extLst>
      <p:ext uri="{BB962C8B-B14F-4D97-AF65-F5344CB8AC3E}">
        <p14:creationId xmlns:p14="http://schemas.microsoft.com/office/powerpoint/2010/main" val="1748871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0BDAF-76C1-B693-9C02-17CE61B56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signal assumptions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1268F-3D2A-3E6F-7076-67FD73367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Fundamentally the stop signal models are trying to estimate a latent process: the stop process </a:t>
            </a:r>
          </a:p>
          <a:p>
            <a:r>
              <a:rPr lang="en-US" dirty="0"/>
              <a:t>This is an instance of an initiated movement being interrupted or cancelled as it was happening </a:t>
            </a:r>
          </a:p>
          <a:p>
            <a:r>
              <a:rPr lang="en-US" dirty="0"/>
              <a:t>Can be difficult to get participants to do the task properly </a:t>
            </a:r>
          </a:p>
          <a:p>
            <a:pPr lvl="1"/>
            <a:r>
              <a:rPr lang="en-US" dirty="0"/>
              <a:t>Task instructions </a:t>
            </a:r>
          </a:p>
          <a:p>
            <a:pPr lvl="1"/>
            <a:r>
              <a:rPr lang="en-US" dirty="0"/>
              <a:t>Check your data </a:t>
            </a:r>
          </a:p>
          <a:p>
            <a:pPr lvl="1"/>
            <a:r>
              <a:rPr lang="en-US" dirty="0"/>
              <a:t>Easier to fix data problems earlier than later </a:t>
            </a:r>
            <a:r>
              <a:rPr lang="en-US" dirty="0">
                <a:sym typeface="Wingdings" pitchFamily="2" charset="2"/>
              </a:rPr>
              <a:t>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132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D7B7B-87CB-E010-ECB9-68C3AADF3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problems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F4A3-9777-FF67-84E2-8BAD1605B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468" y="1461954"/>
            <a:ext cx="9147546" cy="4351338"/>
          </a:xfrm>
        </p:spPr>
        <p:txBody>
          <a:bodyPr/>
          <a:lstStyle/>
          <a:p>
            <a:r>
              <a:rPr lang="en-US" dirty="0"/>
              <a:t>Waiting strategies – participants will slow down and wait for a response</a:t>
            </a:r>
          </a:p>
          <a:p>
            <a:r>
              <a:rPr lang="en-US" dirty="0"/>
              <a:t>We need a lot of errors – participants don’t like this </a:t>
            </a:r>
          </a:p>
          <a:p>
            <a:r>
              <a:rPr lang="en-US" dirty="0"/>
              <a:t>Challenging from both a neuroscience and modelling perspective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3E245D-016A-67E6-E27E-696F3A09A239}"/>
              </a:ext>
            </a:extLst>
          </p:cNvPr>
          <p:cNvSpPr txBox="1"/>
          <p:nvPr/>
        </p:nvSpPr>
        <p:spPr>
          <a:xfrm>
            <a:off x="6826104" y="3934048"/>
            <a:ext cx="4646428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A consensus guide to capturing the ability to inhibit actions and impulsive behaviors in the stop-signal task</a:t>
            </a:r>
          </a:p>
          <a:p>
            <a:pPr algn="ctr"/>
            <a:r>
              <a:rPr lang="en-US" dirty="0"/>
              <a:t>Vebruggen et al, 2019 </a:t>
            </a:r>
            <a:r>
              <a:rPr lang="en-US" i="1" dirty="0"/>
              <a:t>eLife</a:t>
            </a:r>
          </a:p>
          <a:p>
            <a:pPr algn="ctr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65568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D9EF-4FC3-1C2C-6DC4-31A1F8E4D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stop-signal delays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614036-E93B-E12F-7506-25D751598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287" y="1938744"/>
            <a:ext cx="6251713" cy="39197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4F2ACE-E745-EB2A-DE83-4D9B2C9FF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29" y="1938744"/>
            <a:ext cx="5886080" cy="36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118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CD38B-4424-4C4B-8919-5E249BEC2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1357F-0D1E-B98B-3CDD-3FD966CE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stop-signal delays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1E005C-4D22-1500-0274-D80FDEDCC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168" y="2073713"/>
            <a:ext cx="5862632" cy="36758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B6A939-03E8-063B-7A34-53EBA4B418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7" r="4178"/>
          <a:stretch>
            <a:fillRect/>
          </a:stretch>
        </p:blipFill>
        <p:spPr>
          <a:xfrm>
            <a:off x="243841" y="1933914"/>
            <a:ext cx="5632704" cy="372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945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32BE7-0AE8-B5F6-540A-9EDE0AD34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352FC-DE19-3B3C-D4E9-AED5A13DE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carefully about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416A5-04CB-D187-C440-B8914505E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Inspecting your individual level data is really important </a:t>
            </a:r>
          </a:p>
          <a:p>
            <a:pPr lvl="1"/>
            <a:r>
              <a:rPr lang="en-US" dirty="0"/>
              <a:t>Try to have a good idea of what participants are doing and what happened with some of the oddball participants </a:t>
            </a:r>
          </a:p>
          <a:p>
            <a:r>
              <a:rPr lang="en-US" dirty="0"/>
              <a:t>Particularly important with older people or clinical groups – make sure you think through </a:t>
            </a:r>
            <a:r>
              <a:rPr lang="en-US" i="1" dirty="0"/>
              <a:t>why </a:t>
            </a:r>
            <a:r>
              <a:rPr lang="en-US" dirty="0"/>
              <a:t>this may have happened </a:t>
            </a:r>
          </a:p>
          <a:p>
            <a:r>
              <a:rPr lang="en-US" dirty="0"/>
              <a:t>No easy answer (sorry!)  </a:t>
            </a:r>
          </a:p>
        </p:txBody>
      </p:sp>
    </p:spTree>
    <p:extLst>
      <p:ext uri="{BB962C8B-B14F-4D97-AF65-F5344CB8AC3E}">
        <p14:creationId xmlns:p14="http://schemas.microsoft.com/office/powerpoint/2010/main" val="1626509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395</Words>
  <Application>Microsoft Macintosh PowerPoint</Application>
  <PresentationFormat>Widescreen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Stop signal tutorial</vt:lpstr>
      <vt:lpstr>Cognitive neuroscience of healthy ageing</vt:lpstr>
      <vt:lpstr>Stop signal modelling in EMC</vt:lpstr>
      <vt:lpstr>Stop signal modelling</vt:lpstr>
      <vt:lpstr>Stop signal data </vt:lpstr>
      <vt:lpstr>Stop signal trial types</vt:lpstr>
      <vt:lpstr>(switch to R)</vt:lpstr>
      <vt:lpstr>Stop signal assumptions </vt:lpstr>
      <vt:lpstr>Common problems </vt:lpstr>
      <vt:lpstr>Checking stop-signal delays</vt:lpstr>
      <vt:lpstr>Checking stop-signal delays</vt:lpstr>
      <vt:lpstr>Think carefully about your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Kemp</dc:creator>
  <cp:lastModifiedBy>Sarah Kemp</cp:lastModifiedBy>
  <cp:revision>1</cp:revision>
  <dcterms:created xsi:type="dcterms:W3CDTF">2026-08-10T09:04:50Z</dcterms:created>
  <dcterms:modified xsi:type="dcterms:W3CDTF">2026-08-10T20:29:54Z</dcterms:modified>
</cp:coreProperties>
</file>