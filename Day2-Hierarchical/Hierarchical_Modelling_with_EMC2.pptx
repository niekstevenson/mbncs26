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8"/>
  </p:normalViewPr>
  <p:slideViewPr>
    <p:cSldViewPr snapToGrid="0">
      <p:cViewPr varScale="1">
        <p:scale>
          <a:sx n="126" d="100"/>
          <a:sy n="126" d="100"/>
        </p:scale>
        <p:origin x="22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~30 seconds.</a:t>
            </a:r>
          </a:p>
          <a:p>
            <a:r>
              <a:t>Frame the lesson around one question: how do we learn about a population without pretending that participant estimates are noise-free?</a:t>
            </a:r>
          </a:p>
          <a:p>
            <a:r>
              <a:t>Preview the route: pooling, measurement error, group inference, then EMC2's implementation.</a:t>
            </a:r>
          </a:p>
          <a:p>
            <a:endParaRPr/>
          </a:p>
          <a:p>
            <a:r>
              <a:t>[Sources]</a:t>
            </a:r>
          </a:p>
          <a:p>
            <a:r>
              <a:t>- /Users/nstevenson/Documents/2026/BayesFlow_comp/mathpsych-editable-v7.pptx, slide 1 (visual template)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~1 minute.</a:t>
            </a:r>
          </a:p>
          <a:p>
            <a:r>
              <a:t>Use a familiar repeated-measures example: many reaction times from each participant.</a:t>
            </a:r>
          </a:p>
          <a:p>
            <a:r>
              <a:t>The hierarchy is not decoration; it mirrors how the data were generated and where the scientific question lives.</a:t>
            </a:r>
          </a:p>
          <a:p>
            <a:endParaRPr/>
          </a:p>
          <a:p>
            <a:r>
              <a:t>[Sources]</a:t>
            </a:r>
          </a:p>
          <a:p>
            <a:r>
              <a:t>- /Users/nstevenson/Documents/2026/BayesFlow_comp/mathpsych-editable-v7.pptx, slide 2</a:t>
            </a:r>
          </a:p>
          <a:p>
            <a:r>
              <a:t>- /Users/nstevenson/Documents/2026/MBNCSS26/Day2-Hierarchical/Model-Based Neuroscience &amp; Cognition Summer School 2025.pptx, slides 3-11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~1.25 minutes.</a:t>
            </a:r>
          </a:p>
          <a:p>
            <a:r>
              <a:t>Ask the room which participant should move most under partial pooling.</a:t>
            </a:r>
          </a:p>
          <a:p>
            <a:r>
              <a:t>Stress that partial pooling is adaptive, not a fixed compromise: stronger data move less.</a:t>
            </a:r>
          </a:p>
          <a:p>
            <a:r>
              <a:t>Separate fitting becomes problematic when the resulting point estimates are treated as error-free observations in a second analysis.</a:t>
            </a:r>
          </a:p>
          <a:p>
            <a:endParaRPr/>
          </a:p>
          <a:p>
            <a:r>
              <a:t>[Sources]</a:t>
            </a:r>
          </a:p>
          <a:p>
            <a:r>
              <a:t>- /Users/nstevenson/Documents/2026/BayesFlow_comp/mathpsych-editable-v7.pptx, slide 3</a:t>
            </a:r>
          </a:p>
          <a:p>
            <a:r>
              <a:t>- /Users/nstevenson/Documents/2025/EMC2_tutorial/LatexFiles/main.tex, Two-Step Inference and Hierarchical Modeling sections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~1.25 minutes.</a:t>
            </a:r>
          </a:p>
          <a:p>
            <a:r>
              <a:t>Read the diagram top-down as a generative model, then bottom-up as posterior learning.</a:t>
            </a:r>
          </a:p>
          <a:p>
            <a:r>
              <a:t>Participants are distinct, but connected through shared population parameters.</a:t>
            </a:r>
          </a:p>
          <a:p>
            <a:endParaRPr/>
          </a:p>
          <a:p>
            <a:r>
              <a:t>[Sources]</a:t>
            </a:r>
          </a:p>
          <a:p>
            <a:r>
              <a:t>- /Users/nstevenson/Documents/2026/BayesFlow_comp/mathpsych-editable-v7.pptx, slide 4</a:t>
            </a:r>
          </a:p>
          <a:p>
            <a:r>
              <a:t>- /Users/nstevenson/Documents/2025/EMC2_tutorial/LatexFiles/main.tex, Hierarchical Modeling section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~1 minute.</a:t>
            </a:r>
          </a:p>
          <a:p>
            <a:r>
              <a:t>Define epsilon broadly as finite-data estimation error caused by trial variability and limited information; tau-squared is the variance of that participant's estimate.</a:t>
            </a:r>
          </a:p>
          <a:p>
            <a:r>
              <a:t>Do not imply that every within-person fluctuation is merely bad data; it enters the likelihood and determines precision.</a:t>
            </a:r>
          </a:p>
          <a:p>
            <a:endParaRPr/>
          </a:p>
          <a:p>
            <a:r>
              <a:t>[Sources]</a:t>
            </a:r>
          </a:p>
          <a:p>
            <a:r>
              <a:t>- /Users/nstevenson/Documents/2026/MBNCSS26/Day2-Hierarchical/Model-Based Neuroscience &amp; Cognition Summer School 2025.pptx, slides 5-9</a:t>
            </a:r>
          </a:p>
          <a:p>
            <a:r>
              <a:t>- /Users/nstevenson/Documents/2025/EMC2_tutorial/LatexFiles/main.tex, lines 473-489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~1.25 minutes.</a:t>
            </a:r>
          </a:p>
          <a:p>
            <a:r>
              <a:t>This decomposition assumes independent, mean-zero estimation error.</a:t>
            </a:r>
          </a:p>
          <a:p>
            <a:r>
              <a:t>Sigma-squared denotes between-person variance; tau-squared-i denotes participant i's estimation variance, so the across-participant decomposition uses its average. With equal precision this reduces to sigma-squared plus tau-squared.</a:t>
            </a:r>
          </a:p>
          <a:p>
            <a:r>
              <a:t>Tau-squared usually falls as the number and informativeness of trials increase, so the same population can appear more heterogeneous when participant estimates are weak.</a:t>
            </a:r>
          </a:p>
          <a:p>
            <a:r>
              <a:t>Separate two-step fits cannot distinguish these two variance components without carrying estimate uncertainty forward.</a:t>
            </a:r>
          </a:p>
          <a:p>
            <a:endParaRPr/>
          </a:p>
          <a:p>
            <a:r>
              <a:t>[Sources]</a:t>
            </a:r>
          </a:p>
          <a:p>
            <a:r>
              <a:t>- /Users/nstevenson/Documents/2026/MBNCSS26/Day2-Hierarchical/Model-Based Neuroscience &amp; Cognition Summer School 2025.pptx, slides 12-16</a:t>
            </a:r>
          </a:p>
          <a:p>
            <a:r>
              <a:t>- /Users/nstevenson/Documents/2025/EMC2_tutorial/LatexFiles/main.tex, equation var_est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~1.25 minutes.</a:t>
            </a:r>
          </a:p>
          <a:p>
            <a:r>
              <a:t>Present lambda as reliability in a simple normal-normal approximation with known participant-level estimate variance—not as a universal closed-form formula for cognitive models.</a:t>
            </a:r>
          </a:p>
          <a:p>
            <a:r>
              <a:t>The general principle survives: posterior shrinkage reflects likelihood information relative to population variability.</a:t>
            </a:r>
          </a:p>
          <a:p>
            <a:endParaRPr/>
          </a:p>
          <a:p>
            <a:r>
              <a:t>[Sources]</a:t>
            </a:r>
          </a:p>
          <a:p>
            <a:r>
              <a:t>- /Users/nstevenson/Documents/2026/MBNCSS26/Day2-Hierarchical/Model-Based Neuroscience &amp; Cognition Summer School 2025.pptx, slides 19 and 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~1.5 minutes.</a:t>
            </a:r>
          </a:p>
          <a:p>
            <a:r>
              <a:t>Read across the columns first: 80 trials versus 640 trials.</a:t>
            </a:r>
          </a:p>
          <a:p>
            <a:r>
              <a:t>Then compare rows: more participants estimate the population more precisely, which can strengthen pooling of weak local estimates.</a:t>
            </a:r>
          </a:p>
          <a:p>
            <a:r>
              <a:t>Do not describe shrinkage as bias removal at the individual level; it is regularization under the population model.</a:t>
            </a:r>
          </a:p>
          <a:p>
            <a:endParaRPr/>
          </a:p>
          <a:p>
            <a:r>
              <a:t>[Sources]</a:t>
            </a:r>
          </a:p>
          <a:p>
            <a:r>
              <a:t>- /Users/nstevenson/Documents/2025/EMC2_tutorial/LatexFiles/figs/shrinkage.pdf</a:t>
            </a:r>
          </a:p>
          <a:p>
            <a:r>
              <a:t>- /Users/nstevenson/Documents/2025/EMC2_tutorial/LatexFiles/main.tex, Framework Benefits: Regularization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~1.75 minutes.</a:t>
            </a:r>
          </a:p>
          <a:p>
            <a:r>
              <a:t>This crop uses the first two rows of the original figure: response-bias population variance and between-session response-bias correlation. Columns are 80 and 640 trials.</a:t>
            </a:r>
          </a:p>
          <a:p>
            <a:r>
              <a:t>Dashed lines are two-step; solid lines are hierarchical. Two-step variance is inflated and correlations are attenuated when local estimates are noisy.</a:t>
            </a:r>
          </a:p>
          <a:p>
            <a:r>
              <a:t>Regression bias is not automatic: it requires estimation error related to the predictor. Classical outcome noise alone would mainly increase uncertainty.</a:t>
            </a:r>
          </a:p>
          <a:p>
            <a:r>
              <a:t>This figure uses a broader subject-count grid, including S=500, than the shrinkage figure on the previous slide; treat them as separate simulations.</a:t>
            </a:r>
          </a:p>
          <a:p>
            <a:endParaRPr/>
          </a:p>
          <a:p>
            <a:r>
              <a:t>[Sources]</a:t>
            </a:r>
          </a:p>
          <a:p>
            <a:r>
              <a:t>- /Users/nstevenson/Documents/2025/EMC2_tutorial/LatexFiles/figs/posteriors.pdf</a:t>
            </a:r>
          </a:p>
          <a:p>
            <a:r>
              <a:t>- /Users/nstevenson/Documents/2025/EMC2_tutorial/LatexFiles/main.tex, Framework Benefits: Inference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~1.5 minutes.</a:t>
            </a:r>
          </a:p>
          <a:p>
            <a:r>
              <a:t>Separate the three inferential targets: location, heterogeneity/covariance, and regression effects.</a:t>
            </a:r>
          </a:p>
          <a:p>
            <a:r>
              <a:t>A posterior contrast or Bayes factor is computed from these population quantities, not by exporting point estimates into another analysis.</a:t>
            </a:r>
          </a:p>
          <a:p>
            <a:endParaRPr/>
          </a:p>
          <a:p>
            <a:r>
              <a:t>[Sources]</a:t>
            </a:r>
          </a:p>
          <a:p>
            <a:r>
              <a:t>- /Users/nstevenson/Documents/2025/EMC2_tutorial/LatexFiles/main.tex, Population-level GLM section</a:t>
            </a:r>
          </a:p>
          <a:p>
            <a:r>
              <a:t>- /Users/nstevenson/Documents/2026/BayesFlow_comp/mathpsych-editable-v7.pptx, slide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~1.5 minutes.</a:t>
            </a:r>
          </a:p>
          <a:p>
            <a:r>
              <a:t>Be precise: every local coefficient included in the cognitive-model design is participant-specific. Shared beta, mu, and Sigma are not participant-specific, and trial-level theta values are deterministic functions of X alpha.</a:t>
            </a:r>
          </a:p>
          <a:p>
            <a:r>
              <a:t>The covariance matrix can express correlations among participant coefficients.</a:t>
            </a:r>
          </a:p>
          <a:p>
            <a:endParaRPr/>
          </a:p>
          <a:p>
            <a:r>
              <a:t>[Sources]</a:t>
            </a:r>
          </a:p>
          <a:p>
            <a:r>
              <a:t>- /Users/nstevenson/Documents/2025/EMC2_tutorial/LatexFiles/main.tex, Data-level EAM and Population-level GLM sections</a:t>
            </a:r>
          </a:p>
          <a:p>
            <a:r>
              <a:t>- /Users/nstevenson/Documents/2026/BayesFlow_comp/mathpsych-editable-v7.pptx, slide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~1.5 minutes.</a:t>
            </a:r>
          </a:p>
          <a:p>
            <a:r>
              <a:t>This is a hierarchy crosswalk, not a brms lesson; the response likelihoods are different.</a:t>
            </a:r>
          </a:p>
          <a:p>
            <a:r>
              <a:t>In brms/lme4, terms outside the bar are population terms and the subject-level bar explicitly selects which coefficients vary.</a:t>
            </a:r>
          </a:p>
          <a:p>
            <a:r>
              <a:t>In EMC2, a subjects column is required but (1 | subject) is omitted: every free coefficient returned by design() gets a participant index.</a:t>
            </a:r>
          </a:p>
          <a:p>
            <a:r>
              <a:t>Thus EMC2 v ~ x corresponds at the hierarchy level to a population intercept and x effect plus a participant-varying intercept and x slope.</a:t>
            </a:r>
          </a:p>
          <a:p>
            <a:r>
              <a:t>Call this a constrained subset only at the participant hierarchy or linear-predictor level; EMC2 also uses specialized evidence-accumulation likelihoods.</a:t>
            </a:r>
          </a:p>
          <a:p>
            <a:endParaRPr/>
          </a:p>
          <a:p>
            <a:r>
              <a:t>[Sources]</a:t>
            </a:r>
          </a:p>
          <a:p>
            <a:r>
              <a:t>- /Users/nstevenson/Documents/2025/EMC2_tutorial/Rfiles/Manning2022/analysis.Rmd, subject-level design section</a:t>
            </a:r>
          </a:p>
          <a:p>
            <a:r>
              <a:t>- https://paulbuerkner.com/brms/reference/brmsformula.html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~1.5 minutes.</a:t>
            </a:r>
          </a:p>
          <a:p>
            <a:r>
              <a:t>design() defines the local cognitive-model coefficients. Every free coefficient it returns has an alpha value for every participant; only known constants are excluded.</a:t>
            </a:r>
          </a:p>
          <a:p>
            <a:r>
              <a:t>The displayed v_conditionB assumes treatment coding with level B. In actual code, every group_design() left-hand side must exactly match a name returned by sampled_pars(subject_design).</a:t>
            </a:r>
          </a:p>
          <a:p>
            <a:r>
              <a:t>group_design() regresses the means of those existing alpha coefficients on person-level predictors. It does not create the participant effect.</a:t>
            </a:r>
          </a:p>
          <a:p>
            <a:r>
              <a:t>If a coefficient is omitted from group_design(), EMC2 retains its hierarchical intercept and variance; it merely has no population predictor effect.</a:t>
            </a:r>
          </a:p>
          <a:p>
            <a:r>
              <a:t>EMC2 can also include higher-level terms such as (1 | university) inside group_design(); the constraint described here is specifically the primary participant layer.</a:t>
            </a:r>
          </a:p>
          <a:p>
            <a:r>
              <a:t>Sigma is the residual between-participant covariance matrix after the population regression.</a:t>
            </a:r>
          </a:p>
          <a:p>
            <a:endParaRPr/>
          </a:p>
          <a:p>
            <a:r>
              <a:t>[Sources]</a:t>
            </a:r>
          </a:p>
          <a:p>
            <a:r>
              <a:t>- /Users/nstevenson/Documents/2025/EMC2_tutorial/Rfiles/Manning2022/analysis.Rmd, subject-level design and group design sections</a:t>
            </a:r>
          </a:p>
          <a:p>
            <a:r>
              <a:t>- /Users/nstevenson/Documents/2025/EMC2_tutorial/Rfiles/analysis.R, group_design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~1.25 minutes.</a:t>
            </a:r>
          </a:p>
          <a:p>
            <a:r>
              <a:t>Participants are conditionally—not marginally—independent. They still borrow information because mu and Sigma are learned from everybody.</a:t>
            </a:r>
          </a:p>
          <a:p>
            <a:r>
              <a:t>Conditional independence is not unique to EMC2. EMC2's advantage is that its participant-complete architecture preserves this partition and its specialized computation exploits it.</a:t>
            </a:r>
          </a:p>
          <a:p>
            <a:r>
              <a:t>More general shared, crossed, or multi-membership structures are easier to express in brms/Stan but can prevent a pure participant-wise partition.</a:t>
            </a:r>
          </a:p>
          <a:p>
            <a:endParaRPr/>
          </a:p>
          <a:p>
            <a:r>
              <a:t>[Sources]</a:t>
            </a:r>
          </a:p>
          <a:p>
            <a:r>
              <a:t>- /Users/nstevenson/Documents/2025/EMC2_tutorial/LatexFiles/main.tex, Factorized Hierarchical Model appendix</a:t>
            </a:r>
          </a:p>
          <a:p>
            <a:r>
              <a:t>- https://paulbuerkner.com/brms/reference/brmsformula.html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Timing: ~45 seconds.</a:t>
            </a:r>
          </a:p>
          <a:p>
            <a:r>
              <a:t>Close by returning to the original question: learn about the population without pretending participant estimates are observed without error.</a:t>
            </a:r>
          </a:p>
          <a:p>
            <a:r>
              <a:t>The core EMC2 idea is a full participant coefficient vector tied together by a population distribution or regression, implemented through scalable blocks.</a:t>
            </a:r>
          </a:p>
          <a:p>
            <a:endParaRPr/>
          </a:p>
          <a:p>
            <a:r>
              <a:t>[Sources]</a:t>
            </a:r>
          </a:p>
          <a:p>
            <a:r>
              <a:t>- /Users/nstevenson/Documents/2025/EMC2_tutorial/LatexFiles/main.tex</a:t>
            </a:r>
          </a:p>
          <a:p>
            <a:r>
              <a:t>- /Users/nstevenson/Documents/2026/MBNCSS26/Day2-Hierarchical/Model-Based Neuroscience &amp; Cognition Summer School 2025.pptx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37362-EE2A-E962-6922-78D1776EAD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9A5AC0-3B18-4D24-5582-F8D678E6E6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FD36C-1274-2EA9-FAA4-3DC5789DC08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80C50CD-E178-4744-9B35-B2F624D6C5E9}" type="datetimeFigureOut">
              <a:t>8/11/26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24C78-0842-E83B-E1DD-9FE601AB253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1DA34-AC5A-6FF0-97AE-8B56F27890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48CC95F-0247-41B6-91CF-DC97C76A708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C0574-3336-7084-7409-1E12E60A3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11A63-5064-0BD8-D634-8F8CD26B8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95D154-F53A-37E9-BA54-F3911B442C6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80C50CD-E178-4744-9B35-B2F624D6C5E9}" type="datetimeFigureOut">
              <a:t>8/11/26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88E6DF-BCFE-655C-43CF-90E6E26AF92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5BB7E-7382-A27F-958D-0E595AFAF9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48CC95F-0247-41B6-91CF-DC97C76A708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7EF9A-6141-BC44-F922-E8919E574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D50D8A-52B9-4A47-0BC4-C323500721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588FE-3AF0-3F4E-F024-267A230BEDC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80C50CD-E178-4744-9B35-B2F624D6C5E9}" type="datetimeFigureOut">
              <a:t>8/11/26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E7CB3-7703-C73B-0F86-F71F496810E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F294C-6CBA-ADDD-D564-11176C53A3A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48CC95F-0247-41B6-91CF-DC97C76A708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BEFD3-B969-5CB6-9CF9-6900C3D4D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2CC5C-87C6-D627-0CD3-ED3FB9ECA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54645F-BAF6-7C3D-F6BD-BA928812BDC5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F26DBA-5D88-EB9B-7FCB-2ABCA59131A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80C50CD-E178-4744-9B35-B2F624D6C5E9}" type="datetimeFigureOut">
              <a:t>8/11/26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09A7FC-C970-289A-9E34-E5D787DE221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3E7611-5626-A611-0132-73D39CA484C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48CC95F-0247-41B6-91CF-DC97C76A708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2E1A4-E63E-57AB-AB78-232EF099C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F3BDB-5B2A-8042-BFFD-3D20A25D6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DEFF5E-C24E-E738-2CD9-CFC2EB5891AB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86050A-E9EE-8E06-2EB1-CF363DC99D58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DA8519-2A3A-3C40-779F-777F0B447D63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25A234-F5DE-E91E-BF53-FA390B42BC1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80C50CD-E178-4744-9B35-B2F624D6C5E9}" type="datetimeFigureOut">
              <a:t>8/11/26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5E6B93-D0EF-6865-A25A-8F9D816779D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122A86-3684-1477-D953-ECC86BF563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48CC95F-0247-41B6-91CF-DC97C76A708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E6BDA-58C6-CBD5-F733-41553FB28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6B25D4-1B1C-9556-7630-D415B6B3038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80C50CD-E178-4744-9B35-B2F624D6C5E9}" type="datetimeFigureOut">
              <a:t>8/11/26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328D65-B7AB-4738-58C0-03CA5712595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66E432-4519-D7C1-8626-F98C89116B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48CC95F-0247-41B6-91CF-DC97C76A708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819154-6521-721E-C285-2A118401EA4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80C50CD-E178-4744-9B35-B2F624D6C5E9}" type="datetimeFigureOut">
              <a:t>8/11/26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D7CF5F-DF03-682F-6DD5-B571D627461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C1C041-CF46-B1EF-038D-D48CD360BF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48CC95F-0247-41B6-91CF-DC97C76A708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87C50-9CF1-376B-5664-800FDDAAD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51102-396B-1916-96CA-1D506095C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D73B66-6B62-AD83-CCA4-87EF44966B1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30ECBB-3278-60AD-2B51-840BCACB303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80C50CD-E178-4744-9B35-B2F624D6C5E9}" type="datetimeFigureOut">
              <a:t>8/11/26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9F4F5A-7B58-6689-BB2E-A4F82064B01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71F310-5B68-A008-E982-8350957D93A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48CC95F-0247-41B6-91CF-DC97C76A708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AB0F-E4B3-4858-A827-8EB5F0199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8B201D-838A-5622-7259-B0993962B7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2AC843-2F28-4A86-51FA-75650C5C805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EF7841-E5E5-6EDD-ABCB-E1B627F775F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80C50CD-E178-4744-9B35-B2F624D6C5E9}" type="datetimeFigureOut">
              <a:t>8/11/26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BB1B30-4B13-53FE-5A2F-B0C03483A6F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52A932-B08D-8979-7FBE-0FD3198212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48CC95F-0247-41B6-91CF-DC97C76A708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BA10F-7598-A54D-89B9-AC0575E87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A23EE2-03A2-B143-62AE-F0F6291E40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52FF4-E317-4566-732B-6E49EA13B85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80C50CD-E178-4744-9B35-B2F624D6C5E9}" type="datetimeFigureOut">
              <a:t>8/11/26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6D72B-2503-EB3C-1652-5DE24099326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926EF-E41B-556F-951B-2CBD315684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48CC95F-0247-41B6-91CF-DC97C76A708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AAC80F-B2E0-573E-94E3-351D41E96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19E485-36FD-D51D-35AA-2BBB80390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0F589B-D94E-A027-56E6-9081F482E08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80C50CD-E178-4744-9B35-B2F624D6C5E9}" type="datetimeFigureOut">
              <a:t>8/11/26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EC8D1-A447-ECE5-1AB0-35C3F652303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7375E0-BAC3-A4ED-B39B-3B6ABE630E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148CC95F-0247-41B6-91CF-DC97C76A708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22C7D9-0E54-69F8-1CB8-EBBE5A301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775340-5940-EEAC-F380-08E1E2CEB5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Click to edit Master text styles</a:t>
            </a:r>
          </a:p>
          <a:p>
            <a:pPr>
              <a:buNone/>
            </a:pPr>
            <a:r>
              <a:t>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DBC5D-703D-BC74-9DEA-13132DFCEDF0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0C50CD-E178-4744-9B35-B2F624D6C5E9}" type="datetimeFigureOut">
              <a:t>8/11/26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F66DE-B524-E8FA-A2F2-6BC86720EAEA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700DE-4149-1003-2A4D-157F2F3D8B2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8CC95F-0247-41B6-91CF-DC97C76A708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4"/>
          <p:cNvPicPr>
            <a:picLocks noChangeAspect="1"/>
          </p:cNvPicPr>
          <p:nvPr/>
        </p:nvPicPr>
        <p:blipFill>
          <a:blip r:embed="rId3">
            <a:alphaModFix amt="40000"/>
          </a:blip>
          <a:srcRect t="29688"/>
          <a:stretch>
            <a:fillRect/>
          </a:stretch>
        </p:blipFill>
        <p:spPr>
          <a:xfrm>
            <a:off x="0" y="-1"/>
            <a:ext cx="12192001" cy="6858001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C5176F79-F0EC-EF8E-7C61-8DB2E885BB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8068" y="657369"/>
            <a:ext cx="5473988" cy="2325113"/>
          </a:xfrm>
        </p:spPr>
        <p:txBody>
          <a:bodyPr anchor="b">
            <a:normAutofit/>
          </a:bodyPr>
          <a:lstStyle/>
          <a:p>
            <a:r>
              <a:rPr sz="4000" b="1" i="0">
                <a:solidFill>
                  <a:srgbClr val="242424"/>
                </a:solidFill>
                <a:latin typeface="Lato"/>
                <a:ea typeface="Lato"/>
                <a:cs typeface="Lato"/>
              </a:rPr>
              <a:t>Hierarchical modelling</a:t>
            </a:r>
          </a:p>
          <a:p>
            <a:r>
              <a:rPr sz="4000" b="1" i="0">
                <a:solidFill>
                  <a:srgbClr val="242424"/>
                </a:solidFill>
                <a:latin typeface="Lato"/>
                <a:ea typeface="Lato"/>
                <a:cs typeface="Lato"/>
              </a:rPr>
              <a:t>with EMC2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F68DB539-2492-74FC-6E8C-AEA4F20E7643}"/>
              </a:ext>
            </a:extLst>
          </p:cNvPr>
          <p:cNvSpPr>
            <a:spLocks noGrp="1"/>
          </p:cNvSpPr>
          <p:nvPr/>
        </p:nvSpPr>
        <p:spPr>
          <a:xfrm>
            <a:off x="1869997" y="2477294"/>
            <a:ext cx="5473988" cy="2325113"/>
          </a:xfrm>
          <a:prstGeom prst="rect">
            <a:avLst/>
          </a:prstGeom>
        </p:spPr>
        <p:txBody>
          <a:bodyPr vert="horz" lIns="91440" tIns="45720" rIns="91440" bIns="45720" anchor="b">
            <a:normAutofit/>
          </a:bodyPr>
          <a:lstStyle>
            <a:lvl1pPr marL="0" indent="0" algn="l" defTabSz="914400">
              <a:lnSpc>
                <a:spcPct val="110000"/>
              </a:lnSpc>
              <a:spcBef>
                <a:spcPts val="1000"/>
              </a:spcBef>
              <a:buFont typeface="Arial"/>
              <a:buNone/>
              <a:defRPr sz="2200" i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11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11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11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11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 sz="2800" b="1" i="0">
                <a:solidFill>
                  <a:srgbClr val="3A3A3A"/>
                </a:solidFill>
                <a:latin typeface="Lato"/>
                <a:ea typeface="Lato"/>
                <a:cs typeface="Lato"/>
              </a:rPr>
              <a:t>Niek Stevenson</a:t>
            </a:r>
          </a:p>
          <a:p>
            <a:r>
              <a:rPr sz="2800" b="1" i="0">
                <a:solidFill>
                  <a:srgbClr val="3A3A3A"/>
                </a:solidFill>
                <a:latin typeface="Lato"/>
                <a:ea typeface="Lato"/>
                <a:cs typeface="Lato"/>
              </a:rPr>
              <a:t>MBNCSS 2026</a:t>
            </a:r>
          </a:p>
        </p:txBody>
      </p:sp>
    </p:spTree>
    <p:extLst>
      <p:ext uri="{BB962C8B-B14F-4D97-AF65-F5344CB8AC3E}">
        <p14:creationId xmlns:p14="http://schemas.microsoft.com/office/powerpoint/2010/main" val="266985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89A9A7A6-4AF3-7FED-3641-3C0F629F9F9E}"/>
              </a:ext>
            </a:extLst>
          </p:cNvPr>
          <p:cNvSpPr>
            <a:spLocks noGrp="1"/>
          </p:cNvSpPr>
          <p:nvPr/>
        </p:nvSpPr>
        <p:spPr>
          <a:xfrm>
            <a:off x="0" y="333375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636A28E-3E12-0474-8797-EAD4B6646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485861" cy="1088136"/>
          </a:xfrm>
        </p:spPr>
        <p:txBody>
          <a:bodyPr wrap="square" lIns="91440" tIns="45720" rIns="91440" bIns="45720" anchor="b">
            <a:noAutofit/>
          </a:bodyPr>
          <a:lstStyle/>
          <a:p>
            <a:pPr algn="l">
              <a:lnSpc>
                <a:spcPct val="90000"/>
              </a:lnSpc>
              <a:buNone/>
              <a:defRPr sz="3400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3400">
                <a:solidFill>
                  <a:srgbClr val="000000"/>
                </a:solidFill>
                <a:latin typeface="Lato"/>
                <a:ea typeface="Lato"/>
                <a:cs typeface="Lato"/>
              </a:rPr>
              <a:t>Psychological data are nested and noisy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C279A0-DA6A-C6AE-D0CC-4550181E3914}"/>
              </a:ext>
            </a:extLst>
          </p:cNvPr>
          <p:cNvSpPr>
            <a:spLocks noGrp="1"/>
          </p:cNvSpPr>
          <p:nvPr/>
        </p:nvSpPr>
        <p:spPr>
          <a:xfrm rot="5400000">
            <a:off x="649223" y="22860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667B673-8664-7B83-A92C-D8A88DB478CA}"/>
              </a:ext>
            </a:extLst>
          </p:cNvPr>
          <p:cNvSpPr>
            <a:spLocks noGrp="1"/>
          </p:cNvSpPr>
          <p:nvPr/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88AE6E-DDA7-0F17-AF37-1998DFCA2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78" y="2688336"/>
            <a:ext cx="5095241" cy="3584448"/>
          </a:xfrm>
        </p:spPr>
        <p:txBody>
          <a:bodyPr wrap="square" lIns="91440" tIns="45720" rIns="91440" bIns="45720" anchor="t">
            <a:noAutofit/>
          </a:bodyPr>
          <a:lstStyle/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b="0" dirty="0">
                <a:solidFill>
                  <a:srgbClr val="202020"/>
                </a:solidFill>
                <a:latin typeface="Lato"/>
                <a:ea typeface="Lato"/>
                <a:cs typeface="Lato"/>
              </a:rPr>
              <a:t>• Repeated trials within people</a:t>
            </a:r>
          </a:p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dirty="0">
                <a:solidFill>
                  <a:srgbClr val="202020"/>
                </a:solidFill>
                <a:latin typeface="Lato"/>
                <a:ea typeface="Lato"/>
                <a:cs typeface="Lato"/>
              </a:rPr>
              <a:t>• People differ in latent</a:t>
            </a:r>
            <a:r>
              <a:rPr lang="en-US" sz="2400" dirty="0">
                <a:solidFill>
                  <a:srgbClr val="202020"/>
                </a:solidFill>
                <a:latin typeface="Lato"/>
                <a:ea typeface="Lato"/>
                <a:cs typeface="Lato"/>
              </a:rPr>
              <a:t> </a:t>
            </a:r>
            <a:r>
              <a:rPr sz="2400" dirty="0">
                <a:solidFill>
                  <a:srgbClr val="202020"/>
                </a:solidFill>
                <a:latin typeface="Lato"/>
                <a:ea typeface="Lato"/>
                <a:cs typeface="Lato"/>
              </a:rPr>
              <a:t>processes</a:t>
            </a:r>
            <a:endParaRPr sz="2400" b="0" dirty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dirty="0">
                <a:solidFill>
                  <a:srgbClr val="202020"/>
                </a:solidFill>
                <a:latin typeface="Lato"/>
                <a:ea typeface="Lato"/>
                <a:cs typeface="Lato"/>
              </a:rPr>
              <a:t>• </a:t>
            </a:r>
            <a:r>
              <a:rPr lang="en-US" sz="2400" dirty="0">
                <a:solidFill>
                  <a:srgbClr val="202020"/>
                </a:solidFill>
                <a:latin typeface="Lato"/>
                <a:ea typeface="Lato"/>
                <a:cs typeface="Lato"/>
              </a:rPr>
              <a:t>Trials are noisy samples</a:t>
            </a:r>
            <a:endParaRPr sz="2400" b="0" dirty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dirty="0">
                <a:solidFill>
                  <a:srgbClr val="202020"/>
                </a:solidFill>
                <a:latin typeface="Lato"/>
                <a:ea typeface="Lato"/>
                <a:cs typeface="Lato"/>
              </a:rPr>
              <a:t>• Trial counts are often unequal</a:t>
            </a:r>
            <a:endParaRPr sz="2400" b="0" dirty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dirty="0">
                <a:solidFill>
                  <a:srgbClr val="202020"/>
                </a:solidFill>
                <a:latin typeface="Lato"/>
                <a:ea typeface="Lato"/>
                <a:cs typeface="Lato"/>
              </a:rPr>
              <a:t>• Group-level claims are usually the goal</a:t>
            </a:r>
            <a:endParaRPr sz="2400" b="0" dirty="0">
              <a:solidFill>
                <a:srgbClr val="202020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54" name="Picture 4"/>
          <p:cNvPicPr>
            <a:picLocks noChangeAspect="1"/>
          </p:cNvPicPr>
          <p:nvPr/>
        </p:nvPicPr>
        <p:blipFill rotWithShape="1">
          <a:blip r:embed="rId3"/>
          <a:srcRect l="26691" r="26691"/>
          <a:stretch>
            <a:fillRect/>
          </a:stretch>
        </p:blipFill>
        <p:spPr>
          <a:xfrm>
            <a:off x="5620893" y="-25051"/>
            <a:ext cx="6571107" cy="723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039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F94AA2BD-2E3F-4B1D-8127-5744B8115311}"/>
              </a:ext>
            </a:extLst>
          </p:cNvPr>
          <p:cNvSpPr>
            <a:spLocks noGrp="1"/>
          </p:cNvSpPr>
          <p:nvPr/>
        </p:nvSpPr>
        <p:spPr>
          <a:xfrm>
            <a:off x="0" y="333375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408DF60-ADAB-F951-D3FE-D94F99BC1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485861" cy="1088136"/>
          </a:xfrm>
        </p:spPr>
        <p:txBody>
          <a:bodyPr wrap="square" lIns="91440" tIns="45720" rIns="91440" bIns="45720" anchor="b">
            <a:noAutofit/>
          </a:bodyPr>
          <a:lstStyle/>
          <a:p>
            <a:pPr algn="l">
              <a:lnSpc>
                <a:spcPct val="90000"/>
              </a:lnSpc>
              <a:buNone/>
              <a:defRPr sz="3400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lang="en-US" sz="3400" dirty="0">
                <a:solidFill>
                  <a:srgbClr val="000000"/>
                </a:solidFill>
                <a:latin typeface="Lato"/>
                <a:ea typeface="Lato"/>
                <a:cs typeface="Lato"/>
              </a:rPr>
              <a:t>Partial pooling</a:t>
            </a:r>
            <a:endParaRPr sz="3400" dirty="0">
              <a:solidFill>
                <a:srgbClr val="000000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BD02261-2DC8-4AA8-9E16-7751AE892445}"/>
              </a:ext>
            </a:extLst>
          </p:cNvPr>
          <p:cNvSpPr>
            <a:spLocks noGrp="1"/>
          </p:cNvSpPr>
          <p:nvPr/>
        </p:nvSpPr>
        <p:spPr>
          <a:xfrm rot="5400000">
            <a:off x="649223" y="22860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D752CF2-2291-40B5-B462-C17B174C10BC}"/>
              </a:ext>
            </a:extLst>
          </p:cNvPr>
          <p:cNvSpPr>
            <a:spLocks noGrp="1"/>
          </p:cNvSpPr>
          <p:nvPr/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5DE156-934E-AECE-B4BC-52B57E18D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79" y="2688336"/>
            <a:ext cx="4498848" cy="3584448"/>
          </a:xfrm>
        </p:spPr>
        <p:txBody>
          <a:bodyPr wrap="square" lIns="91440" tIns="45720" rIns="91440" bIns="45720" anchor="t">
            <a:noAutofit/>
          </a:bodyPr>
          <a:lstStyle/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>Separate fits</a:t>
            </a:r>
            <a:endParaRPr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b="0">
                <a:solidFill>
                  <a:srgbClr val="202020"/>
                </a:solidFill>
                <a:latin typeface="Lato"/>
                <a:ea typeface="Lato"/>
                <a:cs typeface="Lato"/>
              </a:rPr>
              <a:t>• no information sharing</a:t>
            </a:r>
          </a:p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>Complete pooling</a:t>
            </a:r>
          </a:p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>• no individual differences</a:t>
            </a:r>
          </a:p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>Partial pooling</a:t>
            </a:r>
          </a:p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>• distinct estimates</a:t>
            </a:r>
          </a:p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>• movement follows precision</a:t>
            </a:r>
          </a:p>
        </p:txBody>
      </p:sp>
      <p:sp>
        <p:nvSpPr>
          <p:cNvPr id="48" name="S2 editable figure background">
            <a:extLst>
              <a:ext uri="{FF2B5EF4-FFF2-40B4-BE49-F238E27FC236}">
                <a16:creationId xmlns:a16="http://schemas.microsoft.com/office/drawing/2014/main" id="{15E5EC95-08B8-4448-9E98-46FF6185E5CD}"/>
              </a:ext>
            </a:extLst>
          </p:cNvPr>
          <p:cNvSpPr>
            <a:spLocks noGrp="1"/>
          </p:cNvSpPr>
          <p:nvPr/>
        </p:nvSpPr>
        <p:spPr>
          <a:xfrm>
            <a:off x="6908578" y="0"/>
            <a:ext cx="5279612" cy="6858000"/>
          </a:xfrm>
          <a:prstGeom prst="rect">
            <a:avLst/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S2 pooling header 1">
            <a:extLst>
              <a:ext uri="{FF2B5EF4-FFF2-40B4-BE49-F238E27FC236}">
                <a16:creationId xmlns:a16="http://schemas.microsoft.com/office/drawing/2014/main" id="{2E30AA1E-DFAE-4EB5-9EEC-985CE38A5926}"/>
              </a:ext>
            </a:extLst>
          </p:cNvPr>
          <p:cNvSpPr>
            <a:spLocks noGrp="1"/>
          </p:cNvSpPr>
          <p:nvPr/>
        </p:nvSpPr>
        <p:spPr>
          <a:xfrm>
            <a:off x="7220903" y="381000"/>
            <a:ext cx="1447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lnSpc>
                <a:spcPct val="94000"/>
              </a:lnSpc>
              <a:buNone/>
              <a:defRPr sz="1800" b="1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252525"/>
                </a:solidFill>
                <a:latin typeface="Lato"/>
                <a:ea typeface="Lato"/>
                <a:cs typeface="Lato"/>
              </a:rPr>
              <a:t>NO POOLING</a:t>
            </a:r>
          </a:p>
        </p:txBody>
      </p:sp>
      <p:sp>
        <p:nvSpPr>
          <p:cNvPr id="50" name="S2 pooling subhead 1">
            <a:extLst>
              <a:ext uri="{FF2B5EF4-FFF2-40B4-BE49-F238E27FC236}">
                <a16:creationId xmlns:a16="http://schemas.microsoft.com/office/drawing/2014/main" id="{BDD63F4B-10CE-4ADC-8713-562D500605AE}"/>
              </a:ext>
            </a:extLst>
          </p:cNvPr>
          <p:cNvSpPr>
            <a:spLocks noGrp="1"/>
          </p:cNvSpPr>
          <p:nvPr/>
        </p:nvSpPr>
        <p:spPr>
          <a:xfrm>
            <a:off x="7220903" y="1009650"/>
            <a:ext cx="1447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lnSpc>
                <a:spcPct val="94000"/>
              </a:lnSpc>
              <a:buNone/>
              <a:defRPr sz="1350" b="0">
                <a:solidFill>
                  <a:srgbClr val="676B6E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676B6E"/>
                </a:solidFill>
                <a:latin typeface="Lato"/>
                <a:ea typeface="Lato"/>
                <a:cs typeface="Lato"/>
              </a:rPr>
              <a:t>separate fits</a:t>
            </a:r>
          </a:p>
        </p:txBody>
      </p:sp>
      <p:sp>
        <p:nvSpPr>
          <p:cNvPr id="51" name="S2 pooling header 2">
            <a:extLst>
              <a:ext uri="{FF2B5EF4-FFF2-40B4-BE49-F238E27FC236}">
                <a16:creationId xmlns:a16="http://schemas.microsoft.com/office/drawing/2014/main" id="{49EABDA2-4548-4C72-A80C-11AF45EFEE39}"/>
              </a:ext>
            </a:extLst>
          </p:cNvPr>
          <p:cNvSpPr>
            <a:spLocks noGrp="1"/>
          </p:cNvSpPr>
          <p:nvPr/>
        </p:nvSpPr>
        <p:spPr>
          <a:xfrm>
            <a:off x="8981123" y="381000"/>
            <a:ext cx="1447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lnSpc>
                <a:spcPct val="94000"/>
              </a:lnSpc>
              <a:buNone/>
              <a:defRPr sz="1800" b="1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252525"/>
                </a:solidFill>
                <a:latin typeface="Lato"/>
                <a:ea typeface="Lato"/>
                <a:cs typeface="Lato"/>
              </a:rPr>
              <a:t>COMPLETE</a:t>
            </a:r>
          </a:p>
          <a:p>
            <a:pPr algn="ctr">
              <a:lnSpc>
                <a:spcPct val="94000"/>
              </a:lnSpc>
              <a:buNone/>
              <a:defRPr sz="1800" b="1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252525"/>
                </a:solidFill>
                <a:latin typeface="Lato"/>
                <a:ea typeface="Lato"/>
                <a:cs typeface="Lato"/>
              </a:rPr>
              <a:t>POOLING</a:t>
            </a:r>
          </a:p>
        </p:txBody>
      </p:sp>
      <p:sp>
        <p:nvSpPr>
          <p:cNvPr id="52" name="S2 pooling subhead 2">
            <a:extLst>
              <a:ext uri="{FF2B5EF4-FFF2-40B4-BE49-F238E27FC236}">
                <a16:creationId xmlns:a16="http://schemas.microsoft.com/office/drawing/2014/main" id="{57731F59-632D-40A0-A81D-5F0AD2F35CB8}"/>
              </a:ext>
            </a:extLst>
          </p:cNvPr>
          <p:cNvSpPr>
            <a:spLocks noGrp="1"/>
          </p:cNvSpPr>
          <p:nvPr/>
        </p:nvSpPr>
        <p:spPr>
          <a:xfrm>
            <a:off x="8981123" y="1009650"/>
            <a:ext cx="1447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lnSpc>
                <a:spcPct val="94000"/>
              </a:lnSpc>
              <a:buNone/>
              <a:defRPr sz="1350" b="0">
                <a:solidFill>
                  <a:srgbClr val="676B6E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676B6E"/>
                </a:solidFill>
                <a:latin typeface="Lato"/>
                <a:ea typeface="Lato"/>
                <a:cs typeface="Lato"/>
              </a:rPr>
              <a:t>identical</a:t>
            </a:r>
          </a:p>
        </p:txBody>
      </p:sp>
      <p:sp>
        <p:nvSpPr>
          <p:cNvPr id="53" name="S2 pooling header 3">
            <a:extLst>
              <a:ext uri="{FF2B5EF4-FFF2-40B4-BE49-F238E27FC236}">
                <a16:creationId xmlns:a16="http://schemas.microsoft.com/office/drawing/2014/main" id="{CEA61D9B-0202-491A-98AE-18A4947D1046}"/>
              </a:ext>
            </a:extLst>
          </p:cNvPr>
          <p:cNvSpPr>
            <a:spLocks noGrp="1"/>
          </p:cNvSpPr>
          <p:nvPr/>
        </p:nvSpPr>
        <p:spPr>
          <a:xfrm>
            <a:off x="10740390" y="381000"/>
            <a:ext cx="1447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lnSpc>
                <a:spcPct val="94000"/>
              </a:lnSpc>
              <a:buNone/>
              <a:defRPr sz="1800" b="1">
                <a:solidFill>
                  <a:srgbClr val="F05A28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F05A28"/>
                </a:solidFill>
                <a:latin typeface="Lato"/>
                <a:ea typeface="Lato"/>
                <a:cs typeface="Lato"/>
              </a:rPr>
              <a:t>PARTIAL</a:t>
            </a:r>
          </a:p>
          <a:p>
            <a:pPr algn="ctr">
              <a:lnSpc>
                <a:spcPct val="94000"/>
              </a:lnSpc>
              <a:buNone/>
              <a:defRPr sz="1800" b="1">
                <a:solidFill>
                  <a:srgbClr val="F05A28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F05A28"/>
                </a:solidFill>
                <a:latin typeface="Lato"/>
                <a:ea typeface="Lato"/>
                <a:cs typeface="Lato"/>
              </a:rPr>
              <a:t>POOLING</a:t>
            </a:r>
          </a:p>
        </p:txBody>
      </p:sp>
      <p:sp>
        <p:nvSpPr>
          <p:cNvPr id="54" name="S2 pooling subhead 3">
            <a:extLst>
              <a:ext uri="{FF2B5EF4-FFF2-40B4-BE49-F238E27FC236}">
                <a16:creationId xmlns:a16="http://schemas.microsoft.com/office/drawing/2014/main" id="{B9602643-0EE6-42F8-8FE8-D5D6CCF5A196}"/>
              </a:ext>
            </a:extLst>
          </p:cNvPr>
          <p:cNvSpPr>
            <a:spLocks noGrp="1"/>
          </p:cNvSpPr>
          <p:nvPr/>
        </p:nvSpPr>
        <p:spPr>
          <a:xfrm>
            <a:off x="10740390" y="1009650"/>
            <a:ext cx="1447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lnSpc>
                <a:spcPct val="94000"/>
              </a:lnSpc>
              <a:buNone/>
              <a:defRPr sz="1350" b="0">
                <a:solidFill>
                  <a:srgbClr val="676B6E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676B6E"/>
                </a:solidFill>
                <a:latin typeface="Lato"/>
                <a:ea typeface="Lato"/>
                <a:cs typeface="Lato"/>
              </a:rPr>
              <a:t>distinct + related</a:t>
            </a:r>
          </a:p>
        </p:txBody>
      </p:sp>
      <p:sp>
        <p:nvSpPr>
          <p:cNvPr id="55" name="S2 column divider 1">
            <a:extLst>
              <a:ext uri="{FF2B5EF4-FFF2-40B4-BE49-F238E27FC236}">
                <a16:creationId xmlns:a16="http://schemas.microsoft.com/office/drawing/2014/main" id="{A22C183F-DEE1-4469-82C9-EA0BC4FAF417}"/>
              </a:ext>
            </a:extLst>
          </p:cNvPr>
          <p:cNvSpPr>
            <a:spLocks noGrp="1"/>
          </p:cNvSpPr>
          <p:nvPr/>
        </p:nvSpPr>
        <p:spPr>
          <a:xfrm>
            <a:off x="8672513" y="333375"/>
            <a:ext cx="0" cy="5429250"/>
          </a:xfrm>
          <a:prstGeom prst="line">
            <a:avLst/>
          </a:prstGeom>
          <a:noFill/>
          <a:ln w="12383">
            <a:solidFill>
              <a:srgbClr val="D0D2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S2 column divider 2">
            <a:extLst>
              <a:ext uri="{FF2B5EF4-FFF2-40B4-BE49-F238E27FC236}">
                <a16:creationId xmlns:a16="http://schemas.microsoft.com/office/drawing/2014/main" id="{5E2A8E1C-87AE-4136-9698-771249478BC0}"/>
              </a:ext>
            </a:extLst>
          </p:cNvPr>
          <p:cNvSpPr>
            <a:spLocks noGrp="1"/>
          </p:cNvSpPr>
          <p:nvPr/>
        </p:nvSpPr>
        <p:spPr>
          <a:xfrm>
            <a:off x="10431780" y="333375"/>
            <a:ext cx="0" cy="5429250"/>
          </a:xfrm>
          <a:prstGeom prst="line">
            <a:avLst/>
          </a:prstGeom>
          <a:noFill/>
          <a:ln w="12383">
            <a:solidFill>
              <a:srgbClr val="D0D2D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S2 participant label 0-0">
            <a:extLst>
              <a:ext uri="{FF2B5EF4-FFF2-40B4-BE49-F238E27FC236}">
                <a16:creationId xmlns:a16="http://schemas.microsoft.com/office/drawing/2014/main" id="{6B545F62-78A4-48F0-8D0B-B5D58E41D284}"/>
              </a:ext>
            </a:extLst>
          </p:cNvPr>
          <p:cNvSpPr>
            <a:spLocks noGrp="1"/>
          </p:cNvSpPr>
          <p:nvPr/>
        </p:nvSpPr>
        <p:spPr>
          <a:xfrm>
            <a:off x="6987540" y="160020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lnSpc>
                <a:spcPct val="94000"/>
              </a:lnSpc>
              <a:buNone/>
              <a:defRPr sz="1275" b="0">
                <a:solidFill>
                  <a:srgbClr val="676B6E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676B6E"/>
                </a:solidFill>
                <a:latin typeface="Lato"/>
                <a:ea typeface="Lato"/>
                <a:cs typeface="Lato"/>
              </a:rPr>
              <a:t>P1</a:t>
            </a:r>
          </a:p>
        </p:txBody>
      </p:sp>
      <p:sp>
        <p:nvSpPr>
          <p:cNvPr id="58" name="S2 axis 0-0">
            <a:extLst>
              <a:ext uri="{FF2B5EF4-FFF2-40B4-BE49-F238E27FC236}">
                <a16:creationId xmlns:a16="http://schemas.microsoft.com/office/drawing/2014/main" id="{C5E9A822-AD50-401F-AA40-441CDD074D32}"/>
              </a:ext>
            </a:extLst>
          </p:cNvPr>
          <p:cNvSpPr>
            <a:spLocks noGrp="1"/>
          </p:cNvSpPr>
          <p:nvPr/>
        </p:nvSpPr>
        <p:spPr>
          <a:xfrm flipV="1">
            <a:off x="7292340" y="1762125"/>
            <a:ext cx="1304925" cy="0"/>
          </a:xfrm>
          <a:prstGeom prst="line">
            <a:avLst/>
          </a:prstGeom>
          <a:noFill/>
          <a:ln w="15240">
            <a:solidFill>
              <a:srgbClr val="AEB2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S2 local estimate 0-0">
            <a:extLst>
              <a:ext uri="{FF2B5EF4-FFF2-40B4-BE49-F238E27FC236}">
                <a16:creationId xmlns:a16="http://schemas.microsoft.com/office/drawing/2014/main" id="{B1BB65BA-5C2D-404F-BC90-B2D90562AD25}"/>
              </a:ext>
            </a:extLst>
          </p:cNvPr>
          <p:cNvSpPr>
            <a:spLocks noGrp="1"/>
          </p:cNvSpPr>
          <p:nvPr/>
        </p:nvSpPr>
        <p:spPr>
          <a:xfrm>
            <a:off x="7372731" y="1685925"/>
            <a:ext cx="152400" cy="152400"/>
          </a:xfrm>
          <a:prstGeom prst="ellipse">
            <a:avLst/>
          </a:prstGeom>
          <a:solidFill>
            <a:srgbClr val="FFFFFF"/>
          </a:solidFill>
          <a:ln w="21908">
            <a:solidFill>
              <a:srgbClr val="90959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S2 pooled estimate 0-0">
            <a:extLst>
              <a:ext uri="{FF2B5EF4-FFF2-40B4-BE49-F238E27FC236}">
                <a16:creationId xmlns:a16="http://schemas.microsoft.com/office/drawing/2014/main" id="{A6BBD6B6-38C9-46B0-939F-4C6E1CCBAEE5}"/>
              </a:ext>
            </a:extLst>
          </p:cNvPr>
          <p:cNvSpPr>
            <a:spLocks noGrp="1"/>
          </p:cNvSpPr>
          <p:nvPr/>
        </p:nvSpPr>
        <p:spPr>
          <a:xfrm>
            <a:off x="7372731" y="1685925"/>
            <a:ext cx="152400" cy="152400"/>
          </a:xfrm>
          <a:prstGeom prst="ellipse">
            <a:avLst/>
          </a:prstGeom>
          <a:solidFill>
            <a:srgbClr val="F05A28"/>
          </a:solidFill>
          <a:ln w="12383">
            <a:solidFill>
              <a:srgbClr val="F05A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S2 participant label 0-1">
            <a:extLst>
              <a:ext uri="{FF2B5EF4-FFF2-40B4-BE49-F238E27FC236}">
                <a16:creationId xmlns:a16="http://schemas.microsoft.com/office/drawing/2014/main" id="{88E595E9-1649-4615-9DDE-F56563C4F47F}"/>
              </a:ext>
            </a:extLst>
          </p:cNvPr>
          <p:cNvSpPr>
            <a:spLocks noGrp="1"/>
          </p:cNvSpPr>
          <p:nvPr/>
        </p:nvSpPr>
        <p:spPr>
          <a:xfrm>
            <a:off x="6987540" y="302895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lnSpc>
                <a:spcPct val="94000"/>
              </a:lnSpc>
              <a:buNone/>
              <a:defRPr sz="1275" b="0">
                <a:solidFill>
                  <a:srgbClr val="676B6E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676B6E"/>
                </a:solidFill>
                <a:latin typeface="Lato"/>
                <a:ea typeface="Lato"/>
                <a:cs typeface="Lato"/>
              </a:rPr>
              <a:t>P2</a:t>
            </a:r>
          </a:p>
        </p:txBody>
      </p:sp>
      <p:sp>
        <p:nvSpPr>
          <p:cNvPr id="62" name="S2 axis 0-1">
            <a:extLst>
              <a:ext uri="{FF2B5EF4-FFF2-40B4-BE49-F238E27FC236}">
                <a16:creationId xmlns:a16="http://schemas.microsoft.com/office/drawing/2014/main" id="{BDB09C92-A2BC-4BCE-B7CC-9F887198C1DC}"/>
              </a:ext>
            </a:extLst>
          </p:cNvPr>
          <p:cNvSpPr>
            <a:spLocks noGrp="1"/>
          </p:cNvSpPr>
          <p:nvPr/>
        </p:nvSpPr>
        <p:spPr>
          <a:xfrm flipV="1">
            <a:off x="7292340" y="3190875"/>
            <a:ext cx="1304925" cy="0"/>
          </a:xfrm>
          <a:prstGeom prst="line">
            <a:avLst/>
          </a:prstGeom>
          <a:noFill/>
          <a:ln w="15240">
            <a:solidFill>
              <a:srgbClr val="AEB2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S2 local estimate 0-1">
            <a:extLst>
              <a:ext uri="{FF2B5EF4-FFF2-40B4-BE49-F238E27FC236}">
                <a16:creationId xmlns:a16="http://schemas.microsoft.com/office/drawing/2014/main" id="{FB9C4F13-95E8-4CA0-9271-B5133D9154F4}"/>
              </a:ext>
            </a:extLst>
          </p:cNvPr>
          <p:cNvSpPr>
            <a:spLocks noGrp="1"/>
          </p:cNvSpPr>
          <p:nvPr/>
        </p:nvSpPr>
        <p:spPr>
          <a:xfrm>
            <a:off x="8103489" y="3114675"/>
            <a:ext cx="152400" cy="152400"/>
          </a:xfrm>
          <a:prstGeom prst="ellipse">
            <a:avLst/>
          </a:prstGeom>
          <a:solidFill>
            <a:srgbClr val="FFFFFF"/>
          </a:solidFill>
          <a:ln w="21908">
            <a:solidFill>
              <a:srgbClr val="90959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S2 pooled estimate 0-1">
            <a:extLst>
              <a:ext uri="{FF2B5EF4-FFF2-40B4-BE49-F238E27FC236}">
                <a16:creationId xmlns:a16="http://schemas.microsoft.com/office/drawing/2014/main" id="{FBD4FEDB-C16D-4498-BC12-CBEC3F215DD7}"/>
              </a:ext>
            </a:extLst>
          </p:cNvPr>
          <p:cNvSpPr>
            <a:spLocks noGrp="1"/>
          </p:cNvSpPr>
          <p:nvPr/>
        </p:nvSpPr>
        <p:spPr>
          <a:xfrm>
            <a:off x="8103489" y="3114675"/>
            <a:ext cx="152400" cy="152400"/>
          </a:xfrm>
          <a:prstGeom prst="ellipse">
            <a:avLst/>
          </a:prstGeom>
          <a:solidFill>
            <a:srgbClr val="F05A28"/>
          </a:solidFill>
          <a:ln w="12383">
            <a:solidFill>
              <a:srgbClr val="F05A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S2 participant label 0-2">
            <a:extLst>
              <a:ext uri="{FF2B5EF4-FFF2-40B4-BE49-F238E27FC236}">
                <a16:creationId xmlns:a16="http://schemas.microsoft.com/office/drawing/2014/main" id="{C4BC7E45-EC84-4A08-A632-D2269DC66E2C}"/>
              </a:ext>
            </a:extLst>
          </p:cNvPr>
          <p:cNvSpPr>
            <a:spLocks noGrp="1"/>
          </p:cNvSpPr>
          <p:nvPr/>
        </p:nvSpPr>
        <p:spPr>
          <a:xfrm>
            <a:off x="6987540" y="445770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lnSpc>
                <a:spcPct val="94000"/>
              </a:lnSpc>
              <a:buNone/>
              <a:defRPr sz="1275" b="0">
                <a:solidFill>
                  <a:srgbClr val="676B6E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676B6E"/>
                </a:solidFill>
                <a:latin typeface="Lato"/>
                <a:ea typeface="Lato"/>
                <a:cs typeface="Lato"/>
              </a:rPr>
              <a:t>P3</a:t>
            </a:r>
          </a:p>
        </p:txBody>
      </p:sp>
      <p:sp>
        <p:nvSpPr>
          <p:cNvPr id="66" name="S2 axis 0-2">
            <a:extLst>
              <a:ext uri="{FF2B5EF4-FFF2-40B4-BE49-F238E27FC236}">
                <a16:creationId xmlns:a16="http://schemas.microsoft.com/office/drawing/2014/main" id="{5721A409-2176-47A0-BFA8-A720621819A3}"/>
              </a:ext>
            </a:extLst>
          </p:cNvPr>
          <p:cNvSpPr>
            <a:spLocks noGrp="1"/>
          </p:cNvSpPr>
          <p:nvPr/>
        </p:nvSpPr>
        <p:spPr>
          <a:xfrm flipV="1">
            <a:off x="7292340" y="4619625"/>
            <a:ext cx="1304925" cy="0"/>
          </a:xfrm>
          <a:prstGeom prst="line">
            <a:avLst/>
          </a:prstGeom>
          <a:noFill/>
          <a:ln w="15240">
            <a:solidFill>
              <a:srgbClr val="AEB2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S2 local estimate 0-2">
            <a:extLst>
              <a:ext uri="{FF2B5EF4-FFF2-40B4-BE49-F238E27FC236}">
                <a16:creationId xmlns:a16="http://schemas.microsoft.com/office/drawing/2014/main" id="{EF7F59BD-EDF5-47E5-8365-C6A64926D6FF}"/>
              </a:ext>
            </a:extLst>
          </p:cNvPr>
          <p:cNvSpPr>
            <a:spLocks noGrp="1"/>
          </p:cNvSpPr>
          <p:nvPr/>
        </p:nvSpPr>
        <p:spPr>
          <a:xfrm>
            <a:off x="8364474" y="4543425"/>
            <a:ext cx="152400" cy="152400"/>
          </a:xfrm>
          <a:prstGeom prst="ellipse">
            <a:avLst/>
          </a:prstGeom>
          <a:solidFill>
            <a:srgbClr val="FFFFFF"/>
          </a:solidFill>
          <a:ln w="21908">
            <a:solidFill>
              <a:srgbClr val="90959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S2 pooled estimate 0-2">
            <a:extLst>
              <a:ext uri="{FF2B5EF4-FFF2-40B4-BE49-F238E27FC236}">
                <a16:creationId xmlns:a16="http://schemas.microsoft.com/office/drawing/2014/main" id="{7C4C1F66-449F-4CA8-B0D4-8F4575518306}"/>
              </a:ext>
            </a:extLst>
          </p:cNvPr>
          <p:cNvSpPr>
            <a:spLocks noGrp="1"/>
          </p:cNvSpPr>
          <p:nvPr/>
        </p:nvSpPr>
        <p:spPr>
          <a:xfrm>
            <a:off x="8364474" y="4543425"/>
            <a:ext cx="152400" cy="152400"/>
          </a:xfrm>
          <a:prstGeom prst="ellipse">
            <a:avLst/>
          </a:prstGeom>
          <a:solidFill>
            <a:srgbClr val="F05A28"/>
          </a:solidFill>
          <a:ln w="12383">
            <a:solidFill>
              <a:srgbClr val="F05A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S2 population marker 1">
            <a:extLst>
              <a:ext uri="{FF2B5EF4-FFF2-40B4-BE49-F238E27FC236}">
                <a16:creationId xmlns:a16="http://schemas.microsoft.com/office/drawing/2014/main" id="{912F7AC7-E5AC-40AD-AE95-1FF1F738B8A1}"/>
              </a:ext>
            </a:extLst>
          </p:cNvPr>
          <p:cNvSpPr>
            <a:spLocks noGrp="1"/>
          </p:cNvSpPr>
          <p:nvPr/>
        </p:nvSpPr>
        <p:spPr>
          <a:xfrm>
            <a:off x="9705023" y="1428750"/>
            <a:ext cx="0" cy="3333750"/>
          </a:xfrm>
          <a:prstGeom prst="line">
            <a:avLst/>
          </a:prstGeom>
          <a:noFill/>
          <a:ln w="16193">
            <a:solidFill>
              <a:srgbClr val="7BA99E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70" name="S2 participant label 1-0">
            <a:extLst>
              <a:ext uri="{FF2B5EF4-FFF2-40B4-BE49-F238E27FC236}">
                <a16:creationId xmlns:a16="http://schemas.microsoft.com/office/drawing/2014/main" id="{0344D297-A703-43FC-9600-BD9B4664D816}"/>
              </a:ext>
            </a:extLst>
          </p:cNvPr>
          <p:cNvSpPr>
            <a:spLocks noGrp="1"/>
          </p:cNvSpPr>
          <p:nvPr/>
        </p:nvSpPr>
        <p:spPr>
          <a:xfrm>
            <a:off x="8747760" y="160020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lnSpc>
                <a:spcPct val="94000"/>
              </a:lnSpc>
              <a:buNone/>
              <a:defRPr sz="1275" b="0">
                <a:solidFill>
                  <a:srgbClr val="676B6E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676B6E"/>
                </a:solidFill>
                <a:latin typeface="Lato"/>
                <a:ea typeface="Lato"/>
                <a:cs typeface="Lato"/>
              </a:rPr>
              <a:t>P1</a:t>
            </a:r>
          </a:p>
        </p:txBody>
      </p:sp>
      <p:sp>
        <p:nvSpPr>
          <p:cNvPr id="71" name="S2 axis 1-0">
            <a:extLst>
              <a:ext uri="{FF2B5EF4-FFF2-40B4-BE49-F238E27FC236}">
                <a16:creationId xmlns:a16="http://schemas.microsoft.com/office/drawing/2014/main" id="{3BC6F55B-D198-4794-A767-DD4D16DE8BFA}"/>
              </a:ext>
            </a:extLst>
          </p:cNvPr>
          <p:cNvSpPr>
            <a:spLocks noGrp="1"/>
          </p:cNvSpPr>
          <p:nvPr/>
        </p:nvSpPr>
        <p:spPr>
          <a:xfrm>
            <a:off x="9052560" y="1762125"/>
            <a:ext cx="1304925" cy="0"/>
          </a:xfrm>
          <a:prstGeom prst="line">
            <a:avLst/>
          </a:prstGeom>
          <a:noFill/>
          <a:ln w="15240">
            <a:solidFill>
              <a:srgbClr val="AEB2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S2 local estimate 1-0">
            <a:extLst>
              <a:ext uri="{FF2B5EF4-FFF2-40B4-BE49-F238E27FC236}">
                <a16:creationId xmlns:a16="http://schemas.microsoft.com/office/drawing/2014/main" id="{1953A7D1-F5C7-4FA9-8D7C-9E69CDD1908A}"/>
              </a:ext>
            </a:extLst>
          </p:cNvPr>
          <p:cNvSpPr>
            <a:spLocks noGrp="1"/>
          </p:cNvSpPr>
          <p:nvPr/>
        </p:nvSpPr>
        <p:spPr>
          <a:xfrm>
            <a:off x="9132951" y="1685925"/>
            <a:ext cx="152400" cy="152400"/>
          </a:xfrm>
          <a:prstGeom prst="ellipse">
            <a:avLst/>
          </a:prstGeom>
          <a:solidFill>
            <a:srgbClr val="FFFFFF"/>
          </a:solidFill>
          <a:ln w="21908">
            <a:solidFill>
              <a:srgbClr val="90959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S2 pooled estimate 1-0">
            <a:extLst>
              <a:ext uri="{FF2B5EF4-FFF2-40B4-BE49-F238E27FC236}">
                <a16:creationId xmlns:a16="http://schemas.microsoft.com/office/drawing/2014/main" id="{E631E663-0636-4E7B-B12F-EB3C28444261}"/>
              </a:ext>
            </a:extLst>
          </p:cNvPr>
          <p:cNvSpPr>
            <a:spLocks noGrp="1"/>
          </p:cNvSpPr>
          <p:nvPr/>
        </p:nvSpPr>
        <p:spPr>
          <a:xfrm>
            <a:off x="9628823" y="1685925"/>
            <a:ext cx="152400" cy="152400"/>
          </a:xfrm>
          <a:prstGeom prst="ellipse">
            <a:avLst/>
          </a:prstGeom>
          <a:solidFill>
            <a:srgbClr val="F05A28"/>
          </a:solidFill>
          <a:ln w="12383">
            <a:solidFill>
              <a:srgbClr val="F05A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" name="S2 participant label 1-1">
            <a:extLst>
              <a:ext uri="{FF2B5EF4-FFF2-40B4-BE49-F238E27FC236}">
                <a16:creationId xmlns:a16="http://schemas.microsoft.com/office/drawing/2014/main" id="{6111A682-4A58-46E1-9810-C1FFD0C32F01}"/>
              </a:ext>
            </a:extLst>
          </p:cNvPr>
          <p:cNvSpPr>
            <a:spLocks noGrp="1"/>
          </p:cNvSpPr>
          <p:nvPr/>
        </p:nvSpPr>
        <p:spPr>
          <a:xfrm>
            <a:off x="8747760" y="302895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lnSpc>
                <a:spcPct val="94000"/>
              </a:lnSpc>
              <a:buNone/>
              <a:defRPr sz="1275" b="0">
                <a:solidFill>
                  <a:srgbClr val="676B6E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676B6E"/>
                </a:solidFill>
                <a:latin typeface="Lato"/>
                <a:ea typeface="Lato"/>
                <a:cs typeface="Lato"/>
              </a:rPr>
              <a:t>P2</a:t>
            </a:r>
          </a:p>
        </p:txBody>
      </p:sp>
      <p:sp>
        <p:nvSpPr>
          <p:cNvPr id="76" name="S2 axis 1-1">
            <a:extLst>
              <a:ext uri="{FF2B5EF4-FFF2-40B4-BE49-F238E27FC236}">
                <a16:creationId xmlns:a16="http://schemas.microsoft.com/office/drawing/2014/main" id="{5C95B8F9-F25B-4160-8AD0-B5829A5FA255}"/>
              </a:ext>
            </a:extLst>
          </p:cNvPr>
          <p:cNvSpPr>
            <a:spLocks noGrp="1"/>
          </p:cNvSpPr>
          <p:nvPr/>
        </p:nvSpPr>
        <p:spPr>
          <a:xfrm>
            <a:off x="9052560" y="3190875"/>
            <a:ext cx="1304925" cy="0"/>
          </a:xfrm>
          <a:prstGeom prst="line">
            <a:avLst/>
          </a:prstGeom>
          <a:noFill/>
          <a:ln w="15240">
            <a:solidFill>
              <a:srgbClr val="AEB2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S2 local estimate 1-1">
            <a:extLst>
              <a:ext uri="{FF2B5EF4-FFF2-40B4-BE49-F238E27FC236}">
                <a16:creationId xmlns:a16="http://schemas.microsoft.com/office/drawing/2014/main" id="{C2113EC6-F5B1-48BD-96F0-8294722062AB}"/>
              </a:ext>
            </a:extLst>
          </p:cNvPr>
          <p:cNvSpPr>
            <a:spLocks noGrp="1"/>
          </p:cNvSpPr>
          <p:nvPr/>
        </p:nvSpPr>
        <p:spPr>
          <a:xfrm>
            <a:off x="9863709" y="3114675"/>
            <a:ext cx="152400" cy="152400"/>
          </a:xfrm>
          <a:prstGeom prst="ellipse">
            <a:avLst/>
          </a:prstGeom>
          <a:solidFill>
            <a:srgbClr val="FFFFFF"/>
          </a:solidFill>
          <a:ln w="21908">
            <a:solidFill>
              <a:srgbClr val="90959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S2 pooled estimate 1-1">
            <a:extLst>
              <a:ext uri="{FF2B5EF4-FFF2-40B4-BE49-F238E27FC236}">
                <a16:creationId xmlns:a16="http://schemas.microsoft.com/office/drawing/2014/main" id="{5408315B-9134-4978-8A09-1D8E96F58318}"/>
              </a:ext>
            </a:extLst>
          </p:cNvPr>
          <p:cNvSpPr>
            <a:spLocks noGrp="1"/>
          </p:cNvSpPr>
          <p:nvPr/>
        </p:nvSpPr>
        <p:spPr>
          <a:xfrm>
            <a:off x="9628823" y="3114675"/>
            <a:ext cx="152400" cy="152400"/>
          </a:xfrm>
          <a:prstGeom prst="ellipse">
            <a:avLst/>
          </a:prstGeom>
          <a:solidFill>
            <a:srgbClr val="F05A28"/>
          </a:solidFill>
          <a:ln w="12383">
            <a:solidFill>
              <a:srgbClr val="F05A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S2 participant label 1-2">
            <a:extLst>
              <a:ext uri="{FF2B5EF4-FFF2-40B4-BE49-F238E27FC236}">
                <a16:creationId xmlns:a16="http://schemas.microsoft.com/office/drawing/2014/main" id="{1EC76458-1A89-4788-9190-F60FA8C7EAAD}"/>
              </a:ext>
            </a:extLst>
          </p:cNvPr>
          <p:cNvSpPr>
            <a:spLocks noGrp="1"/>
          </p:cNvSpPr>
          <p:nvPr/>
        </p:nvSpPr>
        <p:spPr>
          <a:xfrm>
            <a:off x="8747760" y="445770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lnSpc>
                <a:spcPct val="94000"/>
              </a:lnSpc>
              <a:buNone/>
              <a:defRPr sz="1275" b="0">
                <a:solidFill>
                  <a:srgbClr val="676B6E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676B6E"/>
                </a:solidFill>
                <a:latin typeface="Lato"/>
                <a:ea typeface="Lato"/>
                <a:cs typeface="Lato"/>
              </a:rPr>
              <a:t>P3</a:t>
            </a:r>
          </a:p>
        </p:txBody>
      </p:sp>
      <p:sp>
        <p:nvSpPr>
          <p:cNvPr id="81" name="S2 axis 1-2">
            <a:extLst>
              <a:ext uri="{FF2B5EF4-FFF2-40B4-BE49-F238E27FC236}">
                <a16:creationId xmlns:a16="http://schemas.microsoft.com/office/drawing/2014/main" id="{DBBEF82A-8E25-477E-BB18-2DC20510A231}"/>
              </a:ext>
            </a:extLst>
          </p:cNvPr>
          <p:cNvSpPr>
            <a:spLocks noGrp="1"/>
          </p:cNvSpPr>
          <p:nvPr/>
        </p:nvSpPr>
        <p:spPr>
          <a:xfrm>
            <a:off x="9052560" y="4619625"/>
            <a:ext cx="1304925" cy="0"/>
          </a:xfrm>
          <a:prstGeom prst="line">
            <a:avLst/>
          </a:prstGeom>
          <a:noFill/>
          <a:ln w="15240">
            <a:solidFill>
              <a:srgbClr val="AEB2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S2 local estimate 1-2">
            <a:extLst>
              <a:ext uri="{FF2B5EF4-FFF2-40B4-BE49-F238E27FC236}">
                <a16:creationId xmlns:a16="http://schemas.microsoft.com/office/drawing/2014/main" id="{A8F73571-86EA-4960-8B48-CD1F5C3BF629}"/>
              </a:ext>
            </a:extLst>
          </p:cNvPr>
          <p:cNvSpPr>
            <a:spLocks noGrp="1"/>
          </p:cNvSpPr>
          <p:nvPr/>
        </p:nvSpPr>
        <p:spPr>
          <a:xfrm>
            <a:off x="10124694" y="4543425"/>
            <a:ext cx="152400" cy="152400"/>
          </a:xfrm>
          <a:prstGeom prst="ellipse">
            <a:avLst/>
          </a:prstGeom>
          <a:solidFill>
            <a:srgbClr val="FFFFFF"/>
          </a:solidFill>
          <a:ln w="21908">
            <a:solidFill>
              <a:srgbClr val="90959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S2 pooled estimate 1-2">
            <a:extLst>
              <a:ext uri="{FF2B5EF4-FFF2-40B4-BE49-F238E27FC236}">
                <a16:creationId xmlns:a16="http://schemas.microsoft.com/office/drawing/2014/main" id="{F2307948-F914-4FC5-9F49-89C41B2AD075}"/>
              </a:ext>
            </a:extLst>
          </p:cNvPr>
          <p:cNvSpPr>
            <a:spLocks noGrp="1"/>
          </p:cNvSpPr>
          <p:nvPr/>
        </p:nvSpPr>
        <p:spPr>
          <a:xfrm>
            <a:off x="9628823" y="4543425"/>
            <a:ext cx="152400" cy="152400"/>
          </a:xfrm>
          <a:prstGeom prst="ellipse">
            <a:avLst/>
          </a:prstGeom>
          <a:solidFill>
            <a:srgbClr val="F05A28"/>
          </a:solidFill>
          <a:ln w="12383">
            <a:solidFill>
              <a:srgbClr val="F05A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" name="S2 population marker 2">
            <a:extLst>
              <a:ext uri="{FF2B5EF4-FFF2-40B4-BE49-F238E27FC236}">
                <a16:creationId xmlns:a16="http://schemas.microsoft.com/office/drawing/2014/main" id="{C02C450B-3BD4-445B-8C6F-543038A5D106}"/>
              </a:ext>
            </a:extLst>
          </p:cNvPr>
          <p:cNvSpPr>
            <a:spLocks noGrp="1"/>
          </p:cNvSpPr>
          <p:nvPr/>
        </p:nvSpPr>
        <p:spPr>
          <a:xfrm>
            <a:off x="11464290" y="1428750"/>
            <a:ext cx="0" cy="3333750"/>
          </a:xfrm>
          <a:prstGeom prst="line">
            <a:avLst/>
          </a:prstGeom>
          <a:noFill/>
          <a:ln w="16193">
            <a:solidFill>
              <a:srgbClr val="7BA99E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86" name="S2 participant label 2-0">
            <a:extLst>
              <a:ext uri="{FF2B5EF4-FFF2-40B4-BE49-F238E27FC236}">
                <a16:creationId xmlns:a16="http://schemas.microsoft.com/office/drawing/2014/main" id="{292971DE-2529-4553-B8D2-A1C203D601C7}"/>
              </a:ext>
            </a:extLst>
          </p:cNvPr>
          <p:cNvSpPr>
            <a:spLocks noGrp="1"/>
          </p:cNvSpPr>
          <p:nvPr/>
        </p:nvSpPr>
        <p:spPr>
          <a:xfrm>
            <a:off x="10507028" y="160020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lnSpc>
                <a:spcPct val="94000"/>
              </a:lnSpc>
              <a:buNone/>
              <a:defRPr sz="1275" b="0">
                <a:solidFill>
                  <a:srgbClr val="676B6E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676B6E"/>
                </a:solidFill>
                <a:latin typeface="Lato"/>
                <a:ea typeface="Lato"/>
                <a:cs typeface="Lato"/>
              </a:rPr>
              <a:t>P1</a:t>
            </a:r>
          </a:p>
        </p:txBody>
      </p:sp>
      <p:sp>
        <p:nvSpPr>
          <p:cNvPr id="87" name="S2 axis 2-0">
            <a:extLst>
              <a:ext uri="{FF2B5EF4-FFF2-40B4-BE49-F238E27FC236}">
                <a16:creationId xmlns:a16="http://schemas.microsoft.com/office/drawing/2014/main" id="{ADF77CE8-F717-4C78-A489-143BE10CA11E}"/>
              </a:ext>
            </a:extLst>
          </p:cNvPr>
          <p:cNvSpPr>
            <a:spLocks noGrp="1"/>
          </p:cNvSpPr>
          <p:nvPr/>
        </p:nvSpPr>
        <p:spPr>
          <a:xfrm>
            <a:off x="10811828" y="1762125"/>
            <a:ext cx="1304925" cy="0"/>
          </a:xfrm>
          <a:prstGeom prst="line">
            <a:avLst/>
          </a:prstGeom>
          <a:noFill/>
          <a:ln w="15240">
            <a:solidFill>
              <a:srgbClr val="AEB2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S2 local estimate 2-0">
            <a:extLst>
              <a:ext uri="{FF2B5EF4-FFF2-40B4-BE49-F238E27FC236}">
                <a16:creationId xmlns:a16="http://schemas.microsoft.com/office/drawing/2014/main" id="{DF20F774-AB99-4676-BD75-9DF5E5D0E7E5}"/>
              </a:ext>
            </a:extLst>
          </p:cNvPr>
          <p:cNvSpPr>
            <a:spLocks noGrp="1"/>
          </p:cNvSpPr>
          <p:nvPr/>
        </p:nvSpPr>
        <p:spPr>
          <a:xfrm>
            <a:off x="10892219" y="1685925"/>
            <a:ext cx="152400" cy="152400"/>
          </a:xfrm>
          <a:prstGeom prst="ellipse">
            <a:avLst/>
          </a:prstGeom>
          <a:solidFill>
            <a:srgbClr val="FFFFFF"/>
          </a:solidFill>
          <a:ln w="21908">
            <a:solidFill>
              <a:srgbClr val="90959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9" name="S2 pooled estimate 2-0">
            <a:extLst>
              <a:ext uri="{FF2B5EF4-FFF2-40B4-BE49-F238E27FC236}">
                <a16:creationId xmlns:a16="http://schemas.microsoft.com/office/drawing/2014/main" id="{066D8C23-4A68-48C5-BC18-724575AC83B1}"/>
              </a:ext>
            </a:extLst>
          </p:cNvPr>
          <p:cNvSpPr>
            <a:spLocks noGrp="1"/>
          </p:cNvSpPr>
          <p:nvPr/>
        </p:nvSpPr>
        <p:spPr>
          <a:xfrm>
            <a:off x="11179302" y="1685925"/>
            <a:ext cx="152400" cy="152400"/>
          </a:xfrm>
          <a:prstGeom prst="ellipse">
            <a:avLst/>
          </a:prstGeom>
          <a:solidFill>
            <a:srgbClr val="F05A28"/>
          </a:solidFill>
          <a:ln w="12383">
            <a:solidFill>
              <a:srgbClr val="F05A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1" name="S2 participant label 2-1">
            <a:extLst>
              <a:ext uri="{FF2B5EF4-FFF2-40B4-BE49-F238E27FC236}">
                <a16:creationId xmlns:a16="http://schemas.microsoft.com/office/drawing/2014/main" id="{AE75A6F2-6548-4C4E-93A7-BB80FA457F84}"/>
              </a:ext>
            </a:extLst>
          </p:cNvPr>
          <p:cNvSpPr>
            <a:spLocks noGrp="1"/>
          </p:cNvSpPr>
          <p:nvPr/>
        </p:nvSpPr>
        <p:spPr>
          <a:xfrm>
            <a:off x="10507028" y="302895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lnSpc>
                <a:spcPct val="94000"/>
              </a:lnSpc>
              <a:buNone/>
              <a:defRPr sz="1275" b="0">
                <a:solidFill>
                  <a:srgbClr val="676B6E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676B6E"/>
                </a:solidFill>
                <a:latin typeface="Lato"/>
                <a:ea typeface="Lato"/>
                <a:cs typeface="Lato"/>
              </a:rPr>
              <a:t>P2</a:t>
            </a:r>
          </a:p>
        </p:txBody>
      </p:sp>
      <p:sp>
        <p:nvSpPr>
          <p:cNvPr id="92" name="S2 axis 2-1">
            <a:extLst>
              <a:ext uri="{FF2B5EF4-FFF2-40B4-BE49-F238E27FC236}">
                <a16:creationId xmlns:a16="http://schemas.microsoft.com/office/drawing/2014/main" id="{1D6023B7-5678-4F51-B05D-3077E57A3A14}"/>
              </a:ext>
            </a:extLst>
          </p:cNvPr>
          <p:cNvSpPr>
            <a:spLocks noGrp="1"/>
          </p:cNvSpPr>
          <p:nvPr/>
        </p:nvSpPr>
        <p:spPr>
          <a:xfrm>
            <a:off x="10811828" y="3190875"/>
            <a:ext cx="1304925" cy="0"/>
          </a:xfrm>
          <a:prstGeom prst="line">
            <a:avLst/>
          </a:prstGeom>
          <a:noFill/>
          <a:ln w="15240">
            <a:solidFill>
              <a:srgbClr val="AEB2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S2 local estimate 2-1">
            <a:extLst>
              <a:ext uri="{FF2B5EF4-FFF2-40B4-BE49-F238E27FC236}">
                <a16:creationId xmlns:a16="http://schemas.microsoft.com/office/drawing/2014/main" id="{A454FBD1-5FFA-453E-A851-7BFB11818840}"/>
              </a:ext>
            </a:extLst>
          </p:cNvPr>
          <p:cNvSpPr>
            <a:spLocks noGrp="1"/>
          </p:cNvSpPr>
          <p:nvPr/>
        </p:nvSpPr>
        <p:spPr>
          <a:xfrm>
            <a:off x="11704153" y="3108678"/>
            <a:ext cx="152400" cy="152400"/>
          </a:xfrm>
          <a:prstGeom prst="ellipse">
            <a:avLst/>
          </a:prstGeom>
          <a:solidFill>
            <a:srgbClr val="FFFFFF"/>
          </a:solidFill>
          <a:ln w="21908">
            <a:solidFill>
              <a:srgbClr val="90959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S2 pooled estimate 2-1">
            <a:extLst>
              <a:ext uri="{FF2B5EF4-FFF2-40B4-BE49-F238E27FC236}">
                <a16:creationId xmlns:a16="http://schemas.microsoft.com/office/drawing/2014/main" id="{06D47018-3E42-46AA-9580-135299637530}"/>
              </a:ext>
            </a:extLst>
          </p:cNvPr>
          <p:cNvSpPr>
            <a:spLocks noGrp="1"/>
          </p:cNvSpPr>
          <p:nvPr/>
        </p:nvSpPr>
        <p:spPr>
          <a:xfrm>
            <a:off x="11581733" y="3108678"/>
            <a:ext cx="152400" cy="152400"/>
          </a:xfrm>
          <a:prstGeom prst="ellipse">
            <a:avLst/>
          </a:prstGeom>
          <a:solidFill>
            <a:srgbClr val="F05A28"/>
          </a:solidFill>
          <a:ln w="12383">
            <a:solidFill>
              <a:srgbClr val="F05A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S2 participant label 2-2">
            <a:extLst>
              <a:ext uri="{FF2B5EF4-FFF2-40B4-BE49-F238E27FC236}">
                <a16:creationId xmlns:a16="http://schemas.microsoft.com/office/drawing/2014/main" id="{429F1F36-94F2-4E85-93AE-DD35E6EA8D4A}"/>
              </a:ext>
            </a:extLst>
          </p:cNvPr>
          <p:cNvSpPr>
            <a:spLocks noGrp="1"/>
          </p:cNvSpPr>
          <p:nvPr/>
        </p:nvSpPr>
        <p:spPr>
          <a:xfrm>
            <a:off x="10507028" y="4457700"/>
            <a:ext cx="28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lnSpc>
                <a:spcPct val="94000"/>
              </a:lnSpc>
              <a:buNone/>
              <a:defRPr sz="1275" b="0">
                <a:solidFill>
                  <a:srgbClr val="676B6E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676B6E"/>
                </a:solidFill>
                <a:latin typeface="Lato"/>
                <a:ea typeface="Lato"/>
                <a:cs typeface="Lato"/>
              </a:rPr>
              <a:t>P3</a:t>
            </a:r>
          </a:p>
        </p:txBody>
      </p:sp>
      <p:sp>
        <p:nvSpPr>
          <p:cNvPr id="97" name="S2 axis 2-2">
            <a:extLst>
              <a:ext uri="{FF2B5EF4-FFF2-40B4-BE49-F238E27FC236}">
                <a16:creationId xmlns:a16="http://schemas.microsoft.com/office/drawing/2014/main" id="{D7D1020B-B52F-4649-9CD9-BFBA6502C289}"/>
              </a:ext>
            </a:extLst>
          </p:cNvPr>
          <p:cNvSpPr>
            <a:spLocks noGrp="1"/>
          </p:cNvSpPr>
          <p:nvPr/>
        </p:nvSpPr>
        <p:spPr>
          <a:xfrm>
            <a:off x="10811828" y="4619625"/>
            <a:ext cx="1304925" cy="0"/>
          </a:xfrm>
          <a:prstGeom prst="line">
            <a:avLst/>
          </a:prstGeom>
          <a:noFill/>
          <a:ln w="15240">
            <a:solidFill>
              <a:srgbClr val="AEB2B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8" name="S2 local estimate 2-2">
            <a:extLst>
              <a:ext uri="{FF2B5EF4-FFF2-40B4-BE49-F238E27FC236}">
                <a16:creationId xmlns:a16="http://schemas.microsoft.com/office/drawing/2014/main" id="{A7578998-9A98-4596-AB3C-88CBD25DB297}"/>
              </a:ext>
            </a:extLst>
          </p:cNvPr>
          <p:cNvSpPr>
            <a:spLocks noGrp="1"/>
          </p:cNvSpPr>
          <p:nvPr/>
        </p:nvSpPr>
        <p:spPr>
          <a:xfrm>
            <a:off x="11883961" y="4543425"/>
            <a:ext cx="152400" cy="152400"/>
          </a:xfrm>
          <a:prstGeom prst="ellipse">
            <a:avLst/>
          </a:prstGeom>
          <a:solidFill>
            <a:srgbClr val="FFFFFF"/>
          </a:solidFill>
          <a:ln w="21908">
            <a:solidFill>
              <a:srgbClr val="90959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S2 pooled estimate 2-2">
            <a:extLst>
              <a:ext uri="{FF2B5EF4-FFF2-40B4-BE49-F238E27FC236}">
                <a16:creationId xmlns:a16="http://schemas.microsoft.com/office/drawing/2014/main" id="{9AD95056-F013-4FC5-B55A-334BE0DE56B3}"/>
              </a:ext>
            </a:extLst>
          </p:cNvPr>
          <p:cNvSpPr>
            <a:spLocks noGrp="1"/>
          </p:cNvSpPr>
          <p:nvPr/>
        </p:nvSpPr>
        <p:spPr>
          <a:xfrm>
            <a:off x="11734133" y="4543425"/>
            <a:ext cx="152400" cy="152400"/>
          </a:xfrm>
          <a:prstGeom prst="ellipse">
            <a:avLst/>
          </a:prstGeom>
          <a:solidFill>
            <a:srgbClr val="F05A28"/>
          </a:solidFill>
          <a:ln w="12383">
            <a:solidFill>
              <a:srgbClr val="F05A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S2 no pooling caption">
            <a:extLst>
              <a:ext uri="{FF2B5EF4-FFF2-40B4-BE49-F238E27FC236}">
                <a16:creationId xmlns:a16="http://schemas.microsoft.com/office/drawing/2014/main" id="{EF919FF1-16BD-4B76-84D8-FF822086D330}"/>
              </a:ext>
            </a:extLst>
          </p:cNvPr>
          <p:cNvSpPr>
            <a:spLocks noGrp="1"/>
          </p:cNvSpPr>
          <p:nvPr/>
        </p:nvSpPr>
        <p:spPr>
          <a:xfrm>
            <a:off x="7220903" y="5000625"/>
            <a:ext cx="1447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lnSpc>
                <a:spcPct val="94000"/>
              </a:lnSpc>
              <a:buNone/>
              <a:defRPr sz="1500" b="0">
                <a:solidFill>
                  <a:srgbClr val="676B6E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676B6E"/>
                </a:solidFill>
                <a:latin typeface="Lato"/>
                <a:ea typeface="Lato"/>
                <a:cs typeface="Lato"/>
              </a:rPr>
              <a:t>local estimates</a:t>
            </a:r>
          </a:p>
          <a:p>
            <a:pPr algn="ctr">
              <a:lnSpc>
                <a:spcPct val="94000"/>
              </a:lnSpc>
              <a:buNone/>
              <a:defRPr sz="1500" b="0">
                <a:solidFill>
                  <a:srgbClr val="676B6E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676B6E"/>
                </a:solidFill>
                <a:latin typeface="Lato"/>
                <a:ea typeface="Lato"/>
                <a:cs typeface="Lato"/>
              </a:rPr>
              <a:t>unchanged</a:t>
            </a:r>
          </a:p>
        </p:txBody>
      </p:sp>
      <p:sp>
        <p:nvSpPr>
          <p:cNvPr id="102" name="S2 complete pooling caption">
            <a:extLst>
              <a:ext uri="{FF2B5EF4-FFF2-40B4-BE49-F238E27FC236}">
                <a16:creationId xmlns:a16="http://schemas.microsoft.com/office/drawing/2014/main" id="{121181B3-2DD5-4C33-9CBA-8565832F3CA3}"/>
              </a:ext>
            </a:extLst>
          </p:cNvPr>
          <p:cNvSpPr>
            <a:spLocks noGrp="1"/>
          </p:cNvSpPr>
          <p:nvPr/>
        </p:nvSpPr>
        <p:spPr>
          <a:xfrm>
            <a:off x="8981123" y="5000625"/>
            <a:ext cx="1447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lnSpc>
                <a:spcPct val="94000"/>
              </a:lnSpc>
              <a:buNone/>
              <a:defRPr sz="1500" b="0">
                <a:solidFill>
                  <a:srgbClr val="676B6E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676B6E"/>
                </a:solidFill>
                <a:latin typeface="Lato"/>
                <a:ea typeface="Lato"/>
                <a:cs typeface="Lato"/>
              </a:rPr>
              <a:t>all estimates</a:t>
            </a:r>
          </a:p>
          <a:p>
            <a:pPr algn="ctr">
              <a:lnSpc>
                <a:spcPct val="94000"/>
              </a:lnSpc>
              <a:buNone/>
              <a:defRPr sz="1500" b="0">
                <a:solidFill>
                  <a:srgbClr val="676B6E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676B6E"/>
                </a:solidFill>
                <a:latin typeface="Lato"/>
                <a:ea typeface="Lato"/>
                <a:cs typeface="Lato"/>
              </a:rPr>
              <a:t>become equal</a:t>
            </a:r>
          </a:p>
        </p:txBody>
      </p:sp>
      <p:sp>
        <p:nvSpPr>
          <p:cNvPr id="103" name="S2 partial pooling caption">
            <a:extLst>
              <a:ext uri="{FF2B5EF4-FFF2-40B4-BE49-F238E27FC236}">
                <a16:creationId xmlns:a16="http://schemas.microsoft.com/office/drawing/2014/main" id="{6DF3FCF2-2857-4EBE-B2AE-E0FCF1FA7C2E}"/>
              </a:ext>
            </a:extLst>
          </p:cNvPr>
          <p:cNvSpPr>
            <a:spLocks noGrp="1"/>
          </p:cNvSpPr>
          <p:nvPr/>
        </p:nvSpPr>
        <p:spPr>
          <a:xfrm>
            <a:off x="10740390" y="5000625"/>
            <a:ext cx="1447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ctr">
              <a:lnSpc>
                <a:spcPct val="94000"/>
              </a:lnSpc>
              <a:buNone/>
              <a:defRPr sz="1500" b="0">
                <a:solidFill>
                  <a:srgbClr val="F05A28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F05A28"/>
                </a:solidFill>
                <a:latin typeface="Lato"/>
                <a:ea typeface="Lato"/>
                <a:cs typeface="Lato"/>
              </a:rPr>
              <a:t>low-precision data</a:t>
            </a:r>
          </a:p>
          <a:p>
            <a:pPr algn="ctr">
              <a:lnSpc>
                <a:spcPct val="94000"/>
              </a:lnSpc>
              <a:buNone/>
              <a:defRPr sz="1500" b="0">
                <a:solidFill>
                  <a:srgbClr val="F05A28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F05A28"/>
                </a:solidFill>
                <a:latin typeface="Lato"/>
                <a:ea typeface="Lato"/>
                <a:cs typeface="Lato"/>
              </a:rPr>
              <a:t>move farther</a:t>
            </a:r>
          </a:p>
        </p:txBody>
      </p:sp>
      <p:sp>
        <p:nvSpPr>
          <p:cNvPr id="104" name="S2 legend local">
            <a:extLst>
              <a:ext uri="{FF2B5EF4-FFF2-40B4-BE49-F238E27FC236}">
                <a16:creationId xmlns:a16="http://schemas.microsoft.com/office/drawing/2014/main" id="{B575466F-3F00-4F98-9F83-ADBFE386D8D0}"/>
              </a:ext>
            </a:extLst>
          </p:cNvPr>
          <p:cNvSpPr>
            <a:spLocks noGrp="1"/>
          </p:cNvSpPr>
          <p:nvPr/>
        </p:nvSpPr>
        <p:spPr>
          <a:xfrm>
            <a:off x="7896225" y="5962650"/>
            <a:ext cx="152400" cy="152400"/>
          </a:xfrm>
          <a:prstGeom prst="ellipse">
            <a:avLst/>
          </a:prstGeom>
          <a:solidFill>
            <a:srgbClr val="FFFFFF"/>
          </a:solidFill>
          <a:ln w="21908">
            <a:solidFill>
              <a:srgbClr val="90959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5" name="S2 legend local label">
            <a:extLst>
              <a:ext uri="{FF2B5EF4-FFF2-40B4-BE49-F238E27FC236}">
                <a16:creationId xmlns:a16="http://schemas.microsoft.com/office/drawing/2014/main" id="{28FF3648-4143-4F13-AE25-503347CFCFE5}"/>
              </a:ext>
            </a:extLst>
          </p:cNvPr>
          <p:cNvSpPr>
            <a:spLocks noGrp="1"/>
          </p:cNvSpPr>
          <p:nvPr/>
        </p:nvSpPr>
        <p:spPr>
          <a:xfrm>
            <a:off x="8124825" y="5848350"/>
            <a:ext cx="1190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lnSpc>
                <a:spcPct val="94000"/>
              </a:lnSpc>
              <a:buNone/>
              <a:defRPr sz="1500" b="0">
                <a:solidFill>
                  <a:srgbClr val="676B6E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676B6E"/>
                </a:solidFill>
                <a:latin typeface="Lato"/>
                <a:ea typeface="Lato"/>
                <a:cs typeface="Lato"/>
              </a:rPr>
              <a:t>Local value</a:t>
            </a:r>
          </a:p>
        </p:txBody>
      </p:sp>
      <p:sp>
        <p:nvSpPr>
          <p:cNvPr id="106" name="S2 legend pooled">
            <a:extLst>
              <a:ext uri="{FF2B5EF4-FFF2-40B4-BE49-F238E27FC236}">
                <a16:creationId xmlns:a16="http://schemas.microsoft.com/office/drawing/2014/main" id="{38D6E6E6-2339-429E-805C-7A00A1E4A783}"/>
              </a:ext>
            </a:extLst>
          </p:cNvPr>
          <p:cNvSpPr>
            <a:spLocks noGrp="1"/>
          </p:cNvSpPr>
          <p:nvPr/>
        </p:nvSpPr>
        <p:spPr>
          <a:xfrm>
            <a:off x="9553575" y="5962650"/>
            <a:ext cx="152400" cy="152400"/>
          </a:xfrm>
          <a:prstGeom prst="ellipse">
            <a:avLst/>
          </a:prstGeom>
          <a:solidFill>
            <a:srgbClr val="F05A28"/>
          </a:solidFill>
          <a:ln w="12383">
            <a:solidFill>
              <a:srgbClr val="F05A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" name="S2 legend pooled label">
            <a:extLst>
              <a:ext uri="{FF2B5EF4-FFF2-40B4-BE49-F238E27FC236}">
                <a16:creationId xmlns:a16="http://schemas.microsoft.com/office/drawing/2014/main" id="{31EE47F3-DFAC-4778-A1C2-A24308EA9C21}"/>
              </a:ext>
            </a:extLst>
          </p:cNvPr>
          <p:cNvSpPr>
            <a:spLocks noGrp="1"/>
          </p:cNvSpPr>
          <p:nvPr/>
        </p:nvSpPr>
        <p:spPr>
          <a:xfrm>
            <a:off x="9782175" y="5848350"/>
            <a:ext cx="1428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9525" rIns="19050" bIns="9525" anchor="ctr">
            <a:noAutofit/>
          </a:bodyPr>
          <a:lstStyle/>
          <a:p>
            <a:pPr algn="l">
              <a:lnSpc>
                <a:spcPct val="94000"/>
              </a:lnSpc>
              <a:buNone/>
              <a:defRPr sz="1500" b="0">
                <a:solidFill>
                  <a:srgbClr val="676B6E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676B6E"/>
                </a:solidFill>
                <a:latin typeface="Lato"/>
                <a:ea typeface="Lato"/>
                <a:cs typeface="Lato"/>
              </a:rPr>
              <a:t>model estimate</a:t>
            </a:r>
          </a:p>
        </p:txBody>
      </p:sp>
      <p:sp>
        <p:nvSpPr>
          <p:cNvPr id="224" name="S2 movement 1-0">
            <a:extLst>
              <a:ext uri="{FF2B5EF4-FFF2-40B4-BE49-F238E27FC236}">
                <a16:creationId xmlns:a16="http://schemas.microsoft.com/office/drawing/2014/main" id="{BBF165F2-51BA-4DDE-9E3C-F69B438D7C45}"/>
              </a:ext>
            </a:extLst>
          </p:cNvPr>
          <p:cNvSpPr>
            <a:spLocks noGrp="1"/>
          </p:cNvSpPr>
          <p:nvPr/>
        </p:nvSpPr>
        <p:spPr>
          <a:xfrm>
            <a:off x="9285351" y="1762125"/>
            <a:ext cx="343472" cy="0"/>
          </a:xfrm>
          <a:prstGeom prst="line">
            <a:avLst/>
          </a:prstGeom>
          <a:noFill/>
          <a:ln w="20955">
            <a:solidFill>
              <a:srgbClr val="F05A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5" name="S2 movement 1-1">
            <a:extLst>
              <a:ext uri="{FF2B5EF4-FFF2-40B4-BE49-F238E27FC236}">
                <a16:creationId xmlns:a16="http://schemas.microsoft.com/office/drawing/2014/main" id="{7978E4AF-DA52-4EE9-A427-9759A6BDE3CB}"/>
              </a:ext>
            </a:extLst>
          </p:cNvPr>
          <p:cNvSpPr>
            <a:spLocks noGrp="1"/>
          </p:cNvSpPr>
          <p:nvPr/>
        </p:nvSpPr>
        <p:spPr>
          <a:xfrm>
            <a:off x="9781223" y="3190875"/>
            <a:ext cx="82486" cy="0"/>
          </a:xfrm>
          <a:prstGeom prst="line">
            <a:avLst/>
          </a:prstGeom>
          <a:noFill/>
          <a:ln w="20955">
            <a:solidFill>
              <a:srgbClr val="F05A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6" name="S2 movement 1-2">
            <a:extLst>
              <a:ext uri="{FF2B5EF4-FFF2-40B4-BE49-F238E27FC236}">
                <a16:creationId xmlns:a16="http://schemas.microsoft.com/office/drawing/2014/main" id="{25714DA6-17B3-4CD9-B605-EE90EE514530}"/>
              </a:ext>
            </a:extLst>
          </p:cNvPr>
          <p:cNvSpPr>
            <a:spLocks noGrp="1"/>
          </p:cNvSpPr>
          <p:nvPr/>
        </p:nvSpPr>
        <p:spPr>
          <a:xfrm>
            <a:off x="9781223" y="4619625"/>
            <a:ext cx="343472" cy="0"/>
          </a:xfrm>
          <a:prstGeom prst="line">
            <a:avLst/>
          </a:prstGeom>
          <a:noFill/>
          <a:ln w="20955">
            <a:solidFill>
              <a:srgbClr val="F05A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7" name="S2 movement 2-0">
            <a:extLst>
              <a:ext uri="{FF2B5EF4-FFF2-40B4-BE49-F238E27FC236}">
                <a16:creationId xmlns:a16="http://schemas.microsoft.com/office/drawing/2014/main" id="{2FD4B988-6E99-4520-A907-59DAE437FA36}"/>
              </a:ext>
            </a:extLst>
          </p:cNvPr>
          <p:cNvSpPr>
            <a:spLocks noGrp="1"/>
          </p:cNvSpPr>
          <p:nvPr/>
        </p:nvSpPr>
        <p:spPr>
          <a:xfrm>
            <a:off x="11044619" y="1762125"/>
            <a:ext cx="134683" cy="0"/>
          </a:xfrm>
          <a:prstGeom prst="line">
            <a:avLst/>
          </a:prstGeom>
          <a:noFill/>
          <a:ln w="20955">
            <a:solidFill>
              <a:srgbClr val="F05A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8" name="S2 movement 2-1">
            <a:extLst>
              <a:ext uri="{FF2B5EF4-FFF2-40B4-BE49-F238E27FC236}">
                <a16:creationId xmlns:a16="http://schemas.microsoft.com/office/drawing/2014/main" id="{0428360D-4BB4-48D8-9C7E-252DAE983EE0}"/>
              </a:ext>
            </a:extLst>
          </p:cNvPr>
          <p:cNvSpPr>
            <a:spLocks noGrp="1"/>
          </p:cNvSpPr>
          <p:nvPr/>
        </p:nvSpPr>
        <p:spPr>
          <a:xfrm>
            <a:off x="11581733" y="3190875"/>
            <a:ext cx="117443" cy="0"/>
          </a:xfrm>
          <a:prstGeom prst="line">
            <a:avLst/>
          </a:prstGeom>
          <a:noFill/>
          <a:ln w="20955">
            <a:solidFill>
              <a:srgbClr val="F05A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9" name="S2 movement 2-2">
            <a:extLst>
              <a:ext uri="{FF2B5EF4-FFF2-40B4-BE49-F238E27FC236}">
                <a16:creationId xmlns:a16="http://schemas.microsoft.com/office/drawing/2014/main" id="{02AB006E-9C89-4E4C-BEBE-76C22AAC65C9}"/>
              </a:ext>
            </a:extLst>
          </p:cNvPr>
          <p:cNvSpPr>
            <a:spLocks noGrp="1"/>
          </p:cNvSpPr>
          <p:nvPr/>
        </p:nvSpPr>
        <p:spPr>
          <a:xfrm>
            <a:off x="11881866" y="4619625"/>
            <a:ext cx="78296" cy="0"/>
          </a:xfrm>
          <a:prstGeom prst="line">
            <a:avLst/>
          </a:prstGeom>
          <a:noFill/>
          <a:ln w="20955">
            <a:solidFill>
              <a:srgbClr val="F05A28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7505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F94AA2BD-2E3F-4B1D-8127-5744B8115311}"/>
              </a:ext>
            </a:extLst>
          </p:cNvPr>
          <p:cNvSpPr>
            <a:spLocks noGrp="1"/>
          </p:cNvSpPr>
          <p:nvPr/>
        </p:nvSpPr>
        <p:spPr>
          <a:xfrm>
            <a:off x="0" y="26670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408DF60-ADAB-F951-D3FE-D94F99BC1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485861" cy="1088136"/>
          </a:xfrm>
        </p:spPr>
        <p:txBody>
          <a:bodyPr wrap="square" lIns="91440" tIns="45720" rIns="91440" bIns="45720" anchor="b">
            <a:noAutofit/>
          </a:bodyPr>
          <a:lstStyle/>
          <a:p>
            <a:pPr algn="l">
              <a:lnSpc>
                <a:spcPct val="90000"/>
              </a:lnSpc>
              <a:buNone/>
              <a:defRPr sz="3400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3400">
                <a:solidFill>
                  <a:srgbClr val="000000"/>
                </a:solidFill>
                <a:latin typeface="Lato"/>
                <a:ea typeface="Lato"/>
                <a:cs typeface="Lato"/>
              </a:rPr>
              <a:t>Trials, people, population: one model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BD02261-2DC8-4AA8-9E16-7751AE892445}"/>
              </a:ext>
            </a:extLst>
          </p:cNvPr>
          <p:cNvSpPr>
            <a:spLocks noGrp="1"/>
          </p:cNvSpPr>
          <p:nvPr/>
        </p:nvSpPr>
        <p:spPr>
          <a:xfrm rot="5400000">
            <a:off x="649223" y="22860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D752CF2-2291-40B5-B462-C17B174C10BC}"/>
              </a:ext>
            </a:extLst>
          </p:cNvPr>
          <p:cNvSpPr>
            <a:spLocks noGrp="1"/>
          </p:cNvSpPr>
          <p:nvPr/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5DE156-934E-AECE-B4BC-52B57E18D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79" y="2688336"/>
            <a:ext cx="4498848" cy="3584448"/>
          </a:xfrm>
        </p:spPr>
        <p:txBody>
          <a:bodyPr wrap="square" lIns="91440" tIns="45720" rIns="91440" bIns="45720" anchor="t">
            <a:noAutofit/>
          </a:bodyPr>
          <a:lstStyle/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>Trials inform participant parameters.</a:t>
            </a:r>
          </a:p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>Participant parameters inform μ and Σ.</a:t>
            </a:r>
          </a:p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>
            <a:pPr marL="18" indent="-12">
              <a:lnSpc>
                <a:spcPct val="92000"/>
              </a:lnSpc>
              <a:spcBef>
                <a:spcPts val="0"/>
              </a:spcBef>
              <a:buNone/>
            </a:pPr>
            <a:r>
              <a:t>The population regularizes uncertain participants.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>
            <a:pPr marL="18" indent="-12">
              <a:lnSpc>
                <a:spcPct val="92000"/>
              </a:lnSpc>
              <a:spcBef>
                <a:spcPts val="0"/>
              </a:spcBef>
              <a:buNone/>
            </a:pP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>
            <a:pPr marL="18" indent="-12">
              <a:lnSpc>
                <a:spcPct val="92000"/>
              </a:lnSpc>
              <a:spcBef>
                <a:spcPts val="0"/>
              </a:spcBef>
              <a:buNone/>
            </a:pPr>
            <a:r>
              <a:t>Inference flows both ways.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8" name="S3 editable figure background">
            <a:extLst>
              <a:ext uri="{FF2B5EF4-FFF2-40B4-BE49-F238E27FC236}">
                <a16:creationId xmlns:a16="http://schemas.microsoft.com/office/drawing/2014/main" id="{F58A4FAF-EBAC-4420-B914-882375C19645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S3 population">
            <a:extLst>
              <a:ext uri="{FF2B5EF4-FFF2-40B4-BE49-F238E27FC236}">
                <a16:creationId xmlns:a16="http://schemas.microsoft.com/office/drawing/2014/main" id="{71E8001A-BB1E-4AA4-B6D1-29B5CB4D5761}"/>
              </a:ext>
            </a:extLst>
          </p:cNvPr>
          <p:cNvSpPr>
            <a:spLocks noGrp="1"/>
          </p:cNvSpPr>
          <p:nvPr/>
        </p:nvSpPr>
        <p:spPr>
          <a:xfrm>
            <a:off x="7858125" y="523875"/>
            <a:ext cx="3429000" cy="781050"/>
          </a:xfrm>
          <a:prstGeom prst="roundRect">
            <a:avLst>
              <a:gd name="adj" fmla="val 9756"/>
            </a:avLst>
          </a:prstGeom>
          <a:solidFill>
            <a:srgbClr val="FBE4DB"/>
          </a:solidFill>
          <a:ln w="20955">
            <a:solidFill>
              <a:srgbClr val="F05A28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94000"/>
              </a:lnSpc>
              <a:buNone/>
              <a:defRPr sz="150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20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Population parameters</a:t>
            </a:r>
          </a:p>
          <a:p>
            <a:pPr algn="ctr">
              <a:lnSpc>
                <a:spcPct val="94000"/>
              </a:lnSpc>
              <a:buNone/>
              <a:defRPr sz="150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20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μ, Σ</a:t>
            </a:r>
          </a:p>
        </p:txBody>
      </p:sp>
      <p:sp>
        <p:nvSpPr>
          <p:cNvPr id="50" name="S3 participant 1">
            <a:extLst>
              <a:ext uri="{FF2B5EF4-FFF2-40B4-BE49-F238E27FC236}">
                <a16:creationId xmlns:a16="http://schemas.microsoft.com/office/drawing/2014/main" id="{0664B2F6-A1C7-4895-902B-0517FD9FA181}"/>
              </a:ext>
            </a:extLst>
          </p:cNvPr>
          <p:cNvSpPr>
            <a:spLocks noGrp="1"/>
          </p:cNvSpPr>
          <p:nvPr/>
        </p:nvSpPr>
        <p:spPr>
          <a:xfrm>
            <a:off x="7143750" y="2524125"/>
            <a:ext cx="1381125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335">
            <a:solidFill>
              <a:srgbClr val="BFC2C4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94000"/>
              </a:lnSpc>
              <a:buNone/>
              <a:defRPr sz="1425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6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Participant 1</a:t>
            </a:r>
          </a:p>
          <a:p>
            <a:pPr algn="ctr">
              <a:lnSpc>
                <a:spcPct val="94000"/>
              </a:lnSpc>
              <a:buNone/>
              <a:defRPr sz="1425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6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α₁</a:t>
            </a:r>
          </a:p>
        </p:txBody>
      </p:sp>
      <p:sp>
        <p:nvSpPr>
          <p:cNvPr id="51" name="S3 participant 2">
            <a:extLst>
              <a:ext uri="{FF2B5EF4-FFF2-40B4-BE49-F238E27FC236}">
                <a16:creationId xmlns:a16="http://schemas.microsoft.com/office/drawing/2014/main" id="{74850AF5-99B6-45E9-86C8-6DD343ECAC97}"/>
              </a:ext>
            </a:extLst>
          </p:cNvPr>
          <p:cNvSpPr>
            <a:spLocks noGrp="1"/>
          </p:cNvSpPr>
          <p:nvPr/>
        </p:nvSpPr>
        <p:spPr>
          <a:xfrm>
            <a:off x="8858250" y="2524125"/>
            <a:ext cx="1381125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335">
            <a:solidFill>
              <a:srgbClr val="BFC2C4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94000"/>
              </a:lnSpc>
              <a:buNone/>
              <a:defRPr sz="1425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6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Participant 2</a:t>
            </a:r>
          </a:p>
          <a:p>
            <a:pPr algn="ctr">
              <a:lnSpc>
                <a:spcPct val="94000"/>
              </a:lnSpc>
              <a:buNone/>
              <a:defRPr sz="1425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6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α₂</a:t>
            </a:r>
          </a:p>
        </p:txBody>
      </p:sp>
      <p:sp>
        <p:nvSpPr>
          <p:cNvPr id="52" name="S3 participant J">
            <a:extLst>
              <a:ext uri="{FF2B5EF4-FFF2-40B4-BE49-F238E27FC236}">
                <a16:creationId xmlns:a16="http://schemas.microsoft.com/office/drawing/2014/main" id="{8CE6A311-1F39-4122-9F62-4EAC1BD668B8}"/>
              </a:ext>
            </a:extLst>
          </p:cNvPr>
          <p:cNvSpPr>
            <a:spLocks noGrp="1"/>
          </p:cNvSpPr>
          <p:nvPr/>
        </p:nvSpPr>
        <p:spPr>
          <a:xfrm>
            <a:off x="10572750" y="2524125"/>
            <a:ext cx="1381125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335">
            <a:solidFill>
              <a:srgbClr val="BFC2C4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94000"/>
              </a:lnSpc>
              <a:buNone/>
              <a:defRPr sz="1425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6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Participant n</a:t>
            </a:r>
          </a:p>
          <a:p>
            <a:pPr algn="ctr">
              <a:lnSpc>
                <a:spcPct val="94000"/>
              </a:lnSpc>
              <a:buNone/>
              <a:defRPr sz="1425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6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αₙ</a:t>
            </a:r>
          </a:p>
        </p:txBody>
      </p:sp>
      <p:sp>
        <p:nvSpPr>
          <p:cNvPr id="53" name="S3 data 1">
            <a:extLst>
              <a:ext uri="{FF2B5EF4-FFF2-40B4-BE49-F238E27FC236}">
                <a16:creationId xmlns:a16="http://schemas.microsoft.com/office/drawing/2014/main" id="{030ECFFC-6346-427D-997F-FBA5477D4679}"/>
              </a:ext>
            </a:extLst>
          </p:cNvPr>
          <p:cNvSpPr>
            <a:spLocks noGrp="1"/>
          </p:cNvSpPr>
          <p:nvPr/>
        </p:nvSpPr>
        <p:spPr>
          <a:xfrm>
            <a:off x="7143750" y="4572000"/>
            <a:ext cx="1381125" cy="647700"/>
          </a:xfrm>
          <a:prstGeom prst="roundRect">
            <a:avLst>
              <a:gd name="adj" fmla="val 11765"/>
            </a:avLst>
          </a:prstGeom>
          <a:solidFill>
            <a:srgbClr val="E8F1EF"/>
          </a:solidFill>
          <a:ln w="17145">
            <a:solidFill>
              <a:srgbClr val="7BA99E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trials</a:t>
            </a:r>
          </a:p>
          <a:p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y₁</a:t>
            </a:r>
          </a:p>
        </p:txBody>
      </p:sp>
      <p:sp>
        <p:nvSpPr>
          <p:cNvPr id="54" name="S3 data 2">
            <a:extLst>
              <a:ext uri="{FF2B5EF4-FFF2-40B4-BE49-F238E27FC236}">
                <a16:creationId xmlns:a16="http://schemas.microsoft.com/office/drawing/2014/main" id="{C032818F-C8A8-4E90-9DB7-00CD3F74027C}"/>
              </a:ext>
            </a:extLst>
          </p:cNvPr>
          <p:cNvSpPr>
            <a:spLocks noGrp="1"/>
          </p:cNvSpPr>
          <p:nvPr/>
        </p:nvSpPr>
        <p:spPr>
          <a:xfrm>
            <a:off x="8858250" y="4572000"/>
            <a:ext cx="1381125" cy="647700"/>
          </a:xfrm>
          <a:prstGeom prst="roundRect">
            <a:avLst>
              <a:gd name="adj" fmla="val 11765"/>
            </a:avLst>
          </a:prstGeom>
          <a:solidFill>
            <a:srgbClr val="E8F1EF"/>
          </a:solidFill>
          <a:ln w="17145">
            <a:solidFill>
              <a:srgbClr val="7BA99E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trials</a:t>
            </a:r>
          </a:p>
          <a:p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y₂</a:t>
            </a:r>
          </a:p>
        </p:txBody>
      </p:sp>
      <p:sp>
        <p:nvSpPr>
          <p:cNvPr id="55" name="S3 data J">
            <a:extLst>
              <a:ext uri="{FF2B5EF4-FFF2-40B4-BE49-F238E27FC236}">
                <a16:creationId xmlns:a16="http://schemas.microsoft.com/office/drawing/2014/main" id="{FBE2FC63-DDD5-4C7C-A27F-0609EAD83481}"/>
              </a:ext>
            </a:extLst>
          </p:cNvPr>
          <p:cNvSpPr>
            <a:spLocks noGrp="1"/>
          </p:cNvSpPr>
          <p:nvPr/>
        </p:nvSpPr>
        <p:spPr>
          <a:xfrm>
            <a:off x="10572750" y="4572000"/>
            <a:ext cx="1381125" cy="647700"/>
          </a:xfrm>
          <a:prstGeom prst="roundRect">
            <a:avLst>
              <a:gd name="adj" fmla="val 11765"/>
            </a:avLst>
          </a:prstGeom>
          <a:solidFill>
            <a:srgbClr val="E8F1EF"/>
          </a:solidFill>
          <a:ln w="17145">
            <a:solidFill>
              <a:srgbClr val="7BA99E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trials</a:t>
            </a:r>
          </a:p>
          <a:p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yₙ</a:t>
            </a:r>
          </a:p>
        </p:txBody>
      </p:sp>
      <p:cxnSp>
        <p:nvCxnSpPr>
          <p:cNvPr id="307" name="S3 population to person 1"/>
          <p:cNvCxnSpPr>
            <a:stCxn id="49" idx="2"/>
            <a:endCxn id="50" idx="0"/>
          </p:cNvCxnSpPr>
          <p:nvPr/>
        </p:nvCxnSpPr>
        <p:spPr>
          <a:xfrm flipH="1">
            <a:off x="7834313" y="1304925"/>
            <a:ext cx="1738313" cy="1219200"/>
          </a:xfrm>
          <a:prstGeom prst="straightConnector1">
            <a:avLst/>
          </a:prstGeom>
          <a:ln w="19050">
            <a:solidFill>
              <a:srgbClr val="F05A2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08" name="S3 population to person 2"/>
          <p:cNvCxnSpPr>
            <a:stCxn id="49" idx="2"/>
            <a:endCxn id="51" idx="0"/>
          </p:cNvCxnSpPr>
          <p:nvPr/>
        </p:nvCxnSpPr>
        <p:spPr>
          <a:xfrm flipH="1">
            <a:off x="9548813" y="1304925"/>
            <a:ext cx="23813" cy="1219200"/>
          </a:xfrm>
          <a:prstGeom prst="straightConnector1">
            <a:avLst/>
          </a:prstGeom>
          <a:ln w="19050">
            <a:solidFill>
              <a:srgbClr val="F05A2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09" name="S3 population to person J"/>
          <p:cNvCxnSpPr>
            <a:stCxn id="49" idx="2"/>
            <a:endCxn id="52" idx="0"/>
          </p:cNvCxnSpPr>
          <p:nvPr/>
        </p:nvCxnSpPr>
        <p:spPr>
          <a:xfrm>
            <a:off x="9572625" y="1304925"/>
            <a:ext cx="1690688" cy="1219200"/>
          </a:xfrm>
          <a:prstGeom prst="straightConnector1">
            <a:avLst/>
          </a:prstGeom>
          <a:ln w="19050">
            <a:solidFill>
              <a:srgbClr val="F05A2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10" name="S3 person 1 to data"/>
          <p:cNvCxnSpPr>
            <a:stCxn id="50" idx="2"/>
            <a:endCxn id="53" idx="0"/>
          </p:cNvCxnSpPr>
          <p:nvPr/>
        </p:nvCxnSpPr>
        <p:spPr>
          <a:xfrm>
            <a:off x="7834313" y="3209925"/>
            <a:ext cx="0" cy="1362075"/>
          </a:xfrm>
          <a:prstGeom prst="straightConnector1">
            <a:avLst/>
          </a:prstGeom>
          <a:ln w="19050">
            <a:solidFill>
              <a:srgbClr val="F05A2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11" name="S3 person 2 to data"/>
          <p:cNvCxnSpPr>
            <a:stCxn id="51" idx="2"/>
            <a:endCxn id="54" idx="0"/>
          </p:cNvCxnSpPr>
          <p:nvPr/>
        </p:nvCxnSpPr>
        <p:spPr>
          <a:xfrm>
            <a:off x="9548813" y="3209925"/>
            <a:ext cx="0" cy="1362075"/>
          </a:xfrm>
          <a:prstGeom prst="straightConnector1">
            <a:avLst/>
          </a:prstGeom>
          <a:ln w="19050">
            <a:solidFill>
              <a:srgbClr val="F05A2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12" name="S3 person J to data"/>
          <p:cNvCxnSpPr>
            <a:stCxn id="52" idx="2"/>
            <a:endCxn id="55" idx="0"/>
          </p:cNvCxnSpPr>
          <p:nvPr/>
        </p:nvCxnSpPr>
        <p:spPr>
          <a:xfrm>
            <a:off x="11263313" y="3209925"/>
            <a:ext cx="0" cy="1362075"/>
          </a:xfrm>
          <a:prstGeom prst="straightConnector1">
            <a:avLst/>
          </a:prstGeom>
          <a:ln w="19050">
            <a:solidFill>
              <a:srgbClr val="F05A28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65" name="S3 hierarchy equation">
            <a:extLst>
              <a:ext uri="{FF2B5EF4-FFF2-40B4-BE49-F238E27FC236}">
                <a16:creationId xmlns:a16="http://schemas.microsoft.com/office/drawing/2014/main" id="{3863D907-6C8F-487D-A466-E202E8C09C68}"/>
              </a:ext>
            </a:extLst>
          </p:cNvPr>
          <p:cNvSpPr>
            <a:spLocks noGrp="1"/>
          </p:cNvSpPr>
          <p:nvPr/>
        </p:nvSpPr>
        <p:spPr>
          <a:xfrm>
            <a:off x="6836735" y="5905500"/>
            <a:ext cx="5117140" cy="68580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335">
            <a:solidFill>
              <a:srgbClr val="BFC2C4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μ,Σ ∼ p(μ,Σ)     αᵢ ∼ N(μ,Σ)     yᵢ ∼ p(yᵢ | αᵢ)</a:t>
            </a:r>
          </a:p>
        </p:txBody>
      </p:sp>
    </p:spTree>
    <p:extLst>
      <p:ext uri="{BB962C8B-B14F-4D97-AF65-F5344CB8AC3E}">
        <p14:creationId xmlns:p14="http://schemas.microsoft.com/office/powerpoint/2010/main" val="417505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89A9A7A6-4AF3-7FED-3641-3C0F629F9F9E}"/>
              </a:ext>
            </a:extLst>
          </p:cNvPr>
          <p:cNvSpPr>
            <a:spLocks noGrp="1"/>
          </p:cNvSpPr>
          <p:nvPr/>
        </p:nvSpPr>
        <p:spPr>
          <a:xfrm>
            <a:off x="0" y="333375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636A28E-3E12-0474-8797-EAD4B6646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485861" cy="1088136"/>
          </a:xfrm>
        </p:spPr>
        <p:txBody>
          <a:bodyPr wrap="square" lIns="91440" tIns="45720" rIns="91440" bIns="45720" anchor="b">
            <a:noAutofit/>
          </a:bodyPr>
          <a:lstStyle/>
          <a:p>
            <a:pPr algn="l">
              <a:lnSpc>
                <a:spcPct val="90000"/>
              </a:lnSpc>
              <a:buNone/>
              <a:defRPr sz="3400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3400">
                <a:solidFill>
                  <a:srgbClr val="000000"/>
                </a:solidFill>
                <a:latin typeface="Lato"/>
                <a:ea typeface="Lato"/>
                <a:cs typeface="Lato"/>
              </a:rPr>
              <a:t>Participant estimates are uncertain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C279A0-DA6A-C6AE-D0CC-4550181E3914}"/>
              </a:ext>
            </a:extLst>
          </p:cNvPr>
          <p:cNvSpPr>
            <a:spLocks noGrp="1"/>
          </p:cNvSpPr>
          <p:nvPr/>
        </p:nvSpPr>
        <p:spPr>
          <a:xfrm rot="5400000">
            <a:off x="649223" y="22860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667B673-8664-7B83-A92C-D8A88DB478CA}"/>
              </a:ext>
            </a:extLst>
          </p:cNvPr>
          <p:cNvSpPr>
            <a:spLocks noGrp="1"/>
          </p:cNvSpPr>
          <p:nvPr/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88AE6E-DDA7-0F17-AF37-1998DFCA2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79" y="2688336"/>
            <a:ext cx="4498848" cy="3584448"/>
          </a:xfrm>
        </p:spPr>
        <p:txBody>
          <a:bodyPr wrap="square" lIns="91440" tIns="45720" rIns="91440" bIns="45720" anchor="t">
            <a:noAutofit/>
          </a:bodyPr>
          <a:lstStyle/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>Trial variability and limited or unequal trials determine τᵢ².</a:t>
            </a:r>
          </a:p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This uncertainty can reflect: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• response variability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• weakly informative trials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• different trial counts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8" name="S5 measurement eyebrow">
            <a:extLst>
              <a:ext uri="{FF2B5EF4-FFF2-40B4-BE49-F238E27FC236}">
                <a16:creationId xmlns:a16="http://schemas.microsoft.com/office/drawing/2014/main" id="{36E0D8E9-CCD9-417A-BBFA-71E82645817D}"/>
              </a:ext>
            </a:extLst>
          </p:cNvPr>
          <p:cNvSpPr>
            <a:spLocks noGrp="1"/>
          </p:cNvSpPr>
          <p:nvPr/>
        </p:nvSpPr>
        <p:spPr>
          <a:xfrm>
            <a:off x="6191250" y="1381125"/>
            <a:ext cx="495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1">
                <a:solidFill>
                  <a:srgbClr val="676767"/>
                </a:solidFill>
                <a:latin typeface="Lato"/>
                <a:ea typeface="Lato"/>
                <a:cs typeface="Lato"/>
              </a:defRPr>
            </a:pPr>
            <a:r>
              <a:rPr sz="1425" b="1">
                <a:solidFill>
                  <a:srgbClr val="676767"/>
                </a:solidFill>
                <a:latin typeface="Lato"/>
                <a:ea typeface="Lato"/>
                <a:cs typeface="Lato"/>
              </a:rPr>
              <a:t>ONE COEFFICIENT · NORMAL–NORMAL ILLUSTRATION</a:t>
            </a:r>
          </a:p>
        </p:txBody>
      </p:sp>
      <p:sp>
        <p:nvSpPr>
          <p:cNvPr id="49" name="S5 measurement equation">
            <a:extLst>
              <a:ext uri="{FF2B5EF4-FFF2-40B4-BE49-F238E27FC236}">
                <a16:creationId xmlns:a16="http://schemas.microsoft.com/office/drawing/2014/main" id="{C2359C4E-D290-47F7-97C0-D2D0C18E5B4A}"/>
              </a:ext>
            </a:extLst>
          </p:cNvPr>
          <p:cNvSpPr>
            <a:spLocks noGrp="1"/>
          </p:cNvSpPr>
          <p:nvPr/>
        </p:nvSpPr>
        <p:spPr>
          <a:xfrm>
            <a:off x="5810250" y="1952625"/>
            <a:ext cx="581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4350" b="0">
                <a:solidFill>
                  <a:srgbClr val="242424"/>
                </a:solidFill>
                <a:latin typeface="Cambria Math"/>
                <a:ea typeface="Cambria Math"/>
                <a:cs typeface="Cambria Math"/>
              </a:defRPr>
            </a:pPr>
            <a:r>
              <a:rPr sz="4350" b="0">
                <a:solidFill>
                  <a:srgbClr val="242424"/>
                </a:solidFill>
                <a:latin typeface="Cambria Math"/>
                <a:ea typeface="Cambria Math"/>
                <a:cs typeface="Cambria Math"/>
              </a:rPr>
              <a:t>α̂ᵢ  =  αᵢ  +  εᵢ</a:t>
            </a:r>
          </a:p>
        </p:txBody>
      </p:sp>
      <p:sp>
        <p:nvSpPr>
          <p:cNvPr id="50" name="S5 measurement labels">
            <a:extLst>
              <a:ext uri="{FF2B5EF4-FFF2-40B4-BE49-F238E27FC236}">
                <a16:creationId xmlns:a16="http://schemas.microsoft.com/office/drawing/2014/main" id="{8F9A7EFF-72C9-4C00-AA7E-485FBBA6203A}"/>
              </a:ext>
            </a:extLst>
          </p:cNvPr>
          <p:cNvSpPr>
            <a:spLocks noGrp="1"/>
          </p:cNvSpPr>
          <p:nvPr/>
        </p:nvSpPr>
        <p:spPr>
          <a:xfrm>
            <a:off x="5905500" y="3048000"/>
            <a:ext cx="561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425" b="0">
                <a:solidFill>
                  <a:srgbClr val="676767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676767"/>
                </a:solidFill>
                <a:latin typeface="Lato"/>
                <a:ea typeface="Lato"/>
                <a:cs typeface="Lato"/>
              </a:rPr>
              <a:t>estimate                 latent value               finite-data noise</a:t>
            </a:r>
          </a:p>
        </p:txBody>
      </p:sp>
      <p:sp>
        <p:nvSpPr>
          <p:cNvPr id="51" name="S5 error distribution">
            <a:extLst>
              <a:ext uri="{FF2B5EF4-FFF2-40B4-BE49-F238E27FC236}">
                <a16:creationId xmlns:a16="http://schemas.microsoft.com/office/drawing/2014/main" id="{4D9D9608-56F5-47D2-8C86-74A1C218267D}"/>
              </a:ext>
            </a:extLst>
          </p:cNvPr>
          <p:cNvSpPr>
            <a:spLocks noGrp="1"/>
          </p:cNvSpPr>
          <p:nvPr/>
        </p:nvSpPr>
        <p:spPr>
          <a:xfrm>
            <a:off x="7191375" y="3476625"/>
            <a:ext cx="304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250" b="0">
                <a:solidFill>
                  <a:srgbClr val="242424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>
                <a:solidFill>
                  <a:srgbClr val="242424"/>
                </a:solidFill>
                <a:latin typeface="Cambria Math"/>
                <a:ea typeface="Cambria Math"/>
                <a:cs typeface="Cambria Math"/>
              </a:rPr>
              <a:t>εᵢ  ∼  N(0, τᵢ²)</a:t>
            </a:r>
          </a:p>
        </p:txBody>
      </p:sp>
      <p:sp>
        <p:nvSpPr>
          <p:cNvPr id="52" name="S5 measurement implication">
            <a:extLst>
              <a:ext uri="{FF2B5EF4-FFF2-40B4-BE49-F238E27FC236}">
                <a16:creationId xmlns:a16="http://schemas.microsoft.com/office/drawing/2014/main" id="{D131D7C3-3537-405D-B83E-E3ACF38A4E20}"/>
              </a:ext>
            </a:extLst>
          </p:cNvPr>
          <p:cNvSpPr>
            <a:spLocks noGrp="1"/>
          </p:cNvSpPr>
          <p:nvPr/>
        </p:nvSpPr>
        <p:spPr>
          <a:xfrm>
            <a:off x="6191250" y="4238625"/>
            <a:ext cx="4953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025" b="1">
                <a:solidFill>
                  <a:srgbClr val="E95C27"/>
                </a:solidFill>
                <a:latin typeface="Lato"/>
                <a:ea typeface="Lato"/>
                <a:cs typeface="Lato"/>
              </a:defRPr>
            </a:pPr>
            <a:r>
              <a:rPr sz="2025" b="1">
                <a:solidFill>
                  <a:srgbClr val="E95C27"/>
                </a:solidFill>
                <a:latin typeface="Lato"/>
                <a:ea typeface="Lato"/>
                <a:cs typeface="Lato"/>
              </a:rPr>
              <a:t>A two-step analysis usually treats</a:t>
            </a:r>
          </a:p>
          <a:p>
            <a:pPr algn="ctr">
              <a:defRPr sz="2025" b="1">
                <a:solidFill>
                  <a:srgbClr val="E95C27"/>
                </a:solidFill>
                <a:latin typeface="Lato"/>
                <a:ea typeface="Lato"/>
                <a:cs typeface="Lato"/>
              </a:defRPr>
            </a:pPr>
            <a:r>
              <a:rPr sz="2025" b="1">
                <a:solidFill>
                  <a:srgbClr val="E95C27"/>
                </a:solidFill>
                <a:latin typeface="Lato"/>
                <a:ea typeface="Lato"/>
                <a:cs typeface="Lato"/>
              </a:rPr>
              <a:t>α̂ᵢ as error-free.</a:t>
            </a:r>
          </a:p>
        </p:txBody>
      </p:sp>
    </p:spTree>
    <p:extLst>
      <p:ext uri="{BB962C8B-B14F-4D97-AF65-F5344CB8AC3E}">
        <p14:creationId xmlns:p14="http://schemas.microsoft.com/office/powerpoint/2010/main" val="972039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89A9A7A6-4AF3-7FED-3641-3C0F629F9F9E}"/>
              </a:ext>
            </a:extLst>
          </p:cNvPr>
          <p:cNvSpPr>
            <a:spLocks noGrp="1"/>
          </p:cNvSpPr>
          <p:nvPr/>
        </p:nvSpPr>
        <p:spPr>
          <a:xfrm>
            <a:off x="0" y="333375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636A28E-3E12-0474-8797-EAD4B6646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485861" cy="1088136"/>
          </a:xfrm>
        </p:spPr>
        <p:txBody>
          <a:bodyPr wrap="square" lIns="91440" tIns="45720" rIns="91440" bIns="45720" anchor="b">
            <a:noAutofit/>
          </a:bodyPr>
          <a:lstStyle/>
          <a:p>
            <a:pPr algn="l">
              <a:lnSpc>
                <a:spcPct val="90000"/>
              </a:lnSpc>
              <a:buNone/>
              <a:defRPr sz="3400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3400">
                <a:solidFill>
                  <a:srgbClr val="000000"/>
                </a:solidFill>
                <a:latin typeface="Lato"/>
                <a:ea typeface="Lato"/>
                <a:cs typeface="Lato"/>
              </a:rPr>
              <a:t>Aggregates mix signal with estimation noise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C279A0-DA6A-C6AE-D0CC-4550181E3914}"/>
              </a:ext>
            </a:extLst>
          </p:cNvPr>
          <p:cNvSpPr>
            <a:spLocks noGrp="1"/>
          </p:cNvSpPr>
          <p:nvPr/>
        </p:nvSpPr>
        <p:spPr>
          <a:xfrm rot="5400000">
            <a:off x="649223" y="22860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667B673-8664-7B83-A92C-D8A88DB478CA}"/>
              </a:ext>
            </a:extLst>
          </p:cNvPr>
          <p:cNvSpPr>
            <a:spLocks noGrp="1"/>
          </p:cNvSpPr>
          <p:nvPr/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88AE6E-DDA7-0F17-AF37-1998DFCA2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79" y="2688336"/>
            <a:ext cx="4498848" cy="3584448"/>
          </a:xfrm>
        </p:spPr>
        <p:txBody>
          <a:bodyPr wrap="square" lIns="91440" tIns="45720" rIns="91440" bIns="45720" anchor="t">
            <a:noAutofit/>
          </a:bodyPr>
          <a:lstStyle/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>Across participants, observed variance contains:</a:t>
            </a:r>
          </a:p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• real between-person differences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• participant estimation error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Scarce trials enlarge the second term.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8" name="S6 illustration label">
            <a:extLst>
              <a:ext uri="{FF2B5EF4-FFF2-40B4-BE49-F238E27FC236}">
                <a16:creationId xmlns:a16="http://schemas.microsoft.com/office/drawing/2014/main" id="{396E4D72-F1B9-4B69-B30A-1E715F50768D}"/>
              </a:ext>
            </a:extLst>
          </p:cNvPr>
          <p:cNvSpPr>
            <a:spLocks noGrp="1"/>
          </p:cNvSpPr>
          <p:nvPr/>
        </p:nvSpPr>
        <p:spPr>
          <a:xfrm>
            <a:off x="6191250" y="1000125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676767"/>
                </a:solidFill>
                <a:latin typeface="Lato"/>
                <a:ea typeface="Lato"/>
                <a:cs typeface="Lato"/>
              </a:defRPr>
            </a:pPr>
            <a:r>
              <a:rPr sz="1275" b="1">
                <a:solidFill>
                  <a:srgbClr val="676767"/>
                </a:solidFill>
                <a:latin typeface="Lato"/>
                <a:ea typeface="Lato"/>
                <a:cs typeface="Lato"/>
              </a:rPr>
              <a:t>ONE COEFFICIENT · NORMAL–NORMAL ILLUSTRATION</a:t>
            </a:r>
          </a:p>
        </p:txBody>
      </p:sp>
      <p:sp>
        <p:nvSpPr>
          <p:cNvPr id="49" name="S6 variance equation">
            <a:extLst>
              <a:ext uri="{FF2B5EF4-FFF2-40B4-BE49-F238E27FC236}">
                <a16:creationId xmlns:a16="http://schemas.microsoft.com/office/drawing/2014/main" id="{144D4AAF-8E0F-4450-8367-96461DBB73B4}"/>
              </a:ext>
            </a:extLst>
          </p:cNvPr>
          <p:cNvSpPr>
            <a:spLocks noGrp="1"/>
          </p:cNvSpPr>
          <p:nvPr/>
        </p:nvSpPr>
        <p:spPr>
          <a:xfrm>
            <a:off x="5715000" y="1714500"/>
            <a:ext cx="5953125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3300" b="0">
                <a:solidFill>
                  <a:srgbClr val="242424"/>
                </a:solidFill>
                <a:latin typeface="Cambria Math"/>
                <a:ea typeface="Cambria Math"/>
                <a:cs typeface="Cambria Math"/>
              </a:defRPr>
            </a:pPr>
            <a:r>
              <a:rPr sz="3300" b="0">
                <a:solidFill>
                  <a:srgbClr val="242424"/>
                </a:solidFill>
                <a:latin typeface="Cambria Math"/>
                <a:ea typeface="Cambria Math"/>
                <a:cs typeface="Cambria Math"/>
              </a:rPr>
              <a:t>Varᵢ(α̂ᵢ)  =  σ²  +  Eᵢ[τᵢ²]</a:t>
            </a:r>
          </a:p>
        </p:txBody>
      </p:sp>
      <p:sp>
        <p:nvSpPr>
          <p:cNvPr id="50" name="S6 signal label">
            <a:extLst>
              <a:ext uri="{FF2B5EF4-FFF2-40B4-BE49-F238E27FC236}">
                <a16:creationId xmlns:a16="http://schemas.microsoft.com/office/drawing/2014/main" id="{9CB679B4-5734-434D-B493-7F2DD0A367EA}"/>
              </a:ext>
            </a:extLst>
          </p:cNvPr>
          <p:cNvSpPr>
            <a:spLocks noGrp="1"/>
          </p:cNvSpPr>
          <p:nvPr/>
        </p:nvSpPr>
        <p:spPr>
          <a:xfrm>
            <a:off x="6953250" y="285750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4E9288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4E9288"/>
                </a:solidFill>
                <a:latin typeface="Lato"/>
                <a:ea typeface="Lato"/>
                <a:cs typeface="Lato"/>
              </a:rPr>
              <a:t>between-person signal</a:t>
            </a:r>
          </a:p>
        </p:txBody>
      </p:sp>
      <p:sp>
        <p:nvSpPr>
          <p:cNvPr id="51" name="S6 error label">
            <a:extLst>
              <a:ext uri="{FF2B5EF4-FFF2-40B4-BE49-F238E27FC236}">
                <a16:creationId xmlns:a16="http://schemas.microsoft.com/office/drawing/2014/main" id="{5D1F8157-811C-4E16-BE9C-3D29DE6269AC}"/>
              </a:ext>
            </a:extLst>
          </p:cNvPr>
          <p:cNvSpPr>
            <a:spLocks noGrp="1"/>
          </p:cNvSpPr>
          <p:nvPr/>
        </p:nvSpPr>
        <p:spPr>
          <a:xfrm>
            <a:off x="9191625" y="285750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E95C27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E95C27"/>
                </a:solidFill>
                <a:latin typeface="Lato"/>
                <a:ea typeface="Lato"/>
                <a:cs typeface="Lato"/>
              </a:rPr>
              <a:t>estimation error</a:t>
            </a:r>
          </a:p>
        </p:txBody>
      </p:sp>
      <p:sp>
        <p:nvSpPr>
          <p:cNvPr id="52" name="S6 consequence">
            <a:extLst>
              <a:ext uri="{FF2B5EF4-FFF2-40B4-BE49-F238E27FC236}">
                <a16:creationId xmlns:a16="http://schemas.microsoft.com/office/drawing/2014/main" id="{E4FCA199-AC4B-478C-8B23-4998D3D7C5FD}"/>
              </a:ext>
            </a:extLst>
          </p:cNvPr>
          <p:cNvSpPr>
            <a:spLocks noGrp="1"/>
          </p:cNvSpPr>
          <p:nvPr/>
        </p:nvSpPr>
        <p:spPr>
          <a:xfrm>
            <a:off x="6191250" y="4095750"/>
            <a:ext cx="4953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487" lnSpcReduction="10000"/>
          </a:bodyPr>
          <a:lstStyle/>
          <a:p>
            <a:pPr algn="ctr">
              <a:defRPr sz="2100" b="1">
                <a:solidFill>
                  <a:srgbClr val="242424"/>
                </a:solidFill>
                <a:latin typeface="Lato"/>
                <a:ea typeface="Lato"/>
                <a:cs typeface="Lato"/>
              </a:defRPr>
            </a:pPr>
            <a:r>
              <a:rPr sz="2100" b="1" dirty="0">
                <a:solidFill>
                  <a:srgbClr val="242424"/>
                </a:solidFill>
                <a:latin typeface="Lato"/>
                <a:ea typeface="Lato"/>
                <a:cs typeface="Lato"/>
              </a:rPr>
              <a:t>If the second stage treats α̂ᵢ as </a:t>
            </a:r>
            <a:r>
              <a:rPr lang="en-US" sz="2100" b="1" dirty="0">
                <a:solidFill>
                  <a:srgbClr val="242424"/>
                </a:solidFill>
                <a:latin typeface="Lato"/>
                <a:ea typeface="Lato"/>
                <a:cs typeface="Lato"/>
              </a:rPr>
              <a:t>noiseless</a:t>
            </a:r>
            <a:r>
              <a:rPr sz="2100" b="1" dirty="0">
                <a:solidFill>
                  <a:srgbClr val="242424"/>
                </a:solidFill>
                <a:latin typeface="Lato"/>
                <a:ea typeface="Lato"/>
                <a:cs typeface="Lato"/>
              </a:rPr>
              <a:t>,</a:t>
            </a:r>
          </a:p>
          <a:p>
            <a:pPr algn="ctr">
              <a:defRPr sz="2100" b="1">
                <a:solidFill>
                  <a:srgbClr val="242424"/>
                </a:solidFill>
                <a:latin typeface="Lato"/>
                <a:ea typeface="Lato"/>
                <a:cs typeface="Lato"/>
              </a:defRPr>
            </a:pPr>
            <a:r>
              <a:rPr lang="en-US" sz="2100" b="1" dirty="0">
                <a:solidFill>
                  <a:srgbClr val="242424"/>
                </a:solidFill>
                <a:latin typeface="Lato"/>
                <a:ea typeface="Lato"/>
                <a:cs typeface="Lato"/>
              </a:rPr>
              <a:t>Estimation error is mistaken as true heterogeneity</a:t>
            </a:r>
            <a:endParaRPr sz="2100" b="1" dirty="0">
              <a:solidFill>
                <a:srgbClr val="242424"/>
              </a:solidFill>
              <a:latin typeface="Lato"/>
              <a:ea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972039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89A9A7A6-4AF3-7FED-3641-3C0F629F9F9E}"/>
              </a:ext>
            </a:extLst>
          </p:cNvPr>
          <p:cNvSpPr>
            <a:spLocks noGrp="1"/>
          </p:cNvSpPr>
          <p:nvPr/>
        </p:nvSpPr>
        <p:spPr>
          <a:xfrm>
            <a:off x="0" y="333375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636A28E-3E12-0474-8797-EAD4B6646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485861" cy="1088136"/>
          </a:xfrm>
        </p:spPr>
        <p:txBody>
          <a:bodyPr wrap="square" lIns="91440" tIns="45720" rIns="91440" bIns="45720" anchor="b">
            <a:noAutofit/>
          </a:bodyPr>
          <a:lstStyle/>
          <a:p>
            <a:pPr algn="l">
              <a:lnSpc>
                <a:spcPct val="90000"/>
              </a:lnSpc>
              <a:buNone/>
              <a:defRPr sz="3400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3400">
                <a:solidFill>
                  <a:srgbClr val="000000"/>
                </a:solidFill>
                <a:latin typeface="Lato"/>
                <a:ea typeface="Lato"/>
                <a:cs typeface="Lato"/>
              </a:rPr>
              <a:t>Partial pooling follows precision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C279A0-DA6A-C6AE-D0CC-4550181E3914}"/>
              </a:ext>
            </a:extLst>
          </p:cNvPr>
          <p:cNvSpPr>
            <a:spLocks noGrp="1"/>
          </p:cNvSpPr>
          <p:nvPr/>
        </p:nvSpPr>
        <p:spPr>
          <a:xfrm rot="5400000">
            <a:off x="649223" y="22860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667B673-8664-7B83-A92C-D8A88DB478CA}"/>
              </a:ext>
            </a:extLst>
          </p:cNvPr>
          <p:cNvSpPr>
            <a:spLocks noGrp="1"/>
          </p:cNvSpPr>
          <p:nvPr/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88AE6E-DDA7-0F17-AF37-1998DFCA2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79" y="2688336"/>
            <a:ext cx="4498848" cy="3584448"/>
          </a:xfrm>
        </p:spPr>
        <p:txBody>
          <a:bodyPr wrap="square" lIns="91440" tIns="45720" rIns="91440" bIns="45720" anchor="t">
            <a:noAutofit/>
          </a:bodyPr>
          <a:lstStyle/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>A participant moves more when:</a:t>
            </a:r>
          </a:p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• their estimate is noisy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• they have fewer trials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A participant moves less when: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• their data are informative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8" name="S7 illustration label">
            <a:extLst>
              <a:ext uri="{FF2B5EF4-FFF2-40B4-BE49-F238E27FC236}">
                <a16:creationId xmlns:a16="http://schemas.microsoft.com/office/drawing/2014/main" id="{E2E662A0-4F23-48F1-849B-63B8A9D621D6}"/>
              </a:ext>
            </a:extLst>
          </p:cNvPr>
          <p:cNvSpPr>
            <a:spLocks noGrp="1"/>
          </p:cNvSpPr>
          <p:nvPr/>
        </p:nvSpPr>
        <p:spPr>
          <a:xfrm>
            <a:off x="6191250" y="619125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676767"/>
                </a:solidFill>
                <a:latin typeface="Lato"/>
                <a:ea typeface="Lato"/>
                <a:cs typeface="Lato"/>
              </a:defRPr>
            </a:pPr>
            <a:r>
              <a:rPr sz="1275" b="1">
                <a:solidFill>
                  <a:srgbClr val="676767"/>
                </a:solidFill>
                <a:latin typeface="Lato"/>
                <a:ea typeface="Lato"/>
                <a:cs typeface="Lato"/>
              </a:rPr>
              <a:t>ONE COEFFICIENT · NORMAL–NORMAL ILLUSTRATION</a:t>
            </a:r>
          </a:p>
        </p:txBody>
      </p:sp>
      <p:sp>
        <p:nvSpPr>
          <p:cNvPr id="49" name="S7 lambda label">
            <a:extLst>
              <a:ext uri="{FF2B5EF4-FFF2-40B4-BE49-F238E27FC236}">
                <a16:creationId xmlns:a16="http://schemas.microsoft.com/office/drawing/2014/main" id="{72DF732D-DABE-4085-9496-D2DF589136B8}"/>
              </a:ext>
            </a:extLst>
          </p:cNvPr>
          <p:cNvSpPr>
            <a:spLocks noGrp="1"/>
          </p:cNvSpPr>
          <p:nvPr/>
        </p:nvSpPr>
        <p:spPr>
          <a:xfrm>
            <a:off x="6191250" y="1381125"/>
            <a:ext cx="1428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3225" b="0">
                <a:solidFill>
                  <a:srgbClr val="242424"/>
                </a:solidFill>
                <a:latin typeface="Cambria Math"/>
                <a:ea typeface="Cambria Math"/>
                <a:cs typeface="Cambria Math"/>
              </a:defRPr>
            </a:pPr>
            <a:r>
              <a:rPr sz="3225" b="0">
                <a:solidFill>
                  <a:srgbClr val="242424"/>
                </a:solidFill>
                <a:latin typeface="Cambria Math"/>
                <a:ea typeface="Cambria Math"/>
                <a:cs typeface="Cambria Math"/>
              </a:rPr>
              <a:t>λᵢ  =</a:t>
            </a:r>
          </a:p>
        </p:txBody>
      </p:sp>
      <p:sp>
        <p:nvSpPr>
          <p:cNvPr id="50" name="S7 numerator">
            <a:extLst>
              <a:ext uri="{FF2B5EF4-FFF2-40B4-BE49-F238E27FC236}">
                <a16:creationId xmlns:a16="http://schemas.microsoft.com/office/drawing/2014/main" id="{4CA9F2F8-227E-4B7F-929F-CD99B2A212A8}"/>
              </a:ext>
            </a:extLst>
          </p:cNvPr>
          <p:cNvSpPr>
            <a:spLocks noGrp="1"/>
          </p:cNvSpPr>
          <p:nvPr/>
        </p:nvSpPr>
        <p:spPr>
          <a:xfrm>
            <a:off x="7858125" y="1095375"/>
            <a:ext cx="304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3000" b="0">
                <a:solidFill>
                  <a:srgbClr val="242424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0">
                <a:solidFill>
                  <a:srgbClr val="242424"/>
                </a:solidFill>
                <a:latin typeface="Cambria Math"/>
                <a:ea typeface="Cambria Math"/>
                <a:cs typeface="Cambria Math"/>
              </a:rPr>
              <a:t>σ²</a:t>
            </a:r>
          </a:p>
        </p:txBody>
      </p:sp>
      <p:sp>
        <p:nvSpPr>
          <p:cNvPr id="51" name="S7 fraction line">
            <a:extLst>
              <a:ext uri="{FF2B5EF4-FFF2-40B4-BE49-F238E27FC236}">
                <a16:creationId xmlns:a16="http://schemas.microsoft.com/office/drawing/2014/main" id="{1684C00C-A72A-445F-96F9-2FA56009E8E8}"/>
              </a:ext>
            </a:extLst>
          </p:cNvPr>
          <p:cNvSpPr>
            <a:spLocks noGrp="1"/>
          </p:cNvSpPr>
          <p:nvPr/>
        </p:nvSpPr>
        <p:spPr>
          <a:xfrm>
            <a:off x="7810500" y="1905000"/>
            <a:ext cx="3143250" cy="19050"/>
          </a:xfrm>
          <a:prstGeom prst="rect">
            <a:avLst/>
          </a:prstGeom>
          <a:solidFill>
            <a:srgbClr val="242424"/>
          </a:solidFill>
          <a:ln w="0">
            <a:solidFill>
              <a:srgbClr val="2424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7 denominator">
            <a:extLst>
              <a:ext uri="{FF2B5EF4-FFF2-40B4-BE49-F238E27FC236}">
                <a16:creationId xmlns:a16="http://schemas.microsoft.com/office/drawing/2014/main" id="{8BAFA1A8-3E36-4E8C-8435-B7FCA1040720}"/>
              </a:ext>
            </a:extLst>
          </p:cNvPr>
          <p:cNvSpPr>
            <a:spLocks noGrp="1"/>
          </p:cNvSpPr>
          <p:nvPr/>
        </p:nvSpPr>
        <p:spPr>
          <a:xfrm>
            <a:off x="7524750" y="2095500"/>
            <a:ext cx="3714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3000" b="0">
                <a:solidFill>
                  <a:srgbClr val="242424"/>
                </a:solidFill>
                <a:latin typeface="Cambria Math"/>
                <a:ea typeface="Cambria Math"/>
                <a:cs typeface="Cambria Math"/>
              </a:defRPr>
            </a:pPr>
            <a:r>
              <a:rPr sz="3000" b="0">
                <a:solidFill>
                  <a:srgbClr val="242424"/>
                </a:solidFill>
                <a:latin typeface="Cambria Math"/>
                <a:ea typeface="Cambria Math"/>
                <a:cs typeface="Cambria Math"/>
              </a:rPr>
              <a:t>σ² + τᵢ²</a:t>
            </a:r>
          </a:p>
        </p:txBody>
      </p:sp>
      <p:sp>
        <p:nvSpPr>
          <p:cNvPr id="53" name="S7 posterior label">
            <a:extLst>
              <a:ext uri="{FF2B5EF4-FFF2-40B4-BE49-F238E27FC236}">
                <a16:creationId xmlns:a16="http://schemas.microsoft.com/office/drawing/2014/main" id="{1C040EEB-8688-46BC-B888-AAD22E47A98E}"/>
              </a:ext>
            </a:extLst>
          </p:cNvPr>
          <p:cNvSpPr>
            <a:spLocks noGrp="1"/>
          </p:cNvSpPr>
          <p:nvPr/>
        </p:nvSpPr>
        <p:spPr>
          <a:xfrm>
            <a:off x="6191250" y="3000375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275" b="1">
                <a:solidFill>
                  <a:srgbClr val="676767"/>
                </a:solidFill>
                <a:latin typeface="Lato"/>
                <a:ea typeface="Lato"/>
                <a:cs typeface="Lato"/>
              </a:defRPr>
            </a:pPr>
            <a:r>
              <a:rPr sz="1275" b="1">
                <a:solidFill>
                  <a:srgbClr val="676767"/>
                </a:solidFill>
                <a:latin typeface="Lato"/>
                <a:ea typeface="Lato"/>
                <a:cs typeface="Lato"/>
              </a:rPr>
              <a:t>POSTERIOR MEAN</a:t>
            </a:r>
          </a:p>
        </p:txBody>
      </p:sp>
      <p:sp>
        <p:nvSpPr>
          <p:cNvPr id="54" name="S7 posterior equation">
            <a:extLst>
              <a:ext uri="{FF2B5EF4-FFF2-40B4-BE49-F238E27FC236}">
                <a16:creationId xmlns:a16="http://schemas.microsoft.com/office/drawing/2014/main" id="{5DC95D05-FF1B-40E7-8AE2-BF4370B5A996}"/>
              </a:ext>
            </a:extLst>
          </p:cNvPr>
          <p:cNvSpPr>
            <a:spLocks noGrp="1"/>
          </p:cNvSpPr>
          <p:nvPr/>
        </p:nvSpPr>
        <p:spPr>
          <a:xfrm>
            <a:off x="6000750" y="3333750"/>
            <a:ext cx="5334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3225" b="0">
                <a:solidFill>
                  <a:srgbClr val="242424"/>
                </a:solidFill>
                <a:latin typeface="Cambria Math"/>
                <a:ea typeface="Cambria Math"/>
                <a:cs typeface="Cambria Math"/>
              </a:defRPr>
            </a:pPr>
            <a:r>
              <a:rPr sz="3225" b="0">
                <a:solidFill>
                  <a:srgbClr val="242424"/>
                </a:solidFill>
                <a:latin typeface="Cambria Math"/>
                <a:ea typeface="Cambria Math"/>
                <a:cs typeface="Cambria Math"/>
              </a:rPr>
              <a:t>α̃ᵢ  =  μ  +  λᵢ(α̂ᵢ − μ)</a:t>
            </a:r>
          </a:p>
        </p:txBody>
      </p:sp>
      <p:sp>
        <p:nvSpPr>
          <p:cNvPr id="55" name="S7 strong shrinkage">
            <a:extLst>
              <a:ext uri="{FF2B5EF4-FFF2-40B4-BE49-F238E27FC236}">
                <a16:creationId xmlns:a16="http://schemas.microsoft.com/office/drawing/2014/main" id="{4F1A1997-56A5-42DD-A726-33CB96A7D4A7}"/>
              </a:ext>
            </a:extLst>
          </p:cNvPr>
          <p:cNvSpPr>
            <a:spLocks noGrp="1"/>
          </p:cNvSpPr>
          <p:nvPr/>
        </p:nvSpPr>
        <p:spPr>
          <a:xfrm>
            <a:off x="6238875" y="4619625"/>
            <a:ext cx="238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E95C27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E95C27"/>
                </a:solidFill>
                <a:latin typeface="Lato"/>
                <a:ea typeface="Lato"/>
                <a:cs typeface="Lato"/>
              </a:rPr>
              <a:t>λ ≈ 0   strong shrinkage</a:t>
            </a:r>
          </a:p>
        </p:txBody>
      </p:sp>
      <p:sp>
        <p:nvSpPr>
          <p:cNvPr id="56" name="S7 weak shrinkage">
            <a:extLst>
              <a:ext uri="{FF2B5EF4-FFF2-40B4-BE49-F238E27FC236}">
                <a16:creationId xmlns:a16="http://schemas.microsoft.com/office/drawing/2014/main" id="{58A79B9F-6824-4C44-9440-FEBE8DC20764}"/>
              </a:ext>
            </a:extLst>
          </p:cNvPr>
          <p:cNvSpPr>
            <a:spLocks noGrp="1"/>
          </p:cNvSpPr>
          <p:nvPr/>
        </p:nvSpPr>
        <p:spPr>
          <a:xfrm>
            <a:off x="8763000" y="4619625"/>
            <a:ext cx="2381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00" b="1">
                <a:solidFill>
                  <a:srgbClr val="4E9288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4E9288"/>
                </a:solidFill>
                <a:latin typeface="Lato"/>
                <a:ea typeface="Lato"/>
                <a:cs typeface="Lato"/>
              </a:rPr>
              <a:t>λ ≈ 1   little shrinkage</a:t>
            </a:r>
          </a:p>
        </p:txBody>
      </p:sp>
    </p:spTree>
    <p:extLst>
      <p:ext uri="{BB962C8B-B14F-4D97-AF65-F5344CB8AC3E}">
        <p14:creationId xmlns:p14="http://schemas.microsoft.com/office/powerpoint/2010/main" val="972039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89A9A7A6-4AF3-7FED-3641-3C0F629F9F9E}"/>
              </a:ext>
            </a:extLst>
          </p:cNvPr>
          <p:cNvSpPr>
            <a:spLocks noGrp="1"/>
          </p:cNvSpPr>
          <p:nvPr/>
        </p:nvSpPr>
        <p:spPr>
          <a:xfrm>
            <a:off x="0" y="333375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636A28E-3E12-0474-8797-EAD4B6646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485861" cy="1088136"/>
          </a:xfrm>
        </p:spPr>
        <p:txBody>
          <a:bodyPr wrap="square" lIns="91440" tIns="45720" rIns="91440" bIns="45720" anchor="b">
            <a:noAutofit/>
          </a:bodyPr>
          <a:lstStyle/>
          <a:p>
            <a:pPr algn="l">
              <a:lnSpc>
                <a:spcPct val="90000"/>
              </a:lnSpc>
              <a:buNone/>
              <a:defRPr sz="3400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3400">
                <a:solidFill>
                  <a:srgbClr val="000000"/>
                </a:solidFill>
                <a:latin typeface="Lato"/>
                <a:ea typeface="Lato"/>
                <a:cs typeface="Lato"/>
              </a:rPr>
              <a:t>Sparse data shrink more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C279A0-DA6A-C6AE-D0CC-4550181E3914}"/>
              </a:ext>
            </a:extLst>
          </p:cNvPr>
          <p:cNvSpPr>
            <a:spLocks noGrp="1"/>
          </p:cNvSpPr>
          <p:nvPr/>
        </p:nvSpPr>
        <p:spPr>
          <a:xfrm rot="5400000">
            <a:off x="649223" y="22860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667B673-8664-7B83-A92C-D8A88DB478CA}"/>
              </a:ext>
            </a:extLst>
          </p:cNvPr>
          <p:cNvSpPr>
            <a:spLocks noGrp="1"/>
          </p:cNvSpPr>
          <p:nvPr/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88AE6E-DDA7-0F17-AF37-1998DFCA2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79" y="2688336"/>
            <a:ext cx="4498848" cy="3584448"/>
          </a:xfrm>
        </p:spPr>
        <p:txBody>
          <a:bodyPr wrap="square" lIns="91440" tIns="45720" rIns="91440" bIns="45720" anchor="t">
            <a:noAutofit/>
          </a:bodyPr>
          <a:lstStyle/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>Orange: hierarchical estimates</a:t>
            </a:r>
          </a:p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Blue: separate two-step fits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Few trials: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extremes move toward the population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Many trials: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>
                <a:solidFill>
                  <a:srgbClr val="202020"/>
                </a:solidFill>
                <a:latin typeface="Lato"/>
                <a:ea typeface="Lato"/>
                <a:cs typeface="Lato"/>
              </a:rPr>
              <a:t>the methods nearly agree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91125" y="95250"/>
            <a:ext cx="6667500" cy="666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039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89A9A7A6-4AF3-7FED-3641-3C0F629F9F9E}"/>
              </a:ext>
            </a:extLst>
          </p:cNvPr>
          <p:cNvSpPr>
            <a:spLocks noGrp="1"/>
          </p:cNvSpPr>
          <p:nvPr/>
        </p:nvSpPr>
        <p:spPr>
          <a:xfrm>
            <a:off x="0" y="333375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636A28E-3E12-0474-8797-EAD4B6646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485861" cy="1088136"/>
          </a:xfrm>
        </p:spPr>
        <p:txBody>
          <a:bodyPr wrap="square" lIns="91440" tIns="45720" rIns="91440" bIns="45720" anchor="b">
            <a:noAutofit/>
          </a:bodyPr>
          <a:lstStyle/>
          <a:p>
            <a:pPr algn="l">
              <a:lnSpc>
                <a:spcPct val="90000"/>
              </a:lnSpc>
              <a:buNone/>
              <a:defRPr sz="3400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3400">
                <a:solidFill>
                  <a:srgbClr val="000000"/>
                </a:solidFill>
                <a:latin typeface="Lato"/>
                <a:ea typeface="Lato"/>
                <a:cs typeface="Lato"/>
              </a:rPr>
              <a:t>Noise distorts group inference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C279A0-DA6A-C6AE-D0CC-4550181E3914}"/>
              </a:ext>
            </a:extLst>
          </p:cNvPr>
          <p:cNvSpPr>
            <a:spLocks noGrp="1"/>
          </p:cNvSpPr>
          <p:nvPr/>
        </p:nvSpPr>
        <p:spPr>
          <a:xfrm rot="5400000">
            <a:off x="649223" y="22860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667B673-8664-7B83-A92C-D8A88DB478CA}"/>
              </a:ext>
            </a:extLst>
          </p:cNvPr>
          <p:cNvSpPr>
            <a:spLocks noGrp="1"/>
          </p:cNvSpPr>
          <p:nvPr/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S9 consequences">
            <a:extLst>
              <a:ext uri="{FF2B5EF4-FFF2-40B4-BE49-F238E27FC236}">
                <a16:creationId xmlns:a16="http://schemas.microsoft.com/office/drawing/2014/main" id="{F6C315FA-D874-4014-9FC8-515139CA3790}"/>
              </a:ext>
            </a:extLst>
          </p:cNvPr>
          <p:cNvSpPr>
            <a:spLocks noGrp="1"/>
          </p:cNvSpPr>
          <p:nvPr/>
        </p:nvSpPr>
        <p:spPr>
          <a:xfrm>
            <a:off x="409575" y="2714625"/>
            <a:ext cx="4095750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75" b="0">
                <a:solidFill>
                  <a:srgbClr val="242424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242424"/>
                </a:solidFill>
                <a:latin typeface="Lato"/>
                <a:ea typeface="Lato"/>
                <a:cs typeface="Lato"/>
              </a:rPr>
              <a:t>Two-step inference can:</a:t>
            </a:r>
          </a:p>
          <a:p>
            <a:endParaRPr sz="2175" b="0">
              <a:solidFill>
                <a:srgbClr val="242424"/>
              </a:solidFill>
              <a:latin typeface="Lato"/>
              <a:ea typeface="Lato"/>
              <a:cs typeface="Lato"/>
            </a:endParaRPr>
          </a:p>
          <a:p>
            <a:pPr algn="l">
              <a:defRPr sz="2175" b="0">
                <a:solidFill>
                  <a:srgbClr val="242424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242424"/>
                </a:solidFill>
                <a:latin typeface="Lato"/>
                <a:ea typeface="Lato"/>
                <a:cs typeface="Lato"/>
              </a:rPr>
              <a:t>• inflate population variance</a:t>
            </a:r>
          </a:p>
          <a:p>
            <a:pPr algn="l">
              <a:defRPr sz="2175" b="0">
                <a:solidFill>
                  <a:srgbClr val="242424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242424"/>
                </a:solidFill>
                <a:latin typeface="Lato"/>
                <a:ea typeface="Lato"/>
                <a:cs typeface="Lato"/>
              </a:rPr>
              <a:t>• attenuate correlations</a:t>
            </a:r>
          </a:p>
          <a:p>
            <a:pPr algn="l">
              <a:defRPr sz="2175" b="0">
                <a:solidFill>
                  <a:srgbClr val="242424"/>
                </a:solidFill>
                <a:latin typeface="Lato"/>
                <a:ea typeface="Lato"/>
                <a:cs typeface="Lato"/>
              </a:defRPr>
            </a:pPr>
            <a:r>
              <a:rPr sz="2175" b="0">
                <a:solidFill>
                  <a:srgbClr val="242424"/>
                </a:solidFill>
                <a:latin typeface="Lato"/>
                <a:ea typeface="Lato"/>
                <a:cs typeface="Lato"/>
              </a:rPr>
              <a:t>• ignore participant uncertainty</a:t>
            </a:r>
          </a:p>
        </p:txBody>
      </p:sp>
      <p:pic>
        <p:nvPicPr>
          <p:cNvPr id="56" name="Picture 5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810125" y="1121229"/>
            <a:ext cx="7286625" cy="4996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039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F94AA2BD-2E3F-4B1D-8127-5744B8115311}"/>
              </a:ext>
            </a:extLst>
          </p:cNvPr>
          <p:cNvSpPr>
            <a:spLocks noGrp="1"/>
          </p:cNvSpPr>
          <p:nvPr/>
        </p:nvSpPr>
        <p:spPr>
          <a:xfrm>
            <a:off x="0" y="26670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408DF60-ADAB-F951-D3FE-D94F99BC1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485861" cy="1088136"/>
          </a:xfrm>
        </p:spPr>
        <p:txBody>
          <a:bodyPr wrap="square" lIns="91440" tIns="45720" rIns="91440" bIns="45720" anchor="b">
            <a:noAutofit/>
          </a:bodyPr>
          <a:lstStyle/>
          <a:p>
            <a:pPr algn="l">
              <a:lnSpc>
                <a:spcPct val="90000"/>
              </a:lnSpc>
              <a:buNone/>
              <a:defRPr sz="3400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3400">
                <a:solidFill>
                  <a:srgbClr val="000000"/>
                </a:solidFill>
                <a:latin typeface="Lato"/>
                <a:ea typeface="Lato"/>
                <a:cs typeface="Lato"/>
              </a:rPr>
              <a:t>Group inference in EMC2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BD02261-2DC8-4AA8-9E16-7751AE892445}"/>
              </a:ext>
            </a:extLst>
          </p:cNvPr>
          <p:cNvSpPr>
            <a:spLocks noGrp="1"/>
          </p:cNvSpPr>
          <p:nvPr/>
        </p:nvSpPr>
        <p:spPr>
          <a:xfrm rot="5400000">
            <a:off x="649223" y="22860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D752CF2-2291-40B5-B462-C17B174C10BC}"/>
              </a:ext>
            </a:extLst>
          </p:cNvPr>
          <p:cNvSpPr>
            <a:spLocks noGrp="1"/>
          </p:cNvSpPr>
          <p:nvPr/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5DE156-934E-AECE-B4BC-52B57E18D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79" y="2688336"/>
            <a:ext cx="4498848" cy="3584448"/>
          </a:xfrm>
        </p:spPr>
        <p:txBody>
          <a:bodyPr wrap="square" lIns="91440" tIns="45720" rIns="91440" bIns="45720" anchor="t">
            <a:noAutofit/>
          </a:bodyPr>
          <a:lstStyle/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>μ: mean at reference/centred predictors</a:t>
            </a:r>
          </a:p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b="0">
                <a:solidFill>
                  <a:srgbClr val="202020"/>
                </a:solidFill>
                <a:latin typeface="Lato"/>
                <a:ea typeface="Lato"/>
                <a:cs typeface="Lato"/>
              </a:rPr>
              <a:t>Σ: residual heterogeneity + correlations</a:t>
            </a:r>
          </a:p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>
            <a:pPr marL="18" indent="-12">
              <a:lnSpc>
                <a:spcPct val="92000"/>
              </a:lnSpc>
              <a:spcBef>
                <a:spcPts val="0"/>
              </a:spcBef>
              <a:buNone/>
            </a:pPr>
            <a:r>
              <a:t>β: predictor effects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>
            <a:pPr marL="18" indent="-12">
              <a:lnSpc>
                <a:spcPct val="92000"/>
              </a:lnSpc>
              <a:spcBef>
                <a:spcPts val="0"/>
              </a:spcBef>
              <a:buNone/>
            </a:pP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>
            <a:pPr marL="18" indent="-12">
              <a:lnSpc>
                <a:spcPct val="92000"/>
              </a:lnSpc>
              <a:spcBef>
                <a:spcPts val="0"/>
              </a:spcBef>
              <a:buNone/>
            </a:pPr>
            <a:r>
              <a:t>All uncertainty propagates upward.</a:t>
            </a:r>
            <a:endParaRPr sz="2400" b="0">
              <a:solidFill>
                <a:srgbClr val="202020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8" name="S3 editable figure background">
            <a:extLst>
              <a:ext uri="{FF2B5EF4-FFF2-40B4-BE49-F238E27FC236}">
                <a16:creationId xmlns:a16="http://schemas.microsoft.com/office/drawing/2014/main" id="{F58A4FAF-EBAC-4420-B914-882375C19645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S3 population">
            <a:extLst>
              <a:ext uri="{FF2B5EF4-FFF2-40B4-BE49-F238E27FC236}">
                <a16:creationId xmlns:a16="http://schemas.microsoft.com/office/drawing/2014/main" id="{71E8001A-BB1E-4AA4-B6D1-29B5CB4D5761}"/>
              </a:ext>
            </a:extLst>
          </p:cNvPr>
          <p:cNvSpPr>
            <a:spLocks noGrp="1"/>
          </p:cNvSpPr>
          <p:nvPr/>
        </p:nvSpPr>
        <p:spPr>
          <a:xfrm>
            <a:off x="7858125" y="523875"/>
            <a:ext cx="3429000" cy="781050"/>
          </a:xfrm>
          <a:prstGeom prst="roundRect">
            <a:avLst>
              <a:gd name="adj" fmla="val 9756"/>
            </a:avLst>
          </a:prstGeom>
          <a:solidFill>
            <a:srgbClr val="FBE4DB"/>
          </a:solidFill>
          <a:ln w="20955">
            <a:solidFill>
              <a:srgbClr val="F05A28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94000"/>
              </a:lnSpc>
              <a:buNone/>
              <a:defRPr sz="150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20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Group targets</a:t>
            </a:r>
          </a:p>
          <a:p>
            <a:pPr algn="ctr">
              <a:lnSpc>
                <a:spcPct val="94000"/>
              </a:lnSpc>
              <a:buNone/>
              <a:defRPr sz="150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20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μ, Σ, β</a:t>
            </a:r>
          </a:p>
        </p:txBody>
      </p:sp>
      <p:sp>
        <p:nvSpPr>
          <p:cNvPr id="50" name="S3 participant 1">
            <a:extLst>
              <a:ext uri="{FF2B5EF4-FFF2-40B4-BE49-F238E27FC236}">
                <a16:creationId xmlns:a16="http://schemas.microsoft.com/office/drawing/2014/main" id="{0664B2F6-A1C7-4895-902B-0517FD9FA181}"/>
              </a:ext>
            </a:extLst>
          </p:cNvPr>
          <p:cNvSpPr>
            <a:spLocks noGrp="1"/>
          </p:cNvSpPr>
          <p:nvPr/>
        </p:nvSpPr>
        <p:spPr>
          <a:xfrm>
            <a:off x="7143750" y="2524125"/>
            <a:ext cx="1381125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335">
            <a:solidFill>
              <a:srgbClr val="BFC2C4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94000"/>
              </a:lnSpc>
              <a:buNone/>
              <a:defRPr sz="1425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6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Participant 1</a:t>
            </a:r>
          </a:p>
          <a:p>
            <a:pPr algn="ctr">
              <a:lnSpc>
                <a:spcPct val="94000"/>
              </a:lnSpc>
              <a:buNone/>
              <a:defRPr sz="1425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6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α₁</a:t>
            </a:r>
          </a:p>
        </p:txBody>
      </p:sp>
      <p:sp>
        <p:nvSpPr>
          <p:cNvPr id="51" name="S3 participant 2">
            <a:extLst>
              <a:ext uri="{FF2B5EF4-FFF2-40B4-BE49-F238E27FC236}">
                <a16:creationId xmlns:a16="http://schemas.microsoft.com/office/drawing/2014/main" id="{74850AF5-99B6-45E9-86C8-6DD343ECAC97}"/>
              </a:ext>
            </a:extLst>
          </p:cNvPr>
          <p:cNvSpPr>
            <a:spLocks noGrp="1"/>
          </p:cNvSpPr>
          <p:nvPr/>
        </p:nvSpPr>
        <p:spPr>
          <a:xfrm>
            <a:off x="8858250" y="2524125"/>
            <a:ext cx="1381125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335">
            <a:solidFill>
              <a:srgbClr val="BFC2C4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94000"/>
              </a:lnSpc>
              <a:buNone/>
              <a:defRPr sz="1425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6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Participant 2</a:t>
            </a:r>
          </a:p>
          <a:p>
            <a:pPr algn="ctr">
              <a:lnSpc>
                <a:spcPct val="94000"/>
              </a:lnSpc>
              <a:buNone/>
              <a:defRPr sz="1425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6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α₂</a:t>
            </a:r>
          </a:p>
        </p:txBody>
      </p:sp>
      <p:sp>
        <p:nvSpPr>
          <p:cNvPr id="52" name="S3 participant J">
            <a:extLst>
              <a:ext uri="{FF2B5EF4-FFF2-40B4-BE49-F238E27FC236}">
                <a16:creationId xmlns:a16="http://schemas.microsoft.com/office/drawing/2014/main" id="{8CE6A311-1F39-4122-9F62-4EAC1BD668B8}"/>
              </a:ext>
            </a:extLst>
          </p:cNvPr>
          <p:cNvSpPr>
            <a:spLocks noGrp="1"/>
          </p:cNvSpPr>
          <p:nvPr/>
        </p:nvSpPr>
        <p:spPr>
          <a:xfrm>
            <a:off x="10572750" y="2524125"/>
            <a:ext cx="1381125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335">
            <a:solidFill>
              <a:srgbClr val="BFC2C4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94000"/>
              </a:lnSpc>
              <a:buNone/>
              <a:defRPr sz="1425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6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Participant n</a:t>
            </a:r>
          </a:p>
          <a:p>
            <a:pPr algn="ctr">
              <a:lnSpc>
                <a:spcPct val="94000"/>
              </a:lnSpc>
              <a:buNone/>
              <a:defRPr sz="1425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6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αₙ</a:t>
            </a:r>
          </a:p>
        </p:txBody>
      </p:sp>
      <p:sp>
        <p:nvSpPr>
          <p:cNvPr id="53" name="S3 data 1">
            <a:extLst>
              <a:ext uri="{FF2B5EF4-FFF2-40B4-BE49-F238E27FC236}">
                <a16:creationId xmlns:a16="http://schemas.microsoft.com/office/drawing/2014/main" id="{030ECFFC-6346-427D-997F-FBA5477D4679}"/>
              </a:ext>
            </a:extLst>
          </p:cNvPr>
          <p:cNvSpPr>
            <a:spLocks noGrp="1"/>
          </p:cNvSpPr>
          <p:nvPr/>
        </p:nvSpPr>
        <p:spPr>
          <a:xfrm>
            <a:off x="7143750" y="4572000"/>
            <a:ext cx="1381125" cy="647700"/>
          </a:xfrm>
          <a:prstGeom prst="roundRect">
            <a:avLst>
              <a:gd name="adj" fmla="val 11765"/>
            </a:avLst>
          </a:prstGeom>
          <a:solidFill>
            <a:srgbClr val="E8F1EF"/>
          </a:solidFill>
          <a:ln w="17145">
            <a:solidFill>
              <a:srgbClr val="7BA99E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data</a:t>
            </a:r>
          </a:p>
          <a:p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y₁</a:t>
            </a:r>
          </a:p>
        </p:txBody>
      </p:sp>
      <p:sp>
        <p:nvSpPr>
          <p:cNvPr id="54" name="S3 data 2">
            <a:extLst>
              <a:ext uri="{FF2B5EF4-FFF2-40B4-BE49-F238E27FC236}">
                <a16:creationId xmlns:a16="http://schemas.microsoft.com/office/drawing/2014/main" id="{C032818F-C8A8-4E90-9DB7-00CD3F74027C}"/>
              </a:ext>
            </a:extLst>
          </p:cNvPr>
          <p:cNvSpPr>
            <a:spLocks noGrp="1"/>
          </p:cNvSpPr>
          <p:nvPr/>
        </p:nvSpPr>
        <p:spPr>
          <a:xfrm>
            <a:off x="8858250" y="4572000"/>
            <a:ext cx="1381125" cy="647700"/>
          </a:xfrm>
          <a:prstGeom prst="roundRect">
            <a:avLst>
              <a:gd name="adj" fmla="val 11765"/>
            </a:avLst>
          </a:prstGeom>
          <a:solidFill>
            <a:srgbClr val="E8F1EF"/>
          </a:solidFill>
          <a:ln w="17145">
            <a:solidFill>
              <a:srgbClr val="7BA99E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data</a:t>
            </a:r>
          </a:p>
          <a:p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y₂</a:t>
            </a:r>
          </a:p>
        </p:txBody>
      </p:sp>
      <p:sp>
        <p:nvSpPr>
          <p:cNvPr id="55" name="S3 data J">
            <a:extLst>
              <a:ext uri="{FF2B5EF4-FFF2-40B4-BE49-F238E27FC236}">
                <a16:creationId xmlns:a16="http://schemas.microsoft.com/office/drawing/2014/main" id="{FBE2FC63-DDD5-4C7C-A27F-0609EAD83481}"/>
              </a:ext>
            </a:extLst>
          </p:cNvPr>
          <p:cNvSpPr>
            <a:spLocks noGrp="1"/>
          </p:cNvSpPr>
          <p:nvPr/>
        </p:nvSpPr>
        <p:spPr>
          <a:xfrm>
            <a:off x="10572750" y="4572000"/>
            <a:ext cx="1381125" cy="647700"/>
          </a:xfrm>
          <a:prstGeom prst="roundRect">
            <a:avLst>
              <a:gd name="adj" fmla="val 11765"/>
            </a:avLst>
          </a:prstGeom>
          <a:solidFill>
            <a:srgbClr val="E8F1EF"/>
          </a:solidFill>
          <a:ln w="17145">
            <a:solidFill>
              <a:srgbClr val="7BA99E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data</a:t>
            </a:r>
          </a:p>
          <a:p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yₙ</a:t>
            </a:r>
          </a:p>
        </p:txBody>
      </p:sp>
      <p:cxnSp>
        <p:nvCxnSpPr>
          <p:cNvPr id="307" name="S3 population to person 1"/>
          <p:cNvCxnSpPr>
            <a:stCxn id="49" idx="2"/>
            <a:endCxn id="50" idx="0"/>
          </p:cNvCxnSpPr>
          <p:nvPr/>
        </p:nvCxnSpPr>
        <p:spPr>
          <a:xfrm flipH="1">
            <a:off x="7834313" y="1304925"/>
            <a:ext cx="1738313" cy="1219200"/>
          </a:xfrm>
          <a:prstGeom prst="straightConnector1">
            <a:avLst/>
          </a:prstGeom>
          <a:ln w="19050">
            <a:solidFill>
              <a:srgbClr val="F05A2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08" name="S3 population to person 2"/>
          <p:cNvCxnSpPr>
            <a:stCxn id="49" idx="2"/>
            <a:endCxn id="51" idx="0"/>
          </p:cNvCxnSpPr>
          <p:nvPr/>
        </p:nvCxnSpPr>
        <p:spPr>
          <a:xfrm flipH="1">
            <a:off x="9548813" y="1304925"/>
            <a:ext cx="23813" cy="1219200"/>
          </a:xfrm>
          <a:prstGeom prst="straightConnector1">
            <a:avLst/>
          </a:prstGeom>
          <a:ln w="19050">
            <a:solidFill>
              <a:srgbClr val="F05A2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09" name="S3 population to person J"/>
          <p:cNvCxnSpPr>
            <a:stCxn id="49" idx="2"/>
            <a:endCxn id="52" idx="0"/>
          </p:cNvCxnSpPr>
          <p:nvPr/>
        </p:nvCxnSpPr>
        <p:spPr>
          <a:xfrm>
            <a:off x="9572625" y="1304925"/>
            <a:ext cx="1690688" cy="1219200"/>
          </a:xfrm>
          <a:prstGeom prst="straightConnector1">
            <a:avLst/>
          </a:prstGeom>
          <a:ln w="19050">
            <a:solidFill>
              <a:srgbClr val="F05A2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10" name="S3 person 1 to data"/>
          <p:cNvCxnSpPr>
            <a:stCxn id="50" idx="2"/>
            <a:endCxn id="53" idx="0"/>
          </p:cNvCxnSpPr>
          <p:nvPr/>
        </p:nvCxnSpPr>
        <p:spPr>
          <a:xfrm>
            <a:off x="7834313" y="3209925"/>
            <a:ext cx="0" cy="1362075"/>
          </a:xfrm>
          <a:prstGeom prst="straightConnector1">
            <a:avLst/>
          </a:prstGeom>
          <a:ln w="19050">
            <a:solidFill>
              <a:srgbClr val="F05A2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11" name="S3 person 2 to data"/>
          <p:cNvCxnSpPr>
            <a:stCxn id="51" idx="2"/>
            <a:endCxn id="54" idx="0"/>
          </p:cNvCxnSpPr>
          <p:nvPr/>
        </p:nvCxnSpPr>
        <p:spPr>
          <a:xfrm>
            <a:off x="9548813" y="3209925"/>
            <a:ext cx="0" cy="1362075"/>
          </a:xfrm>
          <a:prstGeom prst="straightConnector1">
            <a:avLst/>
          </a:prstGeom>
          <a:ln w="19050">
            <a:solidFill>
              <a:srgbClr val="F05A2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12" name="S3 person J to data"/>
          <p:cNvCxnSpPr>
            <a:stCxn id="52" idx="2"/>
            <a:endCxn id="55" idx="0"/>
          </p:cNvCxnSpPr>
          <p:nvPr/>
        </p:nvCxnSpPr>
        <p:spPr>
          <a:xfrm>
            <a:off x="11263313" y="3209925"/>
            <a:ext cx="0" cy="1362075"/>
          </a:xfrm>
          <a:prstGeom prst="straightConnector1">
            <a:avLst/>
          </a:prstGeom>
          <a:ln w="19050">
            <a:solidFill>
              <a:srgbClr val="F05A28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65" name="S3 hierarchy equation">
            <a:extLst>
              <a:ext uri="{FF2B5EF4-FFF2-40B4-BE49-F238E27FC236}">
                <a16:creationId xmlns:a16="http://schemas.microsoft.com/office/drawing/2014/main" id="{3863D907-6C8F-487D-A466-E202E8C09C68}"/>
              </a:ext>
            </a:extLst>
          </p:cNvPr>
          <p:cNvSpPr>
            <a:spLocks noGrp="1"/>
          </p:cNvSpPr>
          <p:nvPr/>
        </p:nvSpPr>
        <p:spPr>
          <a:xfrm>
            <a:off x="6836735" y="5905500"/>
            <a:ext cx="5117140" cy="68580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335">
            <a:solidFill>
              <a:srgbClr val="BFC2C4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μᵢ = Wᵢβ     αᵢ ∼ N(μᵢ,Σ)     yᵢ ∼ p(yᵢ | αᵢ)</a:t>
            </a:r>
          </a:p>
        </p:txBody>
      </p:sp>
    </p:spTree>
    <p:extLst>
      <p:ext uri="{BB962C8B-B14F-4D97-AF65-F5344CB8AC3E}">
        <p14:creationId xmlns:p14="http://schemas.microsoft.com/office/powerpoint/2010/main" val="417505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F94AA2BD-2E3F-4B1D-8127-5744B8115311}"/>
              </a:ext>
            </a:extLst>
          </p:cNvPr>
          <p:cNvSpPr>
            <a:spLocks noGrp="1"/>
          </p:cNvSpPr>
          <p:nvPr/>
        </p:nvSpPr>
        <p:spPr>
          <a:xfrm>
            <a:off x="0" y="26670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408DF60-ADAB-F951-D3FE-D94F99BC1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485861" cy="1088136"/>
          </a:xfrm>
        </p:spPr>
        <p:txBody>
          <a:bodyPr wrap="square" lIns="91440" tIns="45720" rIns="91440" bIns="45720" anchor="b">
            <a:noAutofit/>
          </a:bodyPr>
          <a:lstStyle/>
          <a:p>
            <a:pPr algn="l">
              <a:lnSpc>
                <a:spcPct val="90000"/>
              </a:lnSpc>
              <a:buNone/>
              <a:defRPr sz="3400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3400">
                <a:solidFill>
                  <a:srgbClr val="000000"/>
                </a:solidFill>
                <a:latin typeface="Lato"/>
                <a:ea typeface="Lato"/>
                <a:cs typeface="Lato"/>
              </a:rPr>
              <a:t>Every free coefficient varies by participant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BD02261-2DC8-4AA8-9E16-7751AE892445}"/>
              </a:ext>
            </a:extLst>
          </p:cNvPr>
          <p:cNvSpPr>
            <a:spLocks noGrp="1"/>
          </p:cNvSpPr>
          <p:nvPr/>
        </p:nvSpPr>
        <p:spPr>
          <a:xfrm rot="5400000">
            <a:off x="649223" y="22860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D752CF2-2291-40B5-B462-C17B174C10BC}"/>
              </a:ext>
            </a:extLst>
          </p:cNvPr>
          <p:cNvSpPr>
            <a:spLocks noGrp="1"/>
          </p:cNvSpPr>
          <p:nvPr/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5DE156-934E-AECE-B4BC-52B57E18D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79" y="2688336"/>
            <a:ext cx="4498848" cy="3584448"/>
          </a:xfrm>
        </p:spPr>
        <p:txBody>
          <a:bodyPr wrap="square" lIns="91440" tIns="45720" rIns="91440" bIns="45720" anchor="t">
            <a:noAutofit/>
          </a:bodyPr>
          <a:lstStyle/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endParaRPr sz="2400" b="0" dirty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b="0" dirty="0">
                <a:solidFill>
                  <a:srgbClr val="202020"/>
                </a:solidFill>
                <a:latin typeface="Lato"/>
                <a:ea typeface="Lato"/>
                <a:cs typeface="Lato"/>
              </a:rPr>
              <a:t>• each participant has αᵢₖ</a:t>
            </a:r>
          </a:p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sz="2400" b="0" dirty="0">
                <a:solidFill>
                  <a:srgbClr val="202020"/>
                </a:solidFill>
                <a:latin typeface="Lato"/>
                <a:ea typeface="Lato"/>
                <a:cs typeface="Lato"/>
              </a:rPr>
              <a:t>• Xᵢαᵢ yields trial parameters</a:t>
            </a:r>
          </a:p>
          <a:p>
            <a:pPr marL="18" indent="-12">
              <a:lnSpc>
                <a:spcPct val="92000"/>
              </a:lnSpc>
              <a:spcBef>
                <a:spcPts val="0"/>
              </a:spcBef>
              <a:buNone/>
            </a:pPr>
            <a:r>
              <a:rPr dirty="0"/>
              <a:t>• </a:t>
            </a:r>
            <a:r>
              <a:rPr dirty="0" err="1"/>
              <a:t>μ</a:t>
            </a:r>
            <a:r>
              <a:rPr dirty="0"/>
              <a:t> and </a:t>
            </a:r>
            <a:r>
              <a:rPr dirty="0" err="1"/>
              <a:t>Σ</a:t>
            </a:r>
            <a:r>
              <a:rPr dirty="0"/>
              <a:t> link participants</a:t>
            </a:r>
            <a:endParaRPr sz="2400" b="0" dirty="0">
              <a:solidFill>
                <a:srgbClr val="202020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48" name="S3 editable figure background">
            <a:extLst>
              <a:ext uri="{FF2B5EF4-FFF2-40B4-BE49-F238E27FC236}">
                <a16:creationId xmlns:a16="http://schemas.microsoft.com/office/drawing/2014/main" id="{F58A4FAF-EBAC-4420-B914-882375C19645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S3 population">
            <a:extLst>
              <a:ext uri="{FF2B5EF4-FFF2-40B4-BE49-F238E27FC236}">
                <a16:creationId xmlns:a16="http://schemas.microsoft.com/office/drawing/2014/main" id="{71E8001A-BB1E-4AA4-B6D1-29B5CB4D5761}"/>
              </a:ext>
            </a:extLst>
          </p:cNvPr>
          <p:cNvSpPr>
            <a:spLocks noGrp="1"/>
          </p:cNvSpPr>
          <p:nvPr/>
        </p:nvSpPr>
        <p:spPr>
          <a:xfrm>
            <a:off x="7858125" y="523875"/>
            <a:ext cx="3429000" cy="781050"/>
          </a:xfrm>
          <a:prstGeom prst="roundRect">
            <a:avLst>
              <a:gd name="adj" fmla="val 9756"/>
            </a:avLst>
          </a:prstGeom>
          <a:solidFill>
            <a:srgbClr val="FBE4DB"/>
          </a:solidFill>
          <a:ln w="20955">
            <a:solidFill>
              <a:srgbClr val="F05A28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94000"/>
              </a:lnSpc>
              <a:buNone/>
              <a:defRPr sz="150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20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Intercept-only population</a:t>
            </a:r>
          </a:p>
          <a:p>
            <a:pPr algn="ctr">
              <a:lnSpc>
                <a:spcPct val="94000"/>
              </a:lnSpc>
              <a:buNone/>
              <a:defRPr sz="150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20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μ, Σ</a:t>
            </a:r>
          </a:p>
        </p:txBody>
      </p:sp>
      <p:sp>
        <p:nvSpPr>
          <p:cNvPr id="50" name="S3 participant 1">
            <a:extLst>
              <a:ext uri="{FF2B5EF4-FFF2-40B4-BE49-F238E27FC236}">
                <a16:creationId xmlns:a16="http://schemas.microsoft.com/office/drawing/2014/main" id="{0664B2F6-A1C7-4895-902B-0517FD9FA181}"/>
              </a:ext>
            </a:extLst>
          </p:cNvPr>
          <p:cNvSpPr>
            <a:spLocks noGrp="1"/>
          </p:cNvSpPr>
          <p:nvPr/>
        </p:nvSpPr>
        <p:spPr>
          <a:xfrm>
            <a:off x="7143750" y="2524125"/>
            <a:ext cx="1381125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335">
            <a:solidFill>
              <a:srgbClr val="BFC2C4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94000"/>
              </a:lnSpc>
              <a:buNone/>
              <a:defRPr sz="1425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6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Participant 1</a:t>
            </a:r>
          </a:p>
          <a:p>
            <a:pPr algn="ctr">
              <a:lnSpc>
                <a:spcPct val="94000"/>
              </a:lnSpc>
              <a:buNone/>
              <a:defRPr sz="1425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6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α₁</a:t>
            </a:r>
          </a:p>
        </p:txBody>
      </p:sp>
      <p:sp>
        <p:nvSpPr>
          <p:cNvPr id="51" name="S3 participant 2">
            <a:extLst>
              <a:ext uri="{FF2B5EF4-FFF2-40B4-BE49-F238E27FC236}">
                <a16:creationId xmlns:a16="http://schemas.microsoft.com/office/drawing/2014/main" id="{74850AF5-99B6-45E9-86C8-6DD343ECAC97}"/>
              </a:ext>
            </a:extLst>
          </p:cNvPr>
          <p:cNvSpPr>
            <a:spLocks noGrp="1"/>
          </p:cNvSpPr>
          <p:nvPr/>
        </p:nvSpPr>
        <p:spPr>
          <a:xfrm>
            <a:off x="8858250" y="2524125"/>
            <a:ext cx="1381125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335">
            <a:solidFill>
              <a:srgbClr val="BFC2C4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94000"/>
              </a:lnSpc>
              <a:buNone/>
              <a:defRPr sz="1425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6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Participant 2</a:t>
            </a:r>
          </a:p>
          <a:p>
            <a:pPr algn="ctr">
              <a:lnSpc>
                <a:spcPct val="94000"/>
              </a:lnSpc>
              <a:buNone/>
              <a:defRPr sz="1425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6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α₂</a:t>
            </a:r>
          </a:p>
        </p:txBody>
      </p:sp>
      <p:sp>
        <p:nvSpPr>
          <p:cNvPr id="52" name="S3 participant J">
            <a:extLst>
              <a:ext uri="{FF2B5EF4-FFF2-40B4-BE49-F238E27FC236}">
                <a16:creationId xmlns:a16="http://schemas.microsoft.com/office/drawing/2014/main" id="{8CE6A311-1F39-4122-9F62-4EAC1BD668B8}"/>
              </a:ext>
            </a:extLst>
          </p:cNvPr>
          <p:cNvSpPr>
            <a:spLocks noGrp="1"/>
          </p:cNvSpPr>
          <p:nvPr/>
        </p:nvSpPr>
        <p:spPr>
          <a:xfrm>
            <a:off x="10572750" y="2524125"/>
            <a:ext cx="1381125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335">
            <a:solidFill>
              <a:srgbClr val="BFC2C4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94000"/>
              </a:lnSpc>
              <a:buNone/>
              <a:defRPr sz="1425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6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Participant n</a:t>
            </a:r>
          </a:p>
          <a:p>
            <a:pPr algn="ctr">
              <a:lnSpc>
                <a:spcPct val="94000"/>
              </a:lnSpc>
              <a:buNone/>
              <a:defRPr sz="1425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6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αₙ</a:t>
            </a:r>
          </a:p>
        </p:txBody>
      </p:sp>
      <p:sp>
        <p:nvSpPr>
          <p:cNvPr id="53" name="S3 data 1">
            <a:extLst>
              <a:ext uri="{FF2B5EF4-FFF2-40B4-BE49-F238E27FC236}">
                <a16:creationId xmlns:a16="http://schemas.microsoft.com/office/drawing/2014/main" id="{030ECFFC-6346-427D-997F-FBA5477D4679}"/>
              </a:ext>
            </a:extLst>
          </p:cNvPr>
          <p:cNvSpPr>
            <a:spLocks noGrp="1"/>
          </p:cNvSpPr>
          <p:nvPr/>
        </p:nvSpPr>
        <p:spPr>
          <a:xfrm>
            <a:off x="7143750" y="4572000"/>
            <a:ext cx="1381125" cy="647700"/>
          </a:xfrm>
          <a:prstGeom prst="roundRect">
            <a:avLst>
              <a:gd name="adj" fmla="val 11765"/>
            </a:avLst>
          </a:prstGeom>
          <a:solidFill>
            <a:srgbClr val="E8F1EF"/>
          </a:solidFill>
          <a:ln w="17145">
            <a:solidFill>
              <a:srgbClr val="7BA99E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choices + RTs</a:t>
            </a:r>
          </a:p>
          <a:p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y₁</a:t>
            </a:r>
          </a:p>
        </p:txBody>
      </p:sp>
      <p:sp>
        <p:nvSpPr>
          <p:cNvPr id="54" name="S3 data 2">
            <a:extLst>
              <a:ext uri="{FF2B5EF4-FFF2-40B4-BE49-F238E27FC236}">
                <a16:creationId xmlns:a16="http://schemas.microsoft.com/office/drawing/2014/main" id="{C032818F-C8A8-4E90-9DB7-00CD3F74027C}"/>
              </a:ext>
            </a:extLst>
          </p:cNvPr>
          <p:cNvSpPr>
            <a:spLocks noGrp="1"/>
          </p:cNvSpPr>
          <p:nvPr/>
        </p:nvSpPr>
        <p:spPr>
          <a:xfrm>
            <a:off x="8858250" y="4572000"/>
            <a:ext cx="1381125" cy="647700"/>
          </a:xfrm>
          <a:prstGeom prst="roundRect">
            <a:avLst>
              <a:gd name="adj" fmla="val 11765"/>
            </a:avLst>
          </a:prstGeom>
          <a:solidFill>
            <a:srgbClr val="E8F1EF"/>
          </a:solidFill>
          <a:ln w="17145">
            <a:solidFill>
              <a:srgbClr val="7BA99E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choices + RTs</a:t>
            </a:r>
          </a:p>
          <a:p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y₂</a:t>
            </a:r>
          </a:p>
        </p:txBody>
      </p:sp>
      <p:sp>
        <p:nvSpPr>
          <p:cNvPr id="55" name="S3 data J">
            <a:extLst>
              <a:ext uri="{FF2B5EF4-FFF2-40B4-BE49-F238E27FC236}">
                <a16:creationId xmlns:a16="http://schemas.microsoft.com/office/drawing/2014/main" id="{FBE2FC63-DDD5-4C7C-A27F-0609EAD83481}"/>
              </a:ext>
            </a:extLst>
          </p:cNvPr>
          <p:cNvSpPr>
            <a:spLocks noGrp="1"/>
          </p:cNvSpPr>
          <p:nvPr/>
        </p:nvSpPr>
        <p:spPr>
          <a:xfrm>
            <a:off x="10572750" y="4572000"/>
            <a:ext cx="1381125" cy="647700"/>
          </a:xfrm>
          <a:prstGeom prst="roundRect">
            <a:avLst>
              <a:gd name="adj" fmla="val 11765"/>
            </a:avLst>
          </a:prstGeom>
          <a:solidFill>
            <a:srgbClr val="E8F1EF"/>
          </a:solidFill>
          <a:ln w="17145">
            <a:solidFill>
              <a:srgbClr val="7BA99E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choices + RTs</a:t>
            </a:r>
          </a:p>
          <a:p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yₙ</a:t>
            </a:r>
          </a:p>
        </p:txBody>
      </p:sp>
      <p:cxnSp>
        <p:nvCxnSpPr>
          <p:cNvPr id="307" name="S3 population to person 1"/>
          <p:cNvCxnSpPr>
            <a:stCxn id="49" idx="2"/>
            <a:endCxn id="50" idx="0"/>
          </p:cNvCxnSpPr>
          <p:nvPr/>
        </p:nvCxnSpPr>
        <p:spPr>
          <a:xfrm flipH="1">
            <a:off x="7834313" y="1304925"/>
            <a:ext cx="1738313" cy="1219200"/>
          </a:xfrm>
          <a:prstGeom prst="straightConnector1">
            <a:avLst/>
          </a:prstGeom>
          <a:ln w="19050">
            <a:solidFill>
              <a:srgbClr val="F05A2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08" name="S3 population to person 2"/>
          <p:cNvCxnSpPr>
            <a:stCxn id="49" idx="2"/>
            <a:endCxn id="51" idx="0"/>
          </p:cNvCxnSpPr>
          <p:nvPr/>
        </p:nvCxnSpPr>
        <p:spPr>
          <a:xfrm flipH="1">
            <a:off x="9548813" y="1304925"/>
            <a:ext cx="23813" cy="1219200"/>
          </a:xfrm>
          <a:prstGeom prst="straightConnector1">
            <a:avLst/>
          </a:prstGeom>
          <a:ln w="19050">
            <a:solidFill>
              <a:srgbClr val="F05A2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09" name="S3 population to person J"/>
          <p:cNvCxnSpPr>
            <a:stCxn id="49" idx="2"/>
            <a:endCxn id="52" idx="0"/>
          </p:cNvCxnSpPr>
          <p:nvPr/>
        </p:nvCxnSpPr>
        <p:spPr>
          <a:xfrm>
            <a:off x="9572625" y="1304925"/>
            <a:ext cx="1690688" cy="1219200"/>
          </a:xfrm>
          <a:prstGeom prst="straightConnector1">
            <a:avLst/>
          </a:prstGeom>
          <a:ln w="19050">
            <a:solidFill>
              <a:srgbClr val="F05A2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10" name="S3 person 1 to data"/>
          <p:cNvCxnSpPr>
            <a:stCxn id="50" idx="2"/>
            <a:endCxn id="53" idx="0"/>
          </p:cNvCxnSpPr>
          <p:nvPr/>
        </p:nvCxnSpPr>
        <p:spPr>
          <a:xfrm>
            <a:off x="7834313" y="3209925"/>
            <a:ext cx="0" cy="1362075"/>
          </a:xfrm>
          <a:prstGeom prst="straightConnector1">
            <a:avLst/>
          </a:prstGeom>
          <a:ln w="19050">
            <a:solidFill>
              <a:srgbClr val="F05A2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11" name="S3 person 2 to data"/>
          <p:cNvCxnSpPr>
            <a:stCxn id="51" idx="2"/>
            <a:endCxn id="54" idx="0"/>
          </p:cNvCxnSpPr>
          <p:nvPr/>
        </p:nvCxnSpPr>
        <p:spPr>
          <a:xfrm>
            <a:off x="9548813" y="3209925"/>
            <a:ext cx="0" cy="1362075"/>
          </a:xfrm>
          <a:prstGeom prst="straightConnector1">
            <a:avLst/>
          </a:prstGeom>
          <a:ln w="19050">
            <a:solidFill>
              <a:srgbClr val="F05A2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12" name="S3 person J to data"/>
          <p:cNvCxnSpPr>
            <a:stCxn id="52" idx="2"/>
            <a:endCxn id="55" idx="0"/>
          </p:cNvCxnSpPr>
          <p:nvPr/>
        </p:nvCxnSpPr>
        <p:spPr>
          <a:xfrm>
            <a:off x="11263313" y="3209925"/>
            <a:ext cx="0" cy="1362075"/>
          </a:xfrm>
          <a:prstGeom prst="straightConnector1">
            <a:avLst/>
          </a:prstGeom>
          <a:ln w="19050">
            <a:solidFill>
              <a:srgbClr val="F05A28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65" name="S3 hierarchy equation">
            <a:extLst>
              <a:ext uri="{FF2B5EF4-FFF2-40B4-BE49-F238E27FC236}">
                <a16:creationId xmlns:a16="http://schemas.microsoft.com/office/drawing/2014/main" id="{3863D907-6C8F-487D-A466-E202E8C09C68}"/>
              </a:ext>
            </a:extLst>
          </p:cNvPr>
          <p:cNvSpPr>
            <a:spLocks noGrp="1"/>
          </p:cNvSpPr>
          <p:nvPr/>
        </p:nvSpPr>
        <p:spPr>
          <a:xfrm>
            <a:off x="6836735" y="5905500"/>
            <a:ext cx="5117140" cy="68580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335">
            <a:solidFill>
              <a:srgbClr val="BFC2C4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θᵢ = Xᵢαᵢ          αᵢ ∼ N(μ,Σ)</a:t>
            </a:r>
          </a:p>
        </p:txBody>
      </p:sp>
    </p:spTree>
    <p:extLst>
      <p:ext uri="{BB962C8B-B14F-4D97-AF65-F5344CB8AC3E}">
        <p14:creationId xmlns:p14="http://schemas.microsoft.com/office/powerpoint/2010/main" val="417505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F94AA2BD-2E3F-4B1D-8127-5744B8115311}"/>
              </a:ext>
            </a:extLst>
          </p:cNvPr>
          <p:cNvSpPr>
            <a:spLocks noGrp="1"/>
          </p:cNvSpPr>
          <p:nvPr/>
        </p:nvSpPr>
        <p:spPr>
          <a:xfrm>
            <a:off x="0" y="352425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408DF60-ADAB-F951-D3FE-D94F99BC1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485861" cy="1088136"/>
          </a:xfrm>
        </p:spPr>
        <p:txBody>
          <a:bodyPr anchor="b">
            <a:normAutofit/>
          </a:bodyPr>
          <a:lstStyle/>
          <a:p>
            <a:pPr algn="ctr">
              <a:buNone/>
            </a:pPr>
            <a:r>
              <a:rPr sz="3400">
                <a:latin typeface="Lato"/>
                <a:ea typeface="Lato"/>
                <a:cs typeface="Lato"/>
              </a:rPr>
              <a:t>Selective in brms; automatic in EMC2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BD02261-2DC8-4AA8-9E16-7751AE892445}"/>
              </a:ext>
            </a:extLst>
          </p:cNvPr>
          <p:cNvSpPr>
            <a:spLocks noGrp="1"/>
          </p:cNvSpPr>
          <p:nvPr/>
        </p:nvSpPr>
        <p:spPr>
          <a:xfrm rot="5400000">
            <a:off x="649223" y="22860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D752CF2-2291-40B5-B462-C17B174C10BC}"/>
              </a:ext>
            </a:extLst>
          </p:cNvPr>
          <p:cNvSpPr>
            <a:spLocks noGrp="1"/>
          </p:cNvSpPr>
          <p:nvPr/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8" name="S4 editable figure background">
            <a:extLst>
              <a:ext uri="{FF2B5EF4-FFF2-40B4-BE49-F238E27FC236}">
                <a16:creationId xmlns:a16="http://schemas.microsoft.com/office/drawing/2014/main" id="{5BD8DAED-0BD2-4D24-9C6E-27925D2F5248}"/>
              </a:ext>
            </a:extLst>
          </p:cNvPr>
          <p:cNvSpPr>
            <a:spLocks noGrp="1"/>
          </p:cNvSpPr>
          <p:nvPr/>
        </p:nvSpPr>
        <p:spPr>
          <a:xfrm>
            <a:off x="6912388" y="0"/>
            <a:ext cx="5279612" cy="6858000"/>
          </a:xfrm>
          <a:prstGeom prst="rect">
            <a:avLst/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S13 brms header">
            <a:extLst>
              <a:ext uri="{FF2B5EF4-FFF2-40B4-BE49-F238E27FC236}">
                <a16:creationId xmlns:a16="http://schemas.microsoft.com/office/drawing/2014/main" id="{66265168-8C9F-4AFC-B6E3-D0A05DC95309}"/>
              </a:ext>
            </a:extLst>
          </p:cNvPr>
          <p:cNvSpPr>
            <a:spLocks noGrp="1"/>
          </p:cNvSpPr>
          <p:nvPr/>
        </p:nvSpPr>
        <p:spPr>
          <a:xfrm>
            <a:off x="409575" y="2647950"/>
            <a:ext cx="5715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1">
                <a:solidFill>
                  <a:srgbClr val="E95C27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E95C27"/>
                </a:solidFill>
                <a:latin typeface="Lato"/>
                <a:ea typeface="Lato"/>
                <a:cs typeface="Lato"/>
              </a:rPr>
              <a:t>brms / lme4: choose what varies</a:t>
            </a:r>
          </a:p>
        </p:txBody>
      </p:sp>
      <p:sp>
        <p:nvSpPr>
          <p:cNvPr id="85" name="S13 brms formula fixed">
            <a:extLst>
              <a:ext uri="{FF2B5EF4-FFF2-40B4-BE49-F238E27FC236}">
                <a16:creationId xmlns:a16="http://schemas.microsoft.com/office/drawing/2014/main" id="{904FE2DD-1E0C-4131-A073-0533E6EB6661}"/>
              </a:ext>
            </a:extLst>
          </p:cNvPr>
          <p:cNvSpPr>
            <a:spLocks noGrp="1"/>
          </p:cNvSpPr>
          <p:nvPr/>
        </p:nvSpPr>
        <p:spPr>
          <a:xfrm>
            <a:off x="409575" y="3067050"/>
            <a:ext cx="542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>
                <a:solidFill>
                  <a:srgbClr val="242424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242424"/>
                </a:solidFill>
                <a:latin typeface="Courier New"/>
                <a:ea typeface="Courier New"/>
                <a:cs typeface="Courier New"/>
              </a:rPr>
              <a:t>y ~ x</a:t>
            </a:r>
          </a:p>
        </p:txBody>
      </p:sp>
      <p:sp>
        <p:nvSpPr>
          <p:cNvPr id="86" name="S13 brms meaning fixed">
            <a:extLst>
              <a:ext uri="{FF2B5EF4-FFF2-40B4-BE49-F238E27FC236}">
                <a16:creationId xmlns:a16="http://schemas.microsoft.com/office/drawing/2014/main" id="{A30C1C4D-FF2B-4B28-B787-1176437FA77A}"/>
              </a:ext>
            </a:extLst>
          </p:cNvPr>
          <p:cNvSpPr>
            <a:spLocks noGrp="1"/>
          </p:cNvSpPr>
          <p:nvPr/>
        </p:nvSpPr>
        <p:spPr>
          <a:xfrm>
            <a:off x="542925" y="3371850"/>
            <a:ext cx="523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>
                <a:solidFill>
                  <a:srgbClr val="676767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676767"/>
                </a:solidFill>
                <a:latin typeface="Lato"/>
                <a:ea typeface="Lato"/>
                <a:cs typeface="Lato"/>
              </a:rPr>
              <a:t>population terms only</a:t>
            </a:r>
          </a:p>
        </p:txBody>
      </p:sp>
      <p:sp>
        <p:nvSpPr>
          <p:cNvPr id="87" name="S13 brms formula intercept">
            <a:extLst>
              <a:ext uri="{FF2B5EF4-FFF2-40B4-BE49-F238E27FC236}">
                <a16:creationId xmlns:a16="http://schemas.microsoft.com/office/drawing/2014/main" id="{8DDC65F9-DECF-495B-A465-671950AF7C5C}"/>
              </a:ext>
            </a:extLst>
          </p:cNvPr>
          <p:cNvSpPr>
            <a:spLocks noGrp="1"/>
          </p:cNvSpPr>
          <p:nvPr/>
        </p:nvSpPr>
        <p:spPr>
          <a:xfrm>
            <a:off x="409575" y="3790950"/>
            <a:ext cx="5429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>
                <a:solidFill>
                  <a:srgbClr val="242424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242424"/>
                </a:solidFill>
                <a:latin typeface="Courier New"/>
                <a:ea typeface="Courier New"/>
                <a:cs typeface="Courier New"/>
              </a:rPr>
              <a:t>y ~ x + (1 | subject)</a:t>
            </a:r>
          </a:p>
        </p:txBody>
      </p:sp>
      <p:sp>
        <p:nvSpPr>
          <p:cNvPr id="88" name="S13 brms meaning intercept">
            <a:extLst>
              <a:ext uri="{FF2B5EF4-FFF2-40B4-BE49-F238E27FC236}">
                <a16:creationId xmlns:a16="http://schemas.microsoft.com/office/drawing/2014/main" id="{7EB5DFEC-0636-4B40-A3DA-CE0196A68DCC}"/>
              </a:ext>
            </a:extLst>
          </p:cNvPr>
          <p:cNvSpPr>
            <a:spLocks noGrp="1"/>
          </p:cNvSpPr>
          <p:nvPr/>
        </p:nvSpPr>
        <p:spPr>
          <a:xfrm>
            <a:off x="542925" y="4095750"/>
            <a:ext cx="523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>
                <a:solidFill>
                  <a:srgbClr val="676767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676767"/>
                </a:solidFill>
                <a:latin typeface="Lato"/>
                <a:ea typeface="Lato"/>
                <a:cs typeface="Lato"/>
              </a:rPr>
              <a:t>only the participant intercept varies</a:t>
            </a:r>
          </a:p>
        </p:txBody>
      </p:sp>
      <p:sp>
        <p:nvSpPr>
          <p:cNvPr id="89" name="S13 brms formula slope">
            <a:extLst>
              <a:ext uri="{FF2B5EF4-FFF2-40B4-BE49-F238E27FC236}">
                <a16:creationId xmlns:a16="http://schemas.microsoft.com/office/drawing/2014/main" id="{7C695B59-BBB4-40D9-A875-8B97CC2F49F3}"/>
              </a:ext>
            </a:extLst>
          </p:cNvPr>
          <p:cNvSpPr>
            <a:spLocks noGrp="1"/>
          </p:cNvSpPr>
          <p:nvPr/>
        </p:nvSpPr>
        <p:spPr>
          <a:xfrm>
            <a:off x="409575" y="4514850"/>
            <a:ext cx="571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800" b="1">
                <a:solidFill>
                  <a:srgbClr val="242424"/>
                </a:solidFill>
                <a:latin typeface="Courier New"/>
                <a:ea typeface="Courier New"/>
                <a:cs typeface="Courier New"/>
              </a:defRPr>
            </a:pPr>
            <a:r>
              <a:rPr sz="1800" b="1">
                <a:solidFill>
                  <a:srgbClr val="242424"/>
                </a:solidFill>
                <a:latin typeface="Courier New"/>
                <a:ea typeface="Courier New"/>
                <a:cs typeface="Courier New"/>
              </a:rPr>
              <a:t>y ~ x + (1 + x | subject)</a:t>
            </a:r>
          </a:p>
        </p:txBody>
      </p:sp>
      <p:sp>
        <p:nvSpPr>
          <p:cNvPr id="90" name="S13 brms meaning slope">
            <a:extLst>
              <a:ext uri="{FF2B5EF4-FFF2-40B4-BE49-F238E27FC236}">
                <a16:creationId xmlns:a16="http://schemas.microsoft.com/office/drawing/2014/main" id="{FA1BD2E3-F6E8-41F2-8591-69C5CBBF885D}"/>
              </a:ext>
            </a:extLst>
          </p:cNvPr>
          <p:cNvSpPr>
            <a:spLocks noGrp="1"/>
          </p:cNvSpPr>
          <p:nvPr/>
        </p:nvSpPr>
        <p:spPr>
          <a:xfrm>
            <a:off x="542925" y="4819650"/>
            <a:ext cx="523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350" b="0">
                <a:solidFill>
                  <a:srgbClr val="676767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676767"/>
                </a:solidFill>
                <a:latin typeface="Lato"/>
                <a:ea typeface="Lato"/>
                <a:cs typeface="Lato"/>
              </a:rPr>
              <a:t>participant intercept and x slope vary</a:t>
            </a:r>
          </a:p>
        </p:txBody>
      </p:sp>
      <p:sp>
        <p:nvSpPr>
          <p:cNvPr id="91" name="S13 brms implication">
            <a:extLst>
              <a:ext uri="{FF2B5EF4-FFF2-40B4-BE49-F238E27FC236}">
                <a16:creationId xmlns:a16="http://schemas.microsoft.com/office/drawing/2014/main" id="{5B4F88F2-9E17-40D6-A79C-AEE5E465EC56}"/>
              </a:ext>
            </a:extLst>
          </p:cNvPr>
          <p:cNvSpPr>
            <a:spLocks noGrp="1"/>
          </p:cNvSpPr>
          <p:nvPr/>
        </p:nvSpPr>
        <p:spPr>
          <a:xfrm>
            <a:off x="409575" y="5381625"/>
            <a:ext cx="561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725" b="1">
                <a:solidFill>
                  <a:srgbClr val="242424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242424"/>
                </a:solidFill>
                <a:latin typeface="Lato"/>
                <a:ea typeface="Lato"/>
                <a:cs typeface="Lato"/>
              </a:rPr>
              <a:t>The term inside ( | subject) states which coefficients vary.</a:t>
            </a:r>
          </a:p>
        </p:txBody>
      </p:sp>
      <p:sp>
        <p:nvSpPr>
          <p:cNvPr id="92" name="S13 EMC2 header">
            <a:extLst>
              <a:ext uri="{FF2B5EF4-FFF2-40B4-BE49-F238E27FC236}">
                <a16:creationId xmlns:a16="http://schemas.microsoft.com/office/drawing/2014/main" id="{461C89D6-1D4C-4D0D-83B6-4A73A0E39893}"/>
              </a:ext>
            </a:extLst>
          </p:cNvPr>
          <p:cNvSpPr>
            <a:spLocks noGrp="1"/>
          </p:cNvSpPr>
          <p:nvPr/>
        </p:nvSpPr>
        <p:spPr>
          <a:xfrm>
            <a:off x="7191375" y="838200"/>
            <a:ext cx="44291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75" b="1">
                <a:solidFill>
                  <a:srgbClr val="4E9288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4E9288"/>
                </a:solidFill>
                <a:latin typeface="Lato"/>
                <a:ea typeface="Lato"/>
                <a:cs typeface="Lato"/>
              </a:rPr>
              <a:t>EMC2: participant variation is implicit</a:t>
            </a:r>
          </a:p>
        </p:txBody>
      </p:sp>
      <p:sp>
        <p:nvSpPr>
          <p:cNvPr id="93" name="S13 EMC2 design surface">
            <a:extLst>
              <a:ext uri="{FF2B5EF4-FFF2-40B4-BE49-F238E27FC236}">
                <a16:creationId xmlns:a16="http://schemas.microsoft.com/office/drawing/2014/main" id="{5FA89A16-4EAA-4EA9-A5BB-93100DBD5417}"/>
              </a:ext>
            </a:extLst>
          </p:cNvPr>
          <p:cNvSpPr>
            <a:spLocks noGrp="1"/>
          </p:cNvSpPr>
          <p:nvPr/>
        </p:nvSpPr>
        <p:spPr>
          <a:xfrm>
            <a:off x="7381875" y="1428750"/>
            <a:ext cx="4048125" cy="876300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 w="11906">
            <a:solidFill>
              <a:srgbClr val="4E9288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defRPr sz="2025" b="1">
                <a:solidFill>
                  <a:srgbClr val="242424"/>
                </a:solidFill>
                <a:latin typeface="Courier New"/>
                <a:ea typeface="Courier New"/>
                <a:cs typeface="Courier New"/>
              </a:defRPr>
            </a:pPr>
            <a:r>
              <a:rPr sz="2025" b="1">
                <a:solidFill>
                  <a:srgbClr val="242424"/>
                </a:solidFill>
                <a:latin typeface="Courier New"/>
                <a:ea typeface="Courier New"/>
                <a:cs typeface="Courier New"/>
              </a:rPr>
              <a:t>design(list(v ~ x), ...)</a:t>
            </a:r>
          </a:p>
        </p:txBody>
      </p:sp>
      <p:sp>
        <p:nvSpPr>
          <p:cNvPr id="94" name="S13 EMC2 omission">
            <a:extLst>
              <a:ext uri="{FF2B5EF4-FFF2-40B4-BE49-F238E27FC236}">
                <a16:creationId xmlns:a16="http://schemas.microsoft.com/office/drawing/2014/main" id="{7A5488EC-F892-42B4-94ED-B5DB5778862E}"/>
              </a:ext>
            </a:extLst>
          </p:cNvPr>
          <p:cNvSpPr>
            <a:spLocks noGrp="1"/>
          </p:cNvSpPr>
          <p:nvPr/>
        </p:nvSpPr>
        <p:spPr>
          <a:xfrm>
            <a:off x="7334250" y="2571750"/>
            <a:ext cx="4143375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575" b="0">
                <a:solidFill>
                  <a:srgbClr val="242424"/>
                </a:solidFill>
                <a:latin typeface="Lato"/>
                <a:ea typeface="Lato"/>
                <a:cs typeface="Lato"/>
              </a:defRPr>
            </a:pPr>
            <a:r>
              <a:rPr sz="1575" b="0" dirty="0">
                <a:solidFill>
                  <a:srgbClr val="242424"/>
                </a:solidFill>
                <a:latin typeface="Lato"/>
                <a:ea typeface="Lato"/>
                <a:cs typeface="Lato"/>
              </a:rPr>
              <a:t>No (1 | subject) is written.</a:t>
            </a:r>
          </a:p>
          <a:p>
            <a:pPr algn="ctr">
              <a:defRPr sz="1575" b="0">
                <a:solidFill>
                  <a:srgbClr val="242424"/>
                </a:solidFill>
                <a:latin typeface="Lato"/>
                <a:ea typeface="Lato"/>
                <a:cs typeface="Lato"/>
              </a:defRPr>
            </a:pPr>
            <a:r>
              <a:rPr lang="en-US" sz="1575" b="0" dirty="0">
                <a:solidFill>
                  <a:srgbClr val="242424"/>
                </a:solidFill>
                <a:latin typeface="Lato"/>
                <a:ea typeface="Lato"/>
                <a:cs typeface="Lato"/>
              </a:rPr>
              <a:t>EMC2 assumes</a:t>
            </a:r>
            <a:endParaRPr sz="1575" b="0" dirty="0">
              <a:solidFill>
                <a:srgbClr val="242424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97" name="S13 EMC2 subset surface">
            <a:extLst>
              <a:ext uri="{FF2B5EF4-FFF2-40B4-BE49-F238E27FC236}">
                <a16:creationId xmlns:a16="http://schemas.microsoft.com/office/drawing/2014/main" id="{3E2EBE9A-8440-4227-B790-BE57F3BD502D}"/>
              </a:ext>
            </a:extLst>
          </p:cNvPr>
          <p:cNvSpPr>
            <a:spLocks noGrp="1"/>
          </p:cNvSpPr>
          <p:nvPr/>
        </p:nvSpPr>
        <p:spPr>
          <a:xfrm>
            <a:off x="7191374" y="3169285"/>
            <a:ext cx="4429125" cy="876300"/>
          </a:xfrm>
          <a:prstGeom prst="roundRect">
            <a:avLst>
              <a:gd name="adj" fmla="val 15217"/>
            </a:avLst>
          </a:prstGeom>
          <a:solidFill>
            <a:srgbClr val="FBE7DE"/>
          </a:solidFill>
          <a:ln w="11906">
            <a:solidFill>
              <a:srgbClr val="E95C27"/>
            </a:solidFill>
            <a:prstDash val="solid"/>
          </a:ln>
        </p:spPr>
        <p:txBody>
          <a:bodyPr wrap="square" lIns="152400" tIns="95250" rIns="152400" bIns="95250" anchor="ctr">
            <a:normAutofit fontScale="96110"/>
          </a:bodyPr>
          <a:lstStyle/>
          <a:p>
            <a:pPr algn="ctr">
              <a:defRPr sz="1500" b="1">
                <a:solidFill>
                  <a:srgbClr val="242424"/>
                </a:solidFill>
                <a:latin typeface="Lato"/>
                <a:ea typeface="Lato"/>
                <a:cs typeface="Lato"/>
              </a:defRPr>
            </a:pPr>
            <a:r>
              <a:rPr lang="en-US" sz="1500" b="1" dirty="0">
                <a:solidFill>
                  <a:srgbClr val="242424"/>
                </a:solidFill>
                <a:latin typeface="Lato"/>
                <a:ea typeface="Lato"/>
                <a:cs typeface="Lato"/>
              </a:rPr>
              <a:t>x + </a:t>
            </a:r>
            <a:r>
              <a:rPr sz="1500" b="1" dirty="0">
                <a:solidFill>
                  <a:srgbClr val="242424"/>
                </a:solidFill>
                <a:latin typeface="Lato"/>
                <a:ea typeface="Lato"/>
                <a:cs typeface="Lato"/>
              </a:rPr>
              <a:t>(1 + x | subject).</a:t>
            </a:r>
          </a:p>
        </p:txBody>
      </p:sp>
    </p:spTree>
    <p:extLst>
      <p:ext uri="{BB962C8B-B14F-4D97-AF65-F5344CB8AC3E}">
        <p14:creationId xmlns:p14="http://schemas.microsoft.com/office/powerpoint/2010/main" val="417505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89A9A7A6-4AF3-7FED-3641-3C0F629F9F9E}"/>
              </a:ext>
            </a:extLst>
          </p:cNvPr>
          <p:cNvSpPr>
            <a:spLocks noGrp="1"/>
          </p:cNvSpPr>
          <p:nvPr/>
        </p:nvSpPr>
        <p:spPr>
          <a:xfrm>
            <a:off x="0" y="333375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636A28E-3E12-0474-8797-EAD4B6646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485861" cy="1088136"/>
          </a:xfrm>
        </p:spPr>
        <p:txBody>
          <a:bodyPr wrap="square" lIns="91440" tIns="45720" rIns="91440" bIns="45720" anchor="b">
            <a:noAutofit/>
          </a:bodyPr>
          <a:lstStyle/>
          <a:p>
            <a:pPr algn="l">
              <a:lnSpc>
                <a:spcPct val="90000"/>
              </a:lnSpc>
              <a:buNone/>
              <a:defRPr sz="3400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3400">
                <a:solidFill>
                  <a:srgbClr val="000000"/>
                </a:solidFill>
                <a:latin typeface="Lato"/>
                <a:ea typeface="Lato"/>
                <a:cs typeface="Lato"/>
              </a:rPr>
              <a:t>EMC2 has two formula levels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C279A0-DA6A-C6AE-D0CC-4550181E3914}"/>
              </a:ext>
            </a:extLst>
          </p:cNvPr>
          <p:cNvSpPr>
            <a:spLocks noGrp="1"/>
          </p:cNvSpPr>
          <p:nvPr/>
        </p:nvSpPr>
        <p:spPr>
          <a:xfrm rot="5400000">
            <a:off x="649223" y="22860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667B673-8664-7B83-A92C-D8A88DB478CA}"/>
              </a:ext>
            </a:extLst>
          </p:cNvPr>
          <p:cNvSpPr>
            <a:spLocks noGrp="1"/>
          </p:cNvSpPr>
          <p:nvPr/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8" name="S14 subject heading">
            <a:extLst>
              <a:ext uri="{FF2B5EF4-FFF2-40B4-BE49-F238E27FC236}">
                <a16:creationId xmlns:a16="http://schemas.microsoft.com/office/drawing/2014/main" id="{42C76A1A-760A-4B71-A40F-9F8F83D119A5}"/>
              </a:ext>
            </a:extLst>
          </p:cNvPr>
          <p:cNvSpPr>
            <a:spLocks noGrp="1"/>
          </p:cNvSpPr>
          <p:nvPr/>
        </p:nvSpPr>
        <p:spPr>
          <a:xfrm>
            <a:off x="409575" y="2667000"/>
            <a:ext cx="53816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E95C27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E95C27"/>
                </a:solidFill>
                <a:latin typeface="Lato"/>
                <a:ea typeface="Lato"/>
                <a:cs typeface="Lato"/>
              </a:rPr>
              <a:t>1  SUBJECT DESIGN</a:t>
            </a:r>
          </a:p>
        </p:txBody>
      </p:sp>
      <p:sp>
        <p:nvSpPr>
          <p:cNvPr id="49" name="S14 subject design surface">
            <a:extLst>
              <a:ext uri="{FF2B5EF4-FFF2-40B4-BE49-F238E27FC236}">
                <a16:creationId xmlns:a16="http://schemas.microsoft.com/office/drawing/2014/main" id="{EDBF0E77-1155-4876-9B79-D2963C51A98E}"/>
              </a:ext>
            </a:extLst>
          </p:cNvPr>
          <p:cNvSpPr>
            <a:spLocks noGrp="1"/>
          </p:cNvSpPr>
          <p:nvPr/>
        </p:nvSpPr>
        <p:spPr>
          <a:xfrm>
            <a:off x="409575" y="3095625"/>
            <a:ext cx="5381625" cy="933450"/>
          </a:xfrm>
          <a:prstGeom prst="roundRect">
            <a:avLst>
              <a:gd name="adj" fmla="val 14286"/>
            </a:avLst>
          </a:prstGeom>
          <a:solidFill>
            <a:srgbClr val="FBE7DE"/>
          </a:solidFill>
          <a:ln w="11906">
            <a:solidFill>
              <a:srgbClr val="E95C27"/>
            </a:solidFill>
            <a:prstDash val="solid"/>
          </a:ln>
        </p:spPr>
        <p:txBody>
          <a:bodyPr wrap="square" lIns="114300" tIns="95250" rIns="114300" bIns="95250" anchor="ctr">
            <a:normAutofit/>
          </a:bodyPr>
          <a:lstStyle/>
          <a:p>
            <a:pPr algn="ctr">
              <a:defRPr sz="1875" b="1">
                <a:solidFill>
                  <a:srgbClr val="242424"/>
                </a:solidFill>
                <a:latin typeface="Courier New"/>
                <a:ea typeface="Courier New"/>
                <a:cs typeface="Courier New"/>
              </a:defRPr>
            </a:pPr>
            <a:r>
              <a:rPr sz="1875" b="1">
                <a:solidFill>
                  <a:srgbClr val="242424"/>
                </a:solidFill>
                <a:latin typeface="Courier New"/>
                <a:ea typeface="Courier New"/>
                <a:cs typeface="Courier New"/>
              </a:rPr>
              <a:t>design(list(v ~ condition, a ~ 1), ...)</a:t>
            </a:r>
          </a:p>
        </p:txBody>
      </p:sp>
      <p:sp>
        <p:nvSpPr>
          <p:cNvPr id="50" name="S14 subject implication">
            <a:extLst>
              <a:ext uri="{FF2B5EF4-FFF2-40B4-BE49-F238E27FC236}">
                <a16:creationId xmlns:a16="http://schemas.microsoft.com/office/drawing/2014/main" id="{6AE21A75-ABFE-4D5A-8B77-F2E67D4E39A8}"/>
              </a:ext>
            </a:extLst>
          </p:cNvPr>
          <p:cNvSpPr>
            <a:spLocks noGrp="1"/>
          </p:cNvSpPr>
          <p:nvPr/>
        </p:nvSpPr>
        <p:spPr>
          <a:xfrm>
            <a:off x="409575" y="4191000"/>
            <a:ext cx="5381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0">
                <a:solidFill>
                  <a:srgbClr val="242424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242424"/>
                </a:solidFill>
                <a:latin typeface="Lato"/>
                <a:ea typeface="Lato"/>
                <a:cs typeface="Lato"/>
              </a:rPr>
              <a:t>Defines the free coefficients every participant has.</a:t>
            </a:r>
          </a:p>
        </p:txBody>
      </p:sp>
      <p:sp>
        <p:nvSpPr>
          <p:cNvPr id="51" name="S14 subject vector">
            <a:extLst>
              <a:ext uri="{FF2B5EF4-FFF2-40B4-BE49-F238E27FC236}">
                <a16:creationId xmlns:a16="http://schemas.microsoft.com/office/drawing/2014/main" id="{F4180BB6-A468-4E35-AA2C-11053BD7302B}"/>
              </a:ext>
            </a:extLst>
          </p:cNvPr>
          <p:cNvSpPr>
            <a:spLocks noGrp="1"/>
          </p:cNvSpPr>
          <p:nvPr/>
        </p:nvSpPr>
        <p:spPr>
          <a:xfrm>
            <a:off x="409575" y="4762500"/>
            <a:ext cx="5381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175" b="0">
                <a:solidFill>
                  <a:srgbClr val="242424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242424"/>
                </a:solidFill>
                <a:latin typeface="Cambria Math"/>
                <a:ea typeface="Cambria Math"/>
                <a:cs typeface="Cambria Math"/>
              </a:rPr>
              <a:t>αᵢ = (v₀ᵢ, v₁ᵢ, a₀ᵢ, …)</a:t>
            </a:r>
          </a:p>
        </p:txBody>
      </p:sp>
      <p:sp>
        <p:nvSpPr>
          <p:cNvPr id="52" name="S14 group heading">
            <a:extLst>
              <a:ext uri="{FF2B5EF4-FFF2-40B4-BE49-F238E27FC236}">
                <a16:creationId xmlns:a16="http://schemas.microsoft.com/office/drawing/2014/main" id="{07E79085-00C2-4226-A808-585868A73CD5}"/>
              </a:ext>
            </a:extLst>
          </p:cNvPr>
          <p:cNvSpPr>
            <a:spLocks noGrp="1"/>
          </p:cNvSpPr>
          <p:nvPr/>
        </p:nvSpPr>
        <p:spPr>
          <a:xfrm>
            <a:off x="6334125" y="1190625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00" b="1">
                <a:solidFill>
                  <a:srgbClr val="4E9288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4E9288"/>
                </a:solidFill>
                <a:latin typeface="Lato"/>
                <a:ea typeface="Lato"/>
                <a:cs typeface="Lato"/>
              </a:rPr>
              <a:t>2  GROUP DESIGN</a:t>
            </a:r>
          </a:p>
        </p:txBody>
      </p:sp>
      <p:sp>
        <p:nvSpPr>
          <p:cNvPr id="53" name="S14 group design surface">
            <a:extLst>
              <a:ext uri="{FF2B5EF4-FFF2-40B4-BE49-F238E27FC236}">
                <a16:creationId xmlns:a16="http://schemas.microsoft.com/office/drawing/2014/main" id="{8F18E438-E58E-403E-864E-DF58438573BA}"/>
              </a:ext>
            </a:extLst>
          </p:cNvPr>
          <p:cNvSpPr>
            <a:spLocks noGrp="1"/>
          </p:cNvSpPr>
          <p:nvPr/>
        </p:nvSpPr>
        <p:spPr>
          <a:xfrm>
            <a:off x="6334125" y="1619250"/>
            <a:ext cx="4953000" cy="1314450"/>
          </a:xfrm>
          <a:prstGeom prst="roundRect">
            <a:avLst>
              <a:gd name="adj" fmla="val 10145"/>
            </a:avLst>
          </a:prstGeom>
          <a:solidFill>
            <a:srgbClr val="E6F0EE"/>
          </a:solidFill>
          <a:ln w="11906">
            <a:solidFill>
              <a:srgbClr val="4E9288"/>
            </a:solidFill>
            <a:prstDash val="solid"/>
          </a:ln>
        </p:spPr>
        <p:txBody>
          <a:bodyPr wrap="square" lIns="228600" tIns="114300" rIns="171450" bIns="114300" anchor="ctr">
            <a:normAutofit fontScale="95832"/>
          </a:bodyPr>
          <a:lstStyle/>
          <a:p>
            <a:pPr algn="l">
              <a:defRPr sz="1725" b="1">
                <a:solidFill>
                  <a:srgbClr val="242424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>
                <a:solidFill>
                  <a:srgbClr val="242424"/>
                </a:solidFill>
                <a:latin typeface="Courier New"/>
                <a:ea typeface="Courier New"/>
                <a:cs typeface="Courier New"/>
              </a:rPr>
              <a:t>group_design(list(</a:t>
            </a:r>
          </a:p>
          <a:p>
            <a:pPr algn="l">
              <a:defRPr sz="1725" b="1">
                <a:solidFill>
                  <a:srgbClr val="242424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>
                <a:solidFill>
                  <a:srgbClr val="242424"/>
                </a:solidFill>
                <a:latin typeface="Courier New"/>
                <a:ea typeface="Courier New"/>
                <a:cs typeface="Courier New"/>
              </a:rPr>
              <a:t>  v ~ age,</a:t>
            </a:r>
          </a:p>
          <a:p>
            <a:pPr algn="l">
              <a:defRPr sz="1725" b="1">
                <a:solidFill>
                  <a:srgbClr val="242424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>
                <a:solidFill>
                  <a:srgbClr val="242424"/>
                </a:solidFill>
                <a:latin typeface="Courier New"/>
                <a:ea typeface="Courier New"/>
                <a:cs typeface="Courier New"/>
              </a:rPr>
              <a:t>  v_conditionB ~ group</a:t>
            </a:r>
          </a:p>
          <a:p>
            <a:pPr algn="l">
              <a:defRPr sz="1725" b="1">
                <a:solidFill>
                  <a:srgbClr val="242424"/>
                </a:solidFill>
                <a:latin typeface="Courier New"/>
                <a:ea typeface="Courier New"/>
                <a:cs typeface="Courier New"/>
              </a:defRPr>
            </a:pPr>
            <a:r>
              <a:rPr sz="1725" b="1">
                <a:solidFill>
                  <a:srgbClr val="242424"/>
                </a:solidFill>
                <a:latin typeface="Courier New"/>
                <a:ea typeface="Courier New"/>
                <a:cs typeface="Courier New"/>
              </a:rPr>
              <a:t>), ...)</a:t>
            </a:r>
          </a:p>
        </p:txBody>
      </p:sp>
      <p:sp>
        <p:nvSpPr>
          <p:cNvPr id="54" name="S14 group implication">
            <a:extLst>
              <a:ext uri="{FF2B5EF4-FFF2-40B4-BE49-F238E27FC236}">
                <a16:creationId xmlns:a16="http://schemas.microsoft.com/office/drawing/2014/main" id="{98FCAA01-9B6F-4C4C-BCF1-20E9397238FA}"/>
              </a:ext>
            </a:extLst>
          </p:cNvPr>
          <p:cNvSpPr>
            <a:spLocks noGrp="1"/>
          </p:cNvSpPr>
          <p:nvPr/>
        </p:nvSpPr>
        <p:spPr>
          <a:xfrm>
            <a:off x="6334125" y="31432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1575" b="0">
                <a:solidFill>
                  <a:srgbClr val="242424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242424"/>
                </a:solidFill>
                <a:latin typeface="Lato"/>
                <a:ea typeface="Lato"/>
                <a:cs typeface="Lato"/>
              </a:rPr>
              <a:t>Explains the population means of existing coefficients.</a:t>
            </a:r>
          </a:p>
        </p:txBody>
      </p:sp>
      <p:sp>
        <p:nvSpPr>
          <p:cNvPr id="55" name="S14 group equation">
            <a:extLst>
              <a:ext uri="{FF2B5EF4-FFF2-40B4-BE49-F238E27FC236}">
                <a16:creationId xmlns:a16="http://schemas.microsoft.com/office/drawing/2014/main" id="{DD89C3DE-B1A1-42E1-9769-9958B1369548}"/>
              </a:ext>
            </a:extLst>
          </p:cNvPr>
          <p:cNvSpPr>
            <a:spLocks noGrp="1"/>
          </p:cNvSpPr>
          <p:nvPr/>
        </p:nvSpPr>
        <p:spPr>
          <a:xfrm>
            <a:off x="6334125" y="3790950"/>
            <a:ext cx="49530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2325" b="0">
                <a:solidFill>
                  <a:srgbClr val="242424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242424"/>
                </a:solidFill>
                <a:latin typeface="Cambria Math"/>
                <a:ea typeface="Cambria Math"/>
                <a:cs typeface="Cambria Math"/>
              </a:rPr>
              <a:t>μᵢ = Wᵢβ,     αᵢ ∼ N(μᵢ, Σ)</a:t>
            </a:r>
          </a:p>
        </p:txBody>
      </p:sp>
      <p:sp>
        <p:nvSpPr>
          <p:cNvPr id="56" name="S14 group note">
            <a:extLst>
              <a:ext uri="{FF2B5EF4-FFF2-40B4-BE49-F238E27FC236}">
                <a16:creationId xmlns:a16="http://schemas.microsoft.com/office/drawing/2014/main" id="{696AA812-3902-49D2-B193-FC71AB81EC52}"/>
              </a:ext>
            </a:extLst>
          </p:cNvPr>
          <p:cNvSpPr>
            <a:spLocks noGrp="1"/>
          </p:cNvSpPr>
          <p:nvPr/>
        </p:nvSpPr>
        <p:spPr>
          <a:xfrm>
            <a:off x="6334125" y="4619625"/>
            <a:ext cx="495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defRPr sz="1650" b="1">
                <a:solidFill>
                  <a:srgbClr val="4E9288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4E9288"/>
                </a:solidFill>
                <a:latin typeface="Lato"/>
                <a:ea typeface="Lato"/>
                <a:cs typeface="Lato"/>
              </a:rPr>
              <a:t>It does not add the participant hierarchy.</a:t>
            </a:r>
          </a:p>
        </p:txBody>
      </p:sp>
      <p:sp>
        <p:nvSpPr>
          <p:cNvPr id="57" name="S14 formula takeaway surface">
            <a:extLst>
              <a:ext uri="{FF2B5EF4-FFF2-40B4-BE49-F238E27FC236}">
                <a16:creationId xmlns:a16="http://schemas.microsoft.com/office/drawing/2014/main" id="{1B6E17F3-9F50-4447-A00D-286D42800085}"/>
              </a:ext>
            </a:extLst>
          </p:cNvPr>
          <p:cNvSpPr>
            <a:spLocks noGrp="1"/>
          </p:cNvSpPr>
          <p:nvPr/>
        </p:nvSpPr>
        <p:spPr>
          <a:xfrm>
            <a:off x="6238875" y="5314950"/>
            <a:ext cx="5143500" cy="9525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1906">
            <a:solidFill>
              <a:srgbClr val="C8CDD0"/>
            </a:solidFill>
            <a:prstDash val="solid"/>
          </a:ln>
        </p:spPr>
        <p:txBody>
          <a:bodyPr wrap="square" lIns="133350" tIns="95250" rIns="133350" bIns="95250" anchor="ctr">
            <a:normAutofit/>
          </a:bodyPr>
          <a:lstStyle/>
          <a:p>
            <a:pPr algn="ctr">
              <a:defRPr sz="1500">
                <a:solidFill>
                  <a:srgbClr val="242424"/>
                </a:solidFill>
                <a:latin typeface="Lato"/>
                <a:ea typeface="Lato"/>
                <a:cs typeface="Lato"/>
              </a:defRPr>
            </a:pPr>
            <a:r>
              <a:rPr sz="1500">
                <a:solidFill>
                  <a:srgbClr val="242424"/>
                </a:solidFill>
                <a:latin typeface="Lato"/>
                <a:ea typeface="Lato"/>
                <a:cs typeface="Lato"/>
              </a:rPr>
              <a:t>Coefficients omitted from group_design() retain</a:t>
            </a:r>
          </a:p>
          <a:p>
            <a:pPr algn="ctr">
              <a:defRPr sz="1500">
                <a:solidFill>
                  <a:srgbClr val="242424"/>
                </a:solidFill>
                <a:latin typeface="Lato"/>
                <a:ea typeface="Lato"/>
                <a:cs typeface="Lato"/>
              </a:defRPr>
            </a:pPr>
            <a:r>
              <a:rPr sz="1500">
                <a:solidFill>
                  <a:srgbClr val="242424"/>
                </a:solidFill>
                <a:latin typeface="Lato"/>
                <a:ea typeface="Lato"/>
                <a:cs typeface="Lato"/>
              </a:rPr>
              <a:t>an intercept-only mean and variance.</a:t>
            </a:r>
          </a:p>
        </p:txBody>
      </p:sp>
    </p:spTree>
    <p:extLst>
      <p:ext uri="{BB962C8B-B14F-4D97-AF65-F5344CB8AC3E}">
        <p14:creationId xmlns:p14="http://schemas.microsoft.com/office/powerpoint/2010/main" val="9720390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F94AA2BD-2E3F-4B1D-8127-5744B8115311}"/>
              </a:ext>
            </a:extLst>
          </p:cNvPr>
          <p:cNvSpPr>
            <a:spLocks noGrp="1"/>
          </p:cNvSpPr>
          <p:nvPr/>
        </p:nvSpPr>
        <p:spPr>
          <a:xfrm>
            <a:off x="0" y="26670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408DF60-ADAB-F951-D3FE-D94F99BC1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485861" cy="1088136"/>
          </a:xfrm>
        </p:spPr>
        <p:txBody>
          <a:bodyPr wrap="square" lIns="91440" tIns="45720" rIns="91440" bIns="45720" anchor="b">
            <a:noAutofit/>
          </a:bodyPr>
          <a:lstStyle/>
          <a:p>
            <a:pPr algn="l">
              <a:lnSpc>
                <a:spcPct val="90000"/>
              </a:lnSpc>
              <a:buNone/>
              <a:defRPr sz="3400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3400">
                <a:solidFill>
                  <a:srgbClr val="000000"/>
                </a:solidFill>
                <a:latin typeface="Lato"/>
                <a:ea typeface="Lato"/>
                <a:cs typeface="Lato"/>
              </a:rPr>
              <a:t>EMC2 exploits participant blocks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BD02261-2DC8-4AA8-9E16-7751AE892445}"/>
              </a:ext>
            </a:extLst>
          </p:cNvPr>
          <p:cNvSpPr>
            <a:spLocks noGrp="1"/>
          </p:cNvSpPr>
          <p:nvPr/>
        </p:nvSpPr>
        <p:spPr>
          <a:xfrm rot="5400000">
            <a:off x="649223" y="22860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D752CF2-2291-40B5-B462-C17B174C10BC}"/>
              </a:ext>
            </a:extLst>
          </p:cNvPr>
          <p:cNvSpPr>
            <a:spLocks noGrp="1"/>
          </p:cNvSpPr>
          <p:nvPr/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8" name="S3 editable figure background">
            <a:extLst>
              <a:ext uri="{FF2B5EF4-FFF2-40B4-BE49-F238E27FC236}">
                <a16:creationId xmlns:a16="http://schemas.microsoft.com/office/drawing/2014/main" id="{F58A4FAF-EBAC-4420-B914-882375C19645}"/>
              </a:ext>
            </a:extLst>
          </p:cNvPr>
          <p:cNvSpPr>
            <a:spLocks noGrp="1"/>
          </p:cNvSpPr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1F1F1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S3 population">
            <a:extLst>
              <a:ext uri="{FF2B5EF4-FFF2-40B4-BE49-F238E27FC236}">
                <a16:creationId xmlns:a16="http://schemas.microsoft.com/office/drawing/2014/main" id="{71E8001A-BB1E-4AA4-B6D1-29B5CB4D5761}"/>
              </a:ext>
            </a:extLst>
          </p:cNvPr>
          <p:cNvSpPr>
            <a:spLocks noGrp="1"/>
          </p:cNvSpPr>
          <p:nvPr/>
        </p:nvSpPr>
        <p:spPr>
          <a:xfrm>
            <a:off x="7858125" y="523875"/>
            <a:ext cx="3429000" cy="781050"/>
          </a:xfrm>
          <a:prstGeom prst="roundRect">
            <a:avLst>
              <a:gd name="adj" fmla="val 9756"/>
            </a:avLst>
          </a:prstGeom>
          <a:solidFill>
            <a:srgbClr val="FBE4DB"/>
          </a:solidFill>
          <a:ln w="20955">
            <a:solidFill>
              <a:srgbClr val="F05A28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94000"/>
              </a:lnSpc>
              <a:buNone/>
              <a:defRPr sz="150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20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Shared population</a:t>
            </a:r>
          </a:p>
          <a:p>
            <a:pPr algn="ctr">
              <a:lnSpc>
                <a:spcPct val="94000"/>
              </a:lnSpc>
              <a:buNone/>
              <a:defRPr sz="150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20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μ, Σ</a:t>
            </a:r>
          </a:p>
        </p:txBody>
      </p:sp>
      <p:sp>
        <p:nvSpPr>
          <p:cNvPr id="50" name="S3 participant 1">
            <a:extLst>
              <a:ext uri="{FF2B5EF4-FFF2-40B4-BE49-F238E27FC236}">
                <a16:creationId xmlns:a16="http://schemas.microsoft.com/office/drawing/2014/main" id="{0664B2F6-A1C7-4895-902B-0517FD9FA181}"/>
              </a:ext>
            </a:extLst>
          </p:cNvPr>
          <p:cNvSpPr>
            <a:spLocks noGrp="1"/>
          </p:cNvSpPr>
          <p:nvPr/>
        </p:nvSpPr>
        <p:spPr>
          <a:xfrm>
            <a:off x="7143750" y="2524125"/>
            <a:ext cx="1381125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335">
            <a:solidFill>
              <a:srgbClr val="BFC2C4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94000"/>
              </a:lnSpc>
              <a:buNone/>
              <a:defRPr sz="1425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6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Block 1</a:t>
            </a:r>
          </a:p>
          <a:p>
            <a:pPr algn="ctr">
              <a:lnSpc>
                <a:spcPct val="94000"/>
              </a:lnSpc>
              <a:buNone/>
              <a:defRPr sz="1425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6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α₁</a:t>
            </a:r>
          </a:p>
        </p:txBody>
      </p:sp>
      <p:sp>
        <p:nvSpPr>
          <p:cNvPr id="51" name="S3 participant 2">
            <a:extLst>
              <a:ext uri="{FF2B5EF4-FFF2-40B4-BE49-F238E27FC236}">
                <a16:creationId xmlns:a16="http://schemas.microsoft.com/office/drawing/2014/main" id="{74850AF5-99B6-45E9-86C8-6DD343ECAC97}"/>
              </a:ext>
            </a:extLst>
          </p:cNvPr>
          <p:cNvSpPr>
            <a:spLocks noGrp="1"/>
          </p:cNvSpPr>
          <p:nvPr/>
        </p:nvSpPr>
        <p:spPr>
          <a:xfrm>
            <a:off x="8858250" y="2524125"/>
            <a:ext cx="1381125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335">
            <a:solidFill>
              <a:srgbClr val="BFC2C4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94000"/>
              </a:lnSpc>
              <a:buNone/>
              <a:defRPr sz="1425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6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Block 2</a:t>
            </a:r>
          </a:p>
          <a:p>
            <a:pPr algn="ctr">
              <a:lnSpc>
                <a:spcPct val="94000"/>
              </a:lnSpc>
              <a:buNone/>
              <a:defRPr sz="1425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6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α₂</a:t>
            </a:r>
          </a:p>
        </p:txBody>
      </p:sp>
      <p:sp>
        <p:nvSpPr>
          <p:cNvPr id="52" name="S3 participant J">
            <a:extLst>
              <a:ext uri="{FF2B5EF4-FFF2-40B4-BE49-F238E27FC236}">
                <a16:creationId xmlns:a16="http://schemas.microsoft.com/office/drawing/2014/main" id="{8CE6A311-1F39-4122-9F62-4EAC1BD668B8}"/>
              </a:ext>
            </a:extLst>
          </p:cNvPr>
          <p:cNvSpPr>
            <a:spLocks noGrp="1"/>
          </p:cNvSpPr>
          <p:nvPr/>
        </p:nvSpPr>
        <p:spPr>
          <a:xfrm>
            <a:off x="10572750" y="2524125"/>
            <a:ext cx="1381125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335">
            <a:solidFill>
              <a:srgbClr val="BFC2C4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94000"/>
              </a:lnSpc>
              <a:buNone/>
              <a:defRPr sz="1425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6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Block n</a:t>
            </a:r>
          </a:p>
          <a:p>
            <a:pPr algn="ctr">
              <a:lnSpc>
                <a:spcPct val="94000"/>
              </a:lnSpc>
              <a:buNone/>
              <a:defRPr sz="1425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6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αₙ</a:t>
            </a:r>
          </a:p>
        </p:txBody>
      </p:sp>
      <p:sp>
        <p:nvSpPr>
          <p:cNvPr id="53" name="S3 data 1">
            <a:extLst>
              <a:ext uri="{FF2B5EF4-FFF2-40B4-BE49-F238E27FC236}">
                <a16:creationId xmlns:a16="http://schemas.microsoft.com/office/drawing/2014/main" id="{030ECFFC-6346-427D-997F-FBA5477D4679}"/>
              </a:ext>
            </a:extLst>
          </p:cNvPr>
          <p:cNvSpPr>
            <a:spLocks noGrp="1"/>
          </p:cNvSpPr>
          <p:nvPr/>
        </p:nvSpPr>
        <p:spPr>
          <a:xfrm>
            <a:off x="7143750" y="4572000"/>
            <a:ext cx="1381125" cy="647700"/>
          </a:xfrm>
          <a:prstGeom prst="roundRect">
            <a:avLst>
              <a:gd name="adj" fmla="val 11765"/>
            </a:avLst>
          </a:prstGeom>
          <a:solidFill>
            <a:srgbClr val="E8F1EF"/>
          </a:solidFill>
          <a:ln w="17145">
            <a:solidFill>
              <a:srgbClr val="7BA99E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data</a:t>
            </a:r>
          </a:p>
          <a:p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y₁</a:t>
            </a:r>
          </a:p>
        </p:txBody>
      </p:sp>
      <p:sp>
        <p:nvSpPr>
          <p:cNvPr id="54" name="S3 data 2">
            <a:extLst>
              <a:ext uri="{FF2B5EF4-FFF2-40B4-BE49-F238E27FC236}">
                <a16:creationId xmlns:a16="http://schemas.microsoft.com/office/drawing/2014/main" id="{C032818F-C8A8-4E90-9DB7-00CD3F74027C}"/>
              </a:ext>
            </a:extLst>
          </p:cNvPr>
          <p:cNvSpPr>
            <a:spLocks noGrp="1"/>
          </p:cNvSpPr>
          <p:nvPr/>
        </p:nvSpPr>
        <p:spPr>
          <a:xfrm>
            <a:off x="8858250" y="4572000"/>
            <a:ext cx="1381125" cy="647700"/>
          </a:xfrm>
          <a:prstGeom prst="roundRect">
            <a:avLst>
              <a:gd name="adj" fmla="val 11765"/>
            </a:avLst>
          </a:prstGeom>
          <a:solidFill>
            <a:srgbClr val="E8F1EF"/>
          </a:solidFill>
          <a:ln w="17145">
            <a:solidFill>
              <a:srgbClr val="7BA99E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data</a:t>
            </a:r>
          </a:p>
          <a:p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y₂</a:t>
            </a:r>
          </a:p>
        </p:txBody>
      </p:sp>
      <p:sp>
        <p:nvSpPr>
          <p:cNvPr id="55" name="S3 data J">
            <a:extLst>
              <a:ext uri="{FF2B5EF4-FFF2-40B4-BE49-F238E27FC236}">
                <a16:creationId xmlns:a16="http://schemas.microsoft.com/office/drawing/2014/main" id="{FBE2FC63-DDD5-4C7C-A27F-0609EAD83481}"/>
              </a:ext>
            </a:extLst>
          </p:cNvPr>
          <p:cNvSpPr>
            <a:spLocks noGrp="1"/>
          </p:cNvSpPr>
          <p:nvPr/>
        </p:nvSpPr>
        <p:spPr>
          <a:xfrm>
            <a:off x="10572750" y="4572000"/>
            <a:ext cx="1381125" cy="647700"/>
          </a:xfrm>
          <a:prstGeom prst="roundRect">
            <a:avLst>
              <a:gd name="adj" fmla="val 11765"/>
            </a:avLst>
          </a:prstGeom>
          <a:solidFill>
            <a:srgbClr val="E8F1EF"/>
          </a:solidFill>
          <a:ln w="17145">
            <a:solidFill>
              <a:srgbClr val="7BA99E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data</a:t>
            </a:r>
          </a:p>
          <a:p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252525"/>
                </a:solidFill>
                <a:latin typeface="Lato"/>
                <a:ea typeface="Lato"/>
                <a:cs typeface="Lato"/>
              </a:rPr>
              <a:t>yₙ</a:t>
            </a:r>
          </a:p>
        </p:txBody>
      </p:sp>
      <p:cxnSp>
        <p:nvCxnSpPr>
          <p:cNvPr id="308" name="S3 population to person 1"/>
          <p:cNvCxnSpPr>
            <a:stCxn id="49" idx="2"/>
            <a:endCxn id="50" idx="0"/>
          </p:cNvCxnSpPr>
          <p:nvPr/>
        </p:nvCxnSpPr>
        <p:spPr>
          <a:xfrm flipH="1">
            <a:off x="7834313" y="1304925"/>
            <a:ext cx="1738313" cy="1219200"/>
          </a:xfrm>
          <a:prstGeom prst="straightConnector1">
            <a:avLst/>
          </a:prstGeom>
          <a:ln w="19050">
            <a:solidFill>
              <a:srgbClr val="F05A2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09" name="S3 population to person 2"/>
          <p:cNvCxnSpPr>
            <a:stCxn id="49" idx="2"/>
            <a:endCxn id="51" idx="0"/>
          </p:cNvCxnSpPr>
          <p:nvPr/>
        </p:nvCxnSpPr>
        <p:spPr>
          <a:xfrm flipH="1">
            <a:off x="9548813" y="1304925"/>
            <a:ext cx="23813" cy="1219200"/>
          </a:xfrm>
          <a:prstGeom prst="straightConnector1">
            <a:avLst/>
          </a:prstGeom>
          <a:ln w="19050">
            <a:solidFill>
              <a:srgbClr val="F05A2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10" name="S3 population to person J"/>
          <p:cNvCxnSpPr>
            <a:stCxn id="49" idx="2"/>
            <a:endCxn id="52" idx="0"/>
          </p:cNvCxnSpPr>
          <p:nvPr/>
        </p:nvCxnSpPr>
        <p:spPr>
          <a:xfrm>
            <a:off x="9572625" y="1304925"/>
            <a:ext cx="1690688" cy="1219200"/>
          </a:xfrm>
          <a:prstGeom prst="straightConnector1">
            <a:avLst/>
          </a:prstGeom>
          <a:ln w="19050">
            <a:solidFill>
              <a:srgbClr val="F05A2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11" name="S3 person 1 to data"/>
          <p:cNvCxnSpPr>
            <a:stCxn id="50" idx="2"/>
            <a:endCxn id="53" idx="0"/>
          </p:cNvCxnSpPr>
          <p:nvPr/>
        </p:nvCxnSpPr>
        <p:spPr>
          <a:xfrm>
            <a:off x="7834313" y="3209925"/>
            <a:ext cx="0" cy="1362075"/>
          </a:xfrm>
          <a:prstGeom prst="straightConnector1">
            <a:avLst/>
          </a:prstGeom>
          <a:ln w="19050">
            <a:solidFill>
              <a:srgbClr val="F05A2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12" name="S3 person 2 to data"/>
          <p:cNvCxnSpPr>
            <a:stCxn id="51" idx="2"/>
            <a:endCxn id="54" idx="0"/>
          </p:cNvCxnSpPr>
          <p:nvPr/>
        </p:nvCxnSpPr>
        <p:spPr>
          <a:xfrm>
            <a:off x="9548813" y="3209925"/>
            <a:ext cx="0" cy="1362075"/>
          </a:xfrm>
          <a:prstGeom prst="straightConnector1">
            <a:avLst/>
          </a:prstGeom>
          <a:ln w="19050">
            <a:solidFill>
              <a:srgbClr val="F05A2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13" name="S3 person J to data"/>
          <p:cNvCxnSpPr>
            <a:stCxn id="52" idx="2"/>
            <a:endCxn id="55" idx="0"/>
          </p:cNvCxnSpPr>
          <p:nvPr/>
        </p:nvCxnSpPr>
        <p:spPr>
          <a:xfrm>
            <a:off x="11263313" y="3209925"/>
            <a:ext cx="0" cy="1362075"/>
          </a:xfrm>
          <a:prstGeom prst="straightConnector1">
            <a:avLst/>
          </a:prstGeom>
          <a:ln w="19050">
            <a:solidFill>
              <a:srgbClr val="F05A28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65" name="S3 hierarchy equation">
            <a:extLst>
              <a:ext uri="{FF2B5EF4-FFF2-40B4-BE49-F238E27FC236}">
                <a16:creationId xmlns:a16="http://schemas.microsoft.com/office/drawing/2014/main" id="{3863D907-6C8F-487D-A466-E202E8C09C68}"/>
              </a:ext>
            </a:extLst>
          </p:cNvPr>
          <p:cNvSpPr>
            <a:spLocks noGrp="1"/>
          </p:cNvSpPr>
          <p:nvPr/>
        </p:nvSpPr>
        <p:spPr>
          <a:xfrm>
            <a:off x="6836735" y="5905500"/>
            <a:ext cx="5117140" cy="68580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3335">
            <a:solidFill>
              <a:srgbClr val="BFC2C4"/>
            </a:solidFill>
            <a:prstDash val="solid"/>
          </a:ln>
        </p:spPr>
        <p:txBody>
          <a:bodyPr wrap="square" lIns="76200" tIns="57150" rIns="76200" bIns="57150" anchor="ctr">
            <a:noAutofit/>
          </a:bodyPr>
          <a:lstStyle/>
          <a:p>
            <a:pPr algn="ctr">
              <a:lnSpc>
                <a:spcPct val="94000"/>
              </a:lnSpc>
              <a:buNone/>
              <a:defRPr sz="1350" b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00" b="0">
                <a:solidFill>
                  <a:srgbClr val="252525"/>
                </a:solidFill>
                <a:latin typeface="Times New Roman"/>
                <a:ea typeface="Times New Roman"/>
                <a:cs typeface="Times New Roman"/>
              </a:rPr>
              <a:t>p({αᵢ}ᵢ₌₁ⁿ | y,μ,Σ) ∝ ∏ᵢ₌₁ⁿ p(yᵢ | αᵢ) p(αᵢ | μ,Σ)</a:t>
            </a:r>
          </a:p>
        </p:txBody>
      </p:sp>
      <p:sp>
        <p:nvSpPr>
          <p:cNvPr id="294" name="S15 factorization bullets">
            <a:extLst>
              <a:ext uri="{FF2B5EF4-FFF2-40B4-BE49-F238E27FC236}">
                <a16:creationId xmlns:a16="http://schemas.microsoft.com/office/drawing/2014/main" id="{943E0025-B0A1-4968-A35B-BC81D3AF4A49}"/>
              </a:ext>
            </a:extLst>
          </p:cNvPr>
          <p:cNvSpPr>
            <a:spLocks noGrp="1"/>
          </p:cNvSpPr>
          <p:nvPr/>
        </p:nvSpPr>
        <p:spPr>
          <a:xfrm>
            <a:off x="409575" y="2667000"/>
            <a:ext cx="5429250" cy="2571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025" b="0">
                <a:solidFill>
                  <a:srgbClr val="242424"/>
                </a:solidFill>
                <a:latin typeface="Lato"/>
                <a:ea typeface="Lato"/>
                <a:cs typeface="Lato"/>
              </a:defRPr>
            </a:pPr>
            <a:r>
              <a:rPr sz="2025" b="0">
                <a:solidFill>
                  <a:srgbClr val="242424"/>
                </a:solidFill>
                <a:latin typeface="Lato"/>
                <a:ea typeface="Lato"/>
                <a:cs typeface="Lato"/>
              </a:rPr>
              <a:t>Conditional on μ and Σ:</a:t>
            </a:r>
          </a:p>
          <a:p>
            <a:endParaRPr sz="2025" b="0">
              <a:solidFill>
                <a:srgbClr val="242424"/>
              </a:solidFill>
              <a:latin typeface="Lato"/>
              <a:ea typeface="Lato"/>
              <a:cs typeface="Lato"/>
            </a:endParaRPr>
          </a:p>
          <a:p>
            <a:pPr algn="l">
              <a:defRPr sz="2025" b="0">
                <a:solidFill>
                  <a:srgbClr val="242424"/>
                </a:solidFill>
                <a:latin typeface="Lato"/>
                <a:ea typeface="Lato"/>
                <a:cs typeface="Lato"/>
              </a:defRPr>
            </a:pPr>
            <a:r>
              <a:rPr sz="2025" b="0">
                <a:solidFill>
                  <a:srgbClr val="242424"/>
                </a:solidFill>
                <a:latin typeface="Lato"/>
                <a:ea typeface="Lato"/>
                <a:cs typeface="Lato"/>
              </a:rPr>
              <a:t>• participant blocks are independent</a:t>
            </a:r>
          </a:p>
          <a:p>
            <a:pPr algn="l">
              <a:defRPr sz="2025" b="0">
                <a:solidFill>
                  <a:srgbClr val="242424"/>
                </a:solidFill>
                <a:latin typeface="Lato"/>
                <a:ea typeface="Lato"/>
                <a:cs typeface="Lato"/>
              </a:defRPr>
            </a:pPr>
            <a:r>
              <a:rPr sz="2025" b="0">
                <a:solidFill>
                  <a:srgbClr val="242424"/>
                </a:solidFill>
                <a:latin typeface="Lato"/>
                <a:ea typeface="Lato"/>
                <a:cs typeface="Lato"/>
              </a:rPr>
              <a:t>• αᵢ updates blockwise or in parallel</a:t>
            </a:r>
          </a:p>
          <a:p>
            <a:pPr algn="l">
              <a:defRPr sz="2025" b="0">
                <a:solidFill>
                  <a:srgbClr val="242424"/>
                </a:solidFill>
                <a:latin typeface="Lato"/>
                <a:ea typeface="Lato"/>
                <a:cs typeface="Lato"/>
              </a:defRPr>
            </a:pPr>
            <a:r>
              <a:rPr sz="2025" b="0">
                <a:solidFill>
                  <a:srgbClr val="242424"/>
                </a:solidFill>
                <a:latin typeface="Lato"/>
                <a:ea typeface="Lato"/>
                <a:cs typeface="Lato"/>
              </a:rPr>
              <a:t>• population updates reconnect them</a:t>
            </a:r>
          </a:p>
        </p:txBody>
      </p:sp>
      <p:sp>
        <p:nvSpPr>
          <p:cNvPr id="295" name="S15 tradeoff surface">
            <a:extLst>
              <a:ext uri="{FF2B5EF4-FFF2-40B4-BE49-F238E27FC236}">
                <a16:creationId xmlns:a16="http://schemas.microsoft.com/office/drawing/2014/main" id="{3C23825E-98D6-4CAA-ABD2-E1D8F7E232F0}"/>
              </a:ext>
            </a:extLst>
          </p:cNvPr>
          <p:cNvSpPr>
            <a:spLocks noGrp="1"/>
          </p:cNvSpPr>
          <p:nvPr/>
        </p:nvSpPr>
        <p:spPr>
          <a:xfrm>
            <a:off x="409575" y="5476875"/>
            <a:ext cx="5429250" cy="904875"/>
          </a:xfrm>
          <a:prstGeom prst="roundRect">
            <a:avLst>
              <a:gd name="adj" fmla="val 14737"/>
            </a:avLst>
          </a:prstGeom>
          <a:solidFill>
            <a:srgbClr val="FBE7DE"/>
          </a:solidFill>
          <a:ln w="11906">
            <a:solidFill>
              <a:srgbClr val="E95C27"/>
            </a:solidFill>
            <a:prstDash val="solid"/>
          </a:ln>
        </p:spPr>
        <p:txBody>
          <a:bodyPr wrap="square" lIns="152400" tIns="95250" rIns="152400" bIns="95250" anchor="ctr">
            <a:normAutofit fontScale="92776"/>
          </a:bodyPr>
          <a:lstStyle/>
          <a:p>
            <a:pPr algn="ctr">
              <a:defRPr sz="1500" b="1">
                <a:solidFill>
                  <a:srgbClr val="242424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242424"/>
                </a:solidFill>
                <a:latin typeface="Lato"/>
                <a:ea typeface="Lato"/>
                <a:cs typeface="Lato"/>
              </a:rPr>
              <a:t>TRADE-OFF</a:t>
            </a:r>
          </a:p>
          <a:p>
            <a:pPr algn="ctr">
              <a:defRPr sz="1500" b="1">
                <a:solidFill>
                  <a:srgbClr val="242424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242424"/>
                </a:solidFill>
                <a:latin typeface="Lato"/>
                <a:ea typeface="Lato"/>
                <a:cs typeface="Lato"/>
              </a:rPr>
              <a:t>Fewer arbitrary crossed or multi-membership</a:t>
            </a:r>
          </a:p>
          <a:p>
            <a:pPr algn="ctr">
              <a:defRPr sz="1500" b="1">
                <a:solidFill>
                  <a:srgbClr val="242424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242424"/>
                </a:solidFill>
                <a:latin typeface="Lato"/>
                <a:ea typeface="Lato"/>
                <a:cs typeface="Lato"/>
              </a:rPr>
              <a:t>structures than brms.</a:t>
            </a:r>
          </a:p>
        </p:txBody>
      </p:sp>
    </p:spTree>
    <p:extLst>
      <p:ext uri="{BB962C8B-B14F-4D97-AF65-F5344CB8AC3E}">
        <p14:creationId xmlns:p14="http://schemas.microsoft.com/office/powerpoint/2010/main" val="4175056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89A9A7A6-4AF3-7FED-3641-3C0F629F9F9E}"/>
              </a:ext>
            </a:extLst>
          </p:cNvPr>
          <p:cNvSpPr>
            <a:spLocks noGrp="1"/>
          </p:cNvSpPr>
          <p:nvPr/>
        </p:nvSpPr>
        <p:spPr>
          <a:xfrm>
            <a:off x="0" y="333375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636A28E-3E12-0474-8797-EAD4B6646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485861" cy="1088136"/>
          </a:xfrm>
        </p:spPr>
        <p:txBody>
          <a:bodyPr wrap="square" lIns="91440" tIns="45720" rIns="91440" bIns="45720" anchor="b">
            <a:noAutofit/>
          </a:bodyPr>
          <a:lstStyle/>
          <a:p>
            <a:pPr algn="l">
              <a:lnSpc>
                <a:spcPct val="90000"/>
              </a:lnSpc>
              <a:buNone/>
              <a:defRPr sz="3400">
                <a:solidFill>
                  <a:srgbClr val="000000"/>
                </a:solidFill>
                <a:latin typeface="Lato"/>
                <a:ea typeface="Lato"/>
                <a:cs typeface="Lato"/>
              </a:defRPr>
            </a:pPr>
            <a:r>
              <a:rPr sz="3400">
                <a:solidFill>
                  <a:srgbClr val="000000"/>
                </a:solidFill>
                <a:latin typeface="Lato"/>
                <a:ea typeface="Lato"/>
                <a:cs typeface="Lato"/>
              </a:rPr>
              <a:t>Three rules to carry forward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C279A0-DA6A-C6AE-D0CC-4550181E3914}"/>
              </a:ext>
            </a:extLst>
          </p:cNvPr>
          <p:cNvSpPr>
            <a:spLocks noGrp="1"/>
          </p:cNvSpPr>
          <p:nvPr/>
        </p:nvSpPr>
        <p:spPr>
          <a:xfrm rot="5400000">
            <a:off x="649223" y="22860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667B673-8664-7B83-A92C-D8A88DB478CA}"/>
              </a:ext>
            </a:extLst>
          </p:cNvPr>
          <p:cNvSpPr>
            <a:spLocks noGrp="1"/>
          </p:cNvSpPr>
          <p:nvPr/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88AE6E-DDA7-0F17-AF37-1998DFCA2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79" y="2688336"/>
            <a:ext cx="4498848" cy="3584448"/>
          </a:xfrm>
        </p:spPr>
        <p:txBody>
          <a:bodyPr wrap="square" lIns="91440" tIns="45720" rIns="91440" bIns="45720" anchor="t">
            <a:noAutofit/>
          </a:bodyPr>
          <a:lstStyle/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endParaRPr sz="2400" b="0" dirty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lang="en-US" sz="2400" dirty="0">
                <a:solidFill>
                  <a:srgbClr val="202020"/>
                </a:solidFill>
                <a:latin typeface="Lato"/>
                <a:ea typeface="Lato"/>
                <a:cs typeface="Lato"/>
              </a:rPr>
              <a:t>1</a:t>
            </a:r>
            <a:r>
              <a:rPr sz="2400" dirty="0">
                <a:solidFill>
                  <a:srgbClr val="202020"/>
                </a:solidFill>
                <a:latin typeface="Lato"/>
                <a:ea typeface="Lato"/>
                <a:cs typeface="Lato"/>
              </a:rPr>
              <a:t>  Let precision determine how much participants pool.</a:t>
            </a:r>
            <a:endParaRPr sz="2400" b="0" dirty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endParaRPr sz="2400" b="0" dirty="0">
              <a:solidFill>
                <a:srgbClr val="202020"/>
              </a:solidFill>
              <a:latin typeface="Lato"/>
              <a:ea typeface="Lato"/>
              <a:cs typeface="Lato"/>
            </a:endParaRPr>
          </a:p>
          <a:p>
            <a:pPr marL="342906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2400">
                <a:solidFill>
                  <a:srgbClr val="202020"/>
                </a:solidFill>
                <a:latin typeface="Lato"/>
                <a:ea typeface="Lato"/>
                <a:cs typeface="Lato"/>
              </a:defRPr>
            </a:pPr>
            <a:r>
              <a:rPr lang="en-US" sz="2400" dirty="0">
                <a:solidFill>
                  <a:srgbClr val="202020"/>
                </a:solidFill>
                <a:latin typeface="Lato"/>
                <a:ea typeface="Lato"/>
                <a:cs typeface="Lato"/>
              </a:rPr>
              <a:t>2</a:t>
            </a:r>
            <a:r>
              <a:rPr sz="2400" dirty="0">
                <a:solidFill>
                  <a:srgbClr val="202020"/>
                </a:solidFill>
                <a:latin typeface="Lato"/>
                <a:ea typeface="Lato"/>
                <a:cs typeface="Lato"/>
              </a:rPr>
              <a:t>  Make group claims from </a:t>
            </a:r>
            <a:r>
              <a:rPr sz="2400" dirty="0" err="1">
                <a:solidFill>
                  <a:srgbClr val="202020"/>
                </a:solidFill>
                <a:latin typeface="Lato"/>
                <a:ea typeface="Lato"/>
                <a:cs typeface="Lato"/>
              </a:rPr>
              <a:t>μ</a:t>
            </a:r>
            <a:r>
              <a:rPr sz="2400" dirty="0">
                <a:solidFill>
                  <a:srgbClr val="202020"/>
                </a:solidFill>
                <a:latin typeface="Lato"/>
                <a:ea typeface="Lato"/>
                <a:cs typeface="Lato"/>
              </a:rPr>
              <a:t>, </a:t>
            </a:r>
            <a:r>
              <a:rPr sz="2400" dirty="0" err="1">
                <a:solidFill>
                  <a:srgbClr val="202020"/>
                </a:solidFill>
                <a:latin typeface="Lato"/>
                <a:ea typeface="Lato"/>
                <a:cs typeface="Lato"/>
              </a:rPr>
              <a:t>Σ</a:t>
            </a:r>
            <a:r>
              <a:rPr sz="2400" dirty="0">
                <a:solidFill>
                  <a:srgbClr val="202020"/>
                </a:solidFill>
                <a:latin typeface="Lato"/>
                <a:ea typeface="Lato"/>
                <a:cs typeface="Lato"/>
              </a:rPr>
              <a:t>, or β—not by treating participant point estimates as error-free.</a:t>
            </a:r>
            <a:endParaRPr sz="2400" b="0" dirty="0">
              <a:solidFill>
                <a:srgbClr val="202020"/>
              </a:solidFill>
              <a:latin typeface="Lato"/>
              <a:ea typeface="Lato"/>
              <a:cs typeface="Lato"/>
            </a:endParaRPr>
          </a:p>
        </p:txBody>
      </p:sp>
      <p:pic>
        <p:nvPicPr>
          <p:cNvPr id="54" name="Picture 4"/>
          <p:cNvPicPr>
            <a:picLocks noChangeAspect="1"/>
          </p:cNvPicPr>
          <p:nvPr/>
        </p:nvPicPr>
        <p:blipFill rotWithShape="1">
          <a:blip r:embed="rId3"/>
          <a:srcRect l="26691" r="26691"/>
          <a:stretch>
            <a:fillRect/>
          </a:stretch>
        </p:blipFill>
        <p:spPr>
          <a:xfrm>
            <a:off x="5620893" y="-25051"/>
            <a:ext cx="6571107" cy="723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039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2613</Words>
  <Application>Microsoft Macintosh PowerPoint</Application>
  <DocSecurity>0</DocSecurity>
  <PresentationFormat>Widescreen</PresentationFormat>
  <Paragraphs>342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Aptos</vt:lpstr>
      <vt:lpstr>Aptos Display</vt:lpstr>
      <vt:lpstr>Arial</vt:lpstr>
      <vt:lpstr>Cambria Math</vt:lpstr>
      <vt:lpstr>Courier New</vt:lpstr>
      <vt:lpstr>Lato</vt:lpstr>
      <vt:lpstr>Times New Roman</vt:lpstr>
      <vt:lpstr>Office Theme</vt:lpstr>
      <vt:lpstr>PowerPoint Presentation</vt:lpstr>
      <vt:lpstr>Psychological data are nested and noisy</vt:lpstr>
      <vt:lpstr>Partial pooling</vt:lpstr>
      <vt:lpstr>Trials, people, population: one model</vt:lpstr>
      <vt:lpstr>Participant estimates are uncertain</vt:lpstr>
      <vt:lpstr>Aggregates mix signal with estimation noise</vt:lpstr>
      <vt:lpstr>Partial pooling follows precision</vt:lpstr>
      <vt:lpstr>Sparse data shrink more</vt:lpstr>
      <vt:lpstr>Noise distorts group inference</vt:lpstr>
      <vt:lpstr>Group inference in EMC2</vt:lpstr>
      <vt:lpstr>Every free coefficient varies by participant</vt:lpstr>
      <vt:lpstr>Selective in brms; automatic in EMC2</vt:lpstr>
      <vt:lpstr>EMC2 has two formula levels</vt:lpstr>
      <vt:lpstr>EMC2 exploits participant blocks</vt:lpstr>
      <vt:lpstr>Three rules to carry forward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Niek Stevenson</cp:lastModifiedBy>
  <cp:revision>2</cp:revision>
  <dcterms:created xsi:type="dcterms:W3CDTF">2026-08-10T13:49:03Z</dcterms:created>
  <dcterms:modified xsi:type="dcterms:W3CDTF">2026-08-11T06:56:43Z</dcterms:modified>
</cp:coreProperties>
</file>