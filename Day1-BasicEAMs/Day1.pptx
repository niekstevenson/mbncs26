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2" r:id="rId4"/>
    <p:sldId id="412" r:id="rId5"/>
    <p:sldId id="269" r:id="rId6"/>
    <p:sldId id="413" r:id="rId7"/>
    <p:sldId id="414" r:id="rId8"/>
    <p:sldId id="416" r:id="rId9"/>
    <p:sldId id="420" r:id="rId10"/>
    <p:sldId id="422" r:id="rId11"/>
    <p:sldId id="260" r:id="rId12"/>
    <p:sldId id="261" r:id="rId13"/>
    <p:sldId id="308" r:id="rId14"/>
    <p:sldId id="313" r:id="rId15"/>
    <p:sldId id="417" r:id="rId16"/>
    <p:sldId id="419" r:id="rId17"/>
    <p:sldId id="271" r:id="rId18"/>
    <p:sldId id="258" r:id="rId19"/>
    <p:sldId id="259" r:id="rId20"/>
    <p:sldId id="310" r:id="rId21"/>
    <p:sldId id="263" r:id="rId22"/>
    <p:sldId id="265" r:id="rId23"/>
    <p:sldId id="415" r:id="rId24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585147-85F3-8E4C-83AA-2237EA37A800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A19A9-CFE5-DF45-8B1F-BBA594DDC0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048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9DBF4-B7B1-D7F3-84BE-912367B5F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424D22-F48C-7EB9-E8DD-F1A714C9B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2D183-121E-6392-6797-EA5487BD9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06/08/2026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B1846-C037-394B-7F8E-8EE2D938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D4248-F0A1-071E-BA71-253C890E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40409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BF716-F79A-86E3-E339-0DC9EB90B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F7F4A-A262-66C1-3AB8-DFCA3A196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5C11D-F8C4-D826-F5C4-7E5FD0AA5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06/08/2026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D0C09-1EFB-16F0-CDDF-C414F32A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62B42-4AF5-76D1-FB1A-9994D2FEC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9175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DF491-4A08-CA06-3DD6-94C6438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099C3-EB5E-C446-16C6-C9552063D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76CF8-A1D7-AD0F-E45A-8FD019064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06/08/2026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9CD9B-5EEE-E5BB-5BEC-1FC3D6542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512F8-A8EA-87D9-BBD4-6A1397C9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26857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A0146-D2D6-AE4E-AC12-316E4D9B5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23219-C349-0D3B-741C-F07DDA960D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19309-4E04-B73E-71ED-417F60F99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48934-E35A-CD74-BFD3-5304B3D1E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06/08/2026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97088-8141-FA39-6452-21B458D8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5A844-D1A3-A3AB-2027-7EF4166D1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59693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749E-EB0B-6C6A-6FD9-F00EB3D65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E9F1A-D0AD-4807-276B-B75C7A3E0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4FDA7-EC0B-AB9A-0BB1-8B5F5F3AD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17CA1-351E-E2A5-B8F0-83667255A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3AD2C7-4E07-256E-1E42-612D426350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C9C314-D6F7-281D-A3F2-DA8DD63EF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06/08/2026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B98E22-F2A8-1532-7284-DB5854A0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8701A6-8C48-2A77-7ACC-5A81E7036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6666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AAB76-2FFC-0CD0-FEC0-2D64FB35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C17447-3418-0F75-7EB6-DD3F3B615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06/08/2026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ABF16-7D3F-F7F0-D3F0-D5205C3B5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C3460-948B-29A6-0001-0666611B1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47478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9DD4E5-E62F-AEE6-FE1E-4B3EC7D21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06/08/2026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8CB60D-B4F8-7905-B53B-DE21935C0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02E66-DF1E-0002-DC69-797E1B856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828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2176D-A8A1-B7B0-7A9B-5EF379CCB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87082-4CE7-AB54-ED74-FDB2730EE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0E867-1CBA-90E2-9F6D-63C585984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78837-7379-0E61-78F9-F10274A2B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06/08/2026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9DDB5-3158-9B1D-F0CF-A37183A63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E1268-9ACC-6F73-EA2B-E7469F61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1059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230F3-747C-982F-68FD-47E618960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EDAA78-9BA5-614A-19BA-9488F2C774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BA5D8-9F9D-96AE-299B-B646859C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58FD2-9FA1-3BDF-D420-3C3FF2FCD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06/08/2026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54460-44DC-9AF6-28F2-C7ECCDA59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E819E1-086A-810D-8847-EFC9A87F9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1190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A446F-AA6E-DABD-0275-EAA6D49BD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31317-CFC4-2DCE-EE0A-DBCB18967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41597-7B35-D24B-5021-816F18F39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06/08/2026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D3E9A-309C-4C2A-E300-C4CAC23A6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D7E38-A4AF-2F81-7EA4-F6BF3AEA1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93159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9D7718-121D-3E7B-52F6-8440FAD2E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09B2B3-9B20-1713-6ECC-53440BEE8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F151C-5BA9-A104-0FD6-31A14EA4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06/08/2026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99CD7-A364-F8E1-E4D1-544A3AB67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6B357-6988-ACAB-6A29-FD893D62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9563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548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4247E3-DCB2-823B-17C2-325F89FC0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F3490-6C47-9675-5F3A-A15627B0E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216EF-8580-50E7-0176-BAA0490A56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2611E5-0D6A-014C-A3A7-6369A403B998}" type="datetimeFigureOut">
              <a:rPr lang="en-NL" smtClean="0"/>
              <a:t>06/08/2026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ADA1E-77FA-F3E5-F7F4-2C41FF097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2AFE5-D269-2977-BA2B-4B1161A56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85911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ure.uva.nl/ws/files/30587139/1_s2.0_S002224961830021X_main.pdf" TargetMode="Externa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42113-021-00113-2" TargetMode="External"/><Relationship Id="rId2" Type="http://schemas.openxmlformats.org/officeDocument/2006/relationships/hyperlink" Target="https://link.springer.com/content/pdf/10.1007/s42113-021-00120-3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nk.springer.com/article/10.1007/s42113-022-00160-3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ure.uva.nl/ws/files/30587139/1_s2.0_S002224961830021X_main.pdf" TargetMode="Externa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03.06281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en.wikipedia.org/wiki/Academic_Press" TargetMode="External"/><Relationship Id="rId7" Type="http://schemas.openxmlformats.org/officeDocument/2006/relationships/hyperlink" Target="https://en.wikipedia.org/wiki/Special:BookSources/9781483263366" TargetMode="External"/><Relationship Id="rId2" Type="http://schemas.openxmlformats.org/officeDocument/2006/relationships/hyperlink" Target="https://books.google.com/books?id=dabiBQAAQBAJ&amp;pg=PA20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ISBN_(identifier)" TargetMode="External"/><Relationship Id="rId5" Type="http://schemas.openxmlformats.org/officeDocument/2006/relationships/hyperlink" Target="https://doi.org/10.1016%2FB978-0-12-438150-6.50018-2" TargetMode="External"/><Relationship Id="rId4" Type="http://schemas.openxmlformats.org/officeDocument/2006/relationships/hyperlink" Target="https://en.wikipedia.org/wiki/Doi_(identifier)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F5E6A5-8ACD-E6C4-CCD7-65049E5498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1045" r="-1" b="-1"/>
          <a:stretch/>
        </p:blipFill>
        <p:spPr>
          <a:xfrm>
            <a:off x="-2" y="274146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47085D-0B23-179C-2350-71EC37F84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7956" y="274146"/>
            <a:ext cx="7854779" cy="6158551"/>
          </a:xfrm>
        </p:spPr>
        <p:txBody>
          <a:bodyPr>
            <a:normAutofit fontScale="90000"/>
          </a:bodyPr>
          <a:lstStyle/>
          <a:p>
            <a:r>
              <a:rPr lang="en-GB" sz="5100" dirty="0">
                <a:solidFill>
                  <a:schemeClr val="bg1"/>
                </a:solidFill>
              </a:rPr>
              <a:t>Model-Based Neuroscience </a:t>
            </a: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&amp; </a:t>
            </a: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Cognition </a:t>
            </a: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Summer School</a:t>
            </a: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2026</a:t>
            </a:r>
            <a:br>
              <a:rPr lang="en-GB" sz="5100" dirty="0">
                <a:solidFill>
                  <a:schemeClr val="bg1"/>
                </a:solidFill>
              </a:rPr>
            </a:br>
            <a:br>
              <a:rPr lang="en-GB" sz="5100" dirty="0">
                <a:solidFill>
                  <a:schemeClr val="bg1"/>
                </a:solidFill>
              </a:rPr>
            </a:b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Evidence-accumulation models (EAMs)</a:t>
            </a:r>
            <a:endParaRPr lang="en-NL" sz="5100" dirty="0">
              <a:solidFill>
                <a:schemeClr val="bg1"/>
              </a:solidFill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73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E0A22-D4A4-0D45-B8E9-763BA80E6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897"/>
            <a:ext cx="10515600" cy="969689"/>
          </a:xfrm>
        </p:spPr>
        <p:txBody>
          <a:bodyPr/>
          <a:lstStyle/>
          <a:p>
            <a:pPr algn="ctr"/>
            <a:r>
              <a:rPr lang="en-US" dirty="0"/>
              <a:t>Formal Generative Models: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EA1B4-D535-A148-817D-8BEBA8F60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3586"/>
            <a:ext cx="10859814" cy="575441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Generative Model</a:t>
            </a:r>
            <a:r>
              <a:rPr lang="en-US" dirty="0"/>
              <a:t>: A mathematical structure (typically instantiated as a computer program) that generates simulated data.</a:t>
            </a:r>
          </a:p>
          <a:p>
            <a:r>
              <a:rPr lang="en-US" b="1" dirty="0"/>
              <a:t>Model Parameters</a:t>
            </a:r>
            <a:r>
              <a:rPr lang="en-US" dirty="0"/>
              <a:t>: Variables whose values determine the data generated by the model. They can be either fixed a priori (constants) or determined based on empirical data (estimated parameters).</a:t>
            </a:r>
          </a:p>
          <a:p>
            <a:r>
              <a:rPr lang="en-US" b="1" dirty="0"/>
              <a:t>Model Estimation</a:t>
            </a:r>
            <a:r>
              <a:rPr lang="en-US" dirty="0"/>
              <a:t>: Choosing a set of parameter values that provide a best match between some observed data and the data generated by the model.</a:t>
            </a:r>
          </a:p>
          <a:p>
            <a:r>
              <a:rPr lang="en-US" b="1" dirty="0"/>
              <a:t>Fit Metric / Objective Function</a:t>
            </a:r>
            <a:r>
              <a:rPr lang="en-US" dirty="0"/>
              <a:t>: a measure of the quality of the data-model match, goodness-of-fit or deviance (badness-of-fit, e.g., sum-square-error).</a:t>
            </a:r>
          </a:p>
          <a:p>
            <a:r>
              <a:rPr lang="en-US" b="1" dirty="0"/>
              <a:t>Model Selection</a:t>
            </a:r>
            <a:r>
              <a:rPr lang="en-US" dirty="0"/>
              <a:t>: a method of selecting from a set of estimated models the one that is “best” in the sense of matching both that data from which it was estimated and potential future data it aims to explain. </a:t>
            </a:r>
          </a:p>
          <a:p>
            <a:r>
              <a:rPr lang="en-US" b="1" dirty="0"/>
              <a:t>Parameter-based inference</a:t>
            </a:r>
            <a:r>
              <a:rPr lang="en-US" dirty="0"/>
              <a:t>: Inferences about (latent) psychological processes made based on parameters that describe them rather than indirectly based on observed (manifest) </a:t>
            </a:r>
            <a:r>
              <a:rPr lang="en-US" dirty="0" err="1"/>
              <a:t>behaviour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952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DAA5-B8A9-7444-92ED-A4FFAB7B8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146" y="192130"/>
            <a:ext cx="6328677" cy="1325563"/>
          </a:xfrm>
        </p:spPr>
        <p:txBody>
          <a:bodyPr/>
          <a:lstStyle/>
          <a:p>
            <a:pPr algn="ctr"/>
            <a:r>
              <a:rPr lang="en-US" dirty="0"/>
              <a:t>Uncertainty &amp; Noise in </a:t>
            </a:r>
            <a:br>
              <a:rPr lang="en-US" dirty="0"/>
            </a:br>
            <a:r>
              <a:rPr lang="en-US" dirty="0"/>
              <a:t>Dynamic Models of Choice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8D15D6-BE1C-FF42-A965-7D2F954EA665}"/>
              </a:ext>
            </a:extLst>
          </p:cNvPr>
          <p:cNvSpPr/>
          <p:nvPr/>
        </p:nvSpPr>
        <p:spPr>
          <a:xfrm>
            <a:off x="356285" y="1812067"/>
            <a:ext cx="7527326" cy="3525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1" dirty="0"/>
              <a:t>Aleatoric  data: </a:t>
            </a:r>
            <a:r>
              <a:rPr lang="en-US" sz="2000" dirty="0">
                <a:solidFill>
                  <a:prstClr val="black"/>
                </a:solidFill>
              </a:rPr>
              <a:t>Response time (</a:t>
            </a:r>
            <a:r>
              <a:rPr lang="en-US" sz="2000" b="1" dirty="0">
                <a:solidFill>
                  <a:prstClr val="black"/>
                </a:solidFill>
              </a:rPr>
              <a:t>RT</a:t>
            </a:r>
            <a:r>
              <a:rPr lang="en-US" sz="2000" dirty="0">
                <a:solidFill>
                  <a:prstClr val="black"/>
                </a:solidFill>
              </a:rPr>
              <a:t>) distribution, the time to make a choice varies randomly over repeated measurement occasions even with identical stimuli (defective for choice).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This is explained by a process that seeks to reduce </a:t>
            </a:r>
            <a:r>
              <a:rPr lang="en-US" sz="2000" b="1" dirty="0">
                <a:solidFill>
                  <a:prstClr val="black"/>
                </a:solidFill>
              </a:rPr>
              <a:t>epistemic</a:t>
            </a:r>
            <a:r>
              <a:rPr lang="en-US" sz="2000" dirty="0">
                <a:solidFill>
                  <a:prstClr val="black"/>
                </a:solidFill>
              </a:rPr>
              <a:t> uncertainty about which stimulus is present by summing samples from the stimulus (Wiener Decision Model, </a:t>
            </a:r>
            <a:r>
              <a:rPr lang="en-US" sz="2000" b="1" dirty="0">
                <a:solidFill>
                  <a:prstClr val="black"/>
                </a:solidFill>
              </a:rPr>
              <a:t>WDM</a:t>
            </a:r>
            <a:r>
              <a:rPr lang="en-US" sz="2000" dirty="0">
                <a:solidFill>
                  <a:prstClr val="black"/>
                </a:solidFill>
              </a:rPr>
              <a:t>).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We will also use </a:t>
            </a:r>
            <a:r>
              <a:rPr lang="en-US" sz="2000" b="1" dirty="0">
                <a:solidFill>
                  <a:prstClr val="black"/>
                </a:solidFill>
              </a:rPr>
              <a:t>Bayesian methods </a:t>
            </a:r>
            <a:r>
              <a:rPr lang="en-US" sz="2000" dirty="0">
                <a:solidFill>
                  <a:prstClr val="black"/>
                </a:solidFill>
              </a:rPr>
              <a:t>to </a:t>
            </a:r>
            <a:r>
              <a:rPr lang="en-US" sz="2000" b="1" dirty="0">
                <a:solidFill>
                  <a:prstClr val="black"/>
                </a:solidFill>
              </a:rPr>
              <a:t>estimate</a:t>
            </a:r>
            <a:r>
              <a:rPr lang="en-US" sz="2000" dirty="0">
                <a:solidFill>
                  <a:prstClr val="black"/>
                </a:solidFill>
              </a:rPr>
              <a:t> these </a:t>
            </a:r>
            <a:r>
              <a:rPr lang="en-US" sz="2000" b="1" dirty="0">
                <a:solidFill>
                  <a:prstClr val="black"/>
                </a:solidFill>
              </a:rPr>
              <a:t>Evidence Accumulation Models (EAMs) </a:t>
            </a:r>
            <a:r>
              <a:rPr lang="en-US" sz="2000" dirty="0">
                <a:solidFill>
                  <a:prstClr val="black"/>
                </a:solidFill>
              </a:rPr>
              <a:t>from data and quantify our uncertainty about their parameters. 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First, we will do some exercises in the 1-EAMs.R script simulating the WDM/DDM/RDM/LBA/LNR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E29F5D-2D0E-4D47-81FB-DF0B7C811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168" y="3719496"/>
            <a:ext cx="3838832" cy="31385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8B76BE-1B42-7442-92E2-C8711C264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234" y="-1"/>
            <a:ext cx="3882766" cy="322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9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3EB05-5ACA-C994-EF3A-51D7812B9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979" y="190148"/>
            <a:ext cx="4068148" cy="1274759"/>
          </a:xfrm>
        </p:spPr>
        <p:txBody>
          <a:bodyPr>
            <a:normAutofit/>
          </a:bodyPr>
          <a:lstStyle/>
          <a:p>
            <a:r>
              <a:rPr lang="en-US" dirty="0"/>
              <a:t>The “Full" DDM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DCEDB2-3EED-CEB0-8897-599B4C4BB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875" y="111368"/>
            <a:ext cx="5047861" cy="47453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EC73BA-FFB5-F9DA-864D-E387A3D5C2FB}"/>
              </a:ext>
            </a:extLst>
          </p:cNvPr>
          <p:cNvSpPr txBox="1"/>
          <p:nvPr/>
        </p:nvSpPr>
        <p:spPr>
          <a:xfrm>
            <a:off x="1775928" y="1587329"/>
            <a:ext cx="3704253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Three between-trial parameter variabilities.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Expensive to compute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Hard to estimate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Necessary to capture key benchmark patterns (except perhaps st0).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B21495-5A7F-AD2C-3374-FDA1F14517D9}"/>
              </a:ext>
            </a:extLst>
          </p:cNvPr>
          <p:cNvSpPr txBox="1"/>
          <p:nvPr/>
        </p:nvSpPr>
        <p:spPr>
          <a:xfrm>
            <a:off x="1596711" y="4776862"/>
            <a:ext cx="1016069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1600" dirty="0"/>
              <a:t>Voss, A., &amp; Voss, J. (2007). Fast-dm: A free program for efficient diffusion model analysis. </a:t>
            </a:r>
            <a:r>
              <a:rPr lang="en-AU" sz="1600" i="1" dirty="0" err="1"/>
              <a:t>Behavior</a:t>
            </a:r>
            <a:r>
              <a:rPr lang="en-AU" sz="1600" i="1" dirty="0"/>
              <a:t> Research Methods</a:t>
            </a:r>
            <a:r>
              <a:rPr lang="en-AU" sz="1600" dirty="0"/>
              <a:t>, </a:t>
            </a:r>
            <a:r>
              <a:rPr lang="en-AU" sz="1600" i="1" dirty="0"/>
              <a:t>39</a:t>
            </a:r>
            <a:r>
              <a:rPr lang="en-AU" sz="1600" dirty="0"/>
              <a:t>(4), 767–775.</a:t>
            </a:r>
          </a:p>
          <a:p>
            <a:pPr>
              <a:spcAft>
                <a:spcPts val="600"/>
              </a:spcAft>
            </a:pPr>
            <a:r>
              <a:rPr lang="en-AU" sz="1600" dirty="0"/>
              <a:t>Boehm, U., </a:t>
            </a:r>
            <a:r>
              <a:rPr lang="en-AU" sz="1600" dirty="0" err="1"/>
              <a:t>Annis</a:t>
            </a:r>
            <a:r>
              <a:rPr lang="en-AU" sz="1600" dirty="0"/>
              <a:t>, J., Frank, M.J., Hawkins, G.E., Heathcote, A., Kellen, D., …, Matzke, D., &amp; </a:t>
            </a:r>
            <a:r>
              <a:rPr lang="en-AU" sz="1600" dirty="0" err="1"/>
              <a:t>Wagenmakers</a:t>
            </a:r>
            <a:r>
              <a:rPr lang="en-AU" sz="1600" dirty="0"/>
              <a:t>, E.-J. (2018). </a:t>
            </a:r>
            <a:r>
              <a:rPr lang="en-AU" sz="1600" dirty="0">
                <a:hlinkClick r:id="rId3"/>
              </a:rPr>
              <a:t>Estimating between-trial variability parameters of the diffusion decision model: Expert advice and recommendations.</a:t>
            </a:r>
            <a:r>
              <a:rPr lang="en-AU" sz="1600" dirty="0"/>
              <a:t> </a:t>
            </a:r>
            <a:r>
              <a:rPr lang="en-AU" sz="1600" i="1" dirty="0"/>
              <a:t>Journal of Mathematical Psychology, 87, </a:t>
            </a:r>
            <a:r>
              <a:rPr lang="en-AU" sz="1600" dirty="0"/>
              <a:t>46-75. </a:t>
            </a:r>
          </a:p>
          <a:p>
            <a:pPr>
              <a:spcAft>
                <a:spcPts val="600"/>
              </a:spcAft>
            </a:pPr>
            <a:r>
              <a:rPr lang="en-AU" sz="1600" dirty="0"/>
              <a:t>Ratcliff, R., &amp; </a:t>
            </a:r>
            <a:r>
              <a:rPr lang="en-AU" sz="1600" dirty="0" err="1"/>
              <a:t>Rouder</a:t>
            </a:r>
            <a:r>
              <a:rPr lang="en-AU" sz="1600" dirty="0"/>
              <a:t>, J. N. (1998). </a:t>
            </a:r>
            <a:r>
              <a:rPr lang="en-AU" sz="1600" dirty="0" err="1"/>
              <a:t>Modeling</a:t>
            </a:r>
            <a:r>
              <a:rPr lang="en-AU" sz="1600" dirty="0"/>
              <a:t> response times for two-choice decisions. </a:t>
            </a:r>
            <a:r>
              <a:rPr lang="en-AU" sz="1600" i="1" dirty="0"/>
              <a:t>Psychological Science</a:t>
            </a:r>
            <a:r>
              <a:rPr lang="en-AU" sz="1600" dirty="0"/>
              <a:t>, </a:t>
            </a:r>
            <a:r>
              <a:rPr lang="en-AU" sz="1600" i="1" dirty="0"/>
              <a:t>9</a:t>
            </a:r>
            <a:r>
              <a:rPr lang="en-AU" sz="1600" dirty="0"/>
              <a:t>(5), 347–356. </a:t>
            </a:r>
          </a:p>
        </p:txBody>
      </p:sp>
    </p:spTree>
    <p:extLst>
      <p:ext uri="{BB962C8B-B14F-4D97-AF65-F5344CB8AC3E}">
        <p14:creationId xmlns:p14="http://schemas.microsoft.com/office/powerpoint/2010/main" val="3823736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12809-A045-6362-361B-643DCCB90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064" y="158877"/>
            <a:ext cx="4531126" cy="1325563"/>
          </a:xfrm>
        </p:spPr>
        <p:txBody>
          <a:bodyPr/>
          <a:lstStyle/>
          <a:p>
            <a:r>
              <a:rPr lang="en-US" dirty="0"/>
              <a:t>The Linear Ballistic Accumulator (LBA)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9E270-DF2C-E736-3912-B4D20F5727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63" r="3951" b="13693"/>
          <a:stretch/>
        </p:blipFill>
        <p:spPr>
          <a:xfrm>
            <a:off x="6514975" y="69132"/>
            <a:ext cx="5607005" cy="671973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00F191-7336-98A9-B334-0E85C9504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682" y="1484440"/>
            <a:ext cx="6409891" cy="3450711"/>
          </a:xfrm>
        </p:spPr>
        <p:txBody>
          <a:bodyPr>
            <a:normAutofit fontScale="85000" lnSpcReduction="20000"/>
          </a:bodyPr>
          <a:lstStyle/>
          <a:p>
            <a:r>
              <a:rPr lang="en-AU" dirty="0"/>
              <a:t>Only between-trial noise </a:t>
            </a:r>
          </a:p>
          <a:p>
            <a:r>
              <a:rPr lang="en-AU" dirty="0"/>
              <a:t>Rates ~ normal (</a:t>
            </a:r>
            <a:r>
              <a:rPr lang="en-AU" dirty="0" err="1"/>
              <a:t>mean_v</a:t>
            </a:r>
            <a:r>
              <a:rPr lang="en-AU" dirty="0"/>
              <a:t>, </a:t>
            </a:r>
            <a:r>
              <a:rPr lang="en-AU" dirty="0" err="1"/>
              <a:t>sd_v</a:t>
            </a:r>
            <a:r>
              <a:rPr lang="en-AU" dirty="0"/>
              <a:t>)</a:t>
            </a:r>
          </a:p>
          <a:p>
            <a:r>
              <a:rPr lang="en-AU" dirty="0"/>
              <a:t>Start point ~ uniform (0-A)</a:t>
            </a:r>
          </a:p>
          <a:p>
            <a:r>
              <a:rPr lang="en-AU" dirty="0"/>
              <a:t>One accumulator per response.</a:t>
            </a:r>
          </a:p>
          <a:p>
            <a:r>
              <a:rPr lang="en-AU" dirty="0"/>
              <a:t>Threshold b (gap B = b-A)</a:t>
            </a:r>
          </a:p>
          <a:p>
            <a:r>
              <a:rPr lang="en-AU" dirty="0"/>
              <a:t>Non-decision time </a:t>
            </a:r>
            <a:r>
              <a:rPr lang="en-AU" dirty="0" err="1"/>
              <a:t>ter</a:t>
            </a:r>
            <a:r>
              <a:rPr lang="en-AU" dirty="0"/>
              <a:t> (or t0)</a:t>
            </a:r>
          </a:p>
          <a:p>
            <a:r>
              <a:rPr lang="en-AU" dirty="0"/>
              <a:t>A, B, </a:t>
            </a:r>
            <a:r>
              <a:rPr lang="en-AU" dirty="0" err="1"/>
              <a:t>sd_v</a:t>
            </a:r>
            <a:r>
              <a:rPr lang="en-AU" dirty="0"/>
              <a:t>, </a:t>
            </a:r>
            <a:r>
              <a:rPr lang="en-AU" dirty="0" err="1"/>
              <a:t>ter</a:t>
            </a:r>
            <a:r>
              <a:rPr lang="en-AU" dirty="0"/>
              <a:t>  positive (log scale)</a:t>
            </a:r>
          </a:p>
          <a:p>
            <a:r>
              <a:rPr lang="en-AU" dirty="0"/>
              <a:t>Must fix an accumulator parameter for scale (typically </a:t>
            </a:r>
            <a:r>
              <a:rPr lang="en-AU" dirty="0" err="1"/>
              <a:t>sd_v</a:t>
            </a:r>
            <a:r>
              <a:rPr lang="en-AU" dirty="0"/>
              <a:t>)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A75DF9-8C6D-5AB2-70DB-54B9020AC077}"/>
              </a:ext>
            </a:extLst>
          </p:cNvPr>
          <p:cNvSpPr txBox="1"/>
          <p:nvPr/>
        </p:nvSpPr>
        <p:spPr>
          <a:xfrm>
            <a:off x="398682" y="4821686"/>
            <a:ext cx="6116293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dirty="0"/>
              <a:t>Brown, S. D., &amp; Heathcote, A. (2008). The simplest complete model of choice response time: Linear ballistic accumulation. </a:t>
            </a:r>
            <a:r>
              <a:rPr lang="en-AU" sz="1600" i="1" dirty="0"/>
              <a:t>Cognitive Psychology</a:t>
            </a:r>
            <a:r>
              <a:rPr lang="en-AU" sz="1600" dirty="0"/>
              <a:t>, </a:t>
            </a:r>
            <a:r>
              <a:rPr lang="en-AU" sz="1600" i="1" dirty="0"/>
              <a:t>57</a:t>
            </a:r>
            <a:r>
              <a:rPr lang="en-AU" sz="1600" dirty="0"/>
              <a:t>(3), 153–178.</a:t>
            </a:r>
          </a:p>
          <a:p>
            <a:r>
              <a:rPr lang="en-AU" sz="1600" dirty="0"/>
              <a:t> </a:t>
            </a:r>
            <a:endParaRPr lang="en-AU" sz="800" dirty="0"/>
          </a:p>
          <a:p>
            <a:r>
              <a:rPr lang="en-AU" sz="1600" dirty="0"/>
              <a:t>Donkin, C., Brown, S. D., &amp; Heathcote, A. (2009). The </a:t>
            </a:r>
            <a:r>
              <a:rPr lang="en-AU" sz="1600" dirty="0" err="1"/>
              <a:t>overconstraint</a:t>
            </a:r>
            <a:r>
              <a:rPr lang="en-AU" sz="1600" dirty="0"/>
              <a:t> of response time models: Rethinking the scaling problem. </a:t>
            </a:r>
            <a:r>
              <a:rPr lang="en-AU" sz="1600" i="1" dirty="0"/>
              <a:t>Psychonomic Bulletin &amp; Review</a:t>
            </a:r>
            <a:r>
              <a:rPr lang="en-AU" sz="1600" dirty="0"/>
              <a:t>, </a:t>
            </a:r>
            <a:r>
              <a:rPr lang="en-AU" sz="1600" i="1" dirty="0"/>
              <a:t>16</a:t>
            </a:r>
            <a:r>
              <a:rPr lang="en-AU" sz="1600" dirty="0"/>
              <a:t>(6), 1129–1135.</a:t>
            </a:r>
          </a:p>
        </p:txBody>
      </p:sp>
    </p:spTree>
    <p:extLst>
      <p:ext uri="{BB962C8B-B14F-4D97-AF65-F5344CB8AC3E}">
        <p14:creationId xmlns:p14="http://schemas.microsoft.com/office/powerpoint/2010/main" val="114909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C9CDA-2B58-6B49-9DE0-6F66507B4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NL" dirty="0"/>
              <a:t>Racing Diffusion Model (RDM)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4051B-5B2A-89F2-8C2B-69B2EC875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72075"/>
            <a:ext cx="10515600" cy="915092"/>
          </a:xfrm>
        </p:spPr>
        <p:txBody>
          <a:bodyPr>
            <a:normAutofit/>
          </a:bodyPr>
          <a:lstStyle/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NL" sz="2400" dirty="0"/>
              <a:t>Same parameter names as the LBA except  sv -&gt; s</a:t>
            </a:r>
          </a:p>
          <a:p>
            <a:pPr marL="514350" indent="-514350">
              <a:buAutoNum type="arabicParenR"/>
            </a:pPr>
            <a:r>
              <a:rPr lang="en-NL" sz="2400" dirty="0"/>
              <a:t>A=0 (typically, whereas always A&gt; 0 in the LBA)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C8D39A-5988-1FA3-3E33-66AEC9BA0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58" y="964134"/>
            <a:ext cx="10878879" cy="36701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E9E5B3-C7C3-4D39-A206-31B90173FB96}"/>
              </a:ext>
            </a:extLst>
          </p:cNvPr>
          <p:cNvSpPr txBox="1"/>
          <p:nvPr/>
        </p:nvSpPr>
        <p:spPr>
          <a:xfrm>
            <a:off x="375643" y="6033525"/>
            <a:ext cx="114407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Tillman, G., Zandt, T. V., &amp; Logan, G. D. (2020). Sequential sampling models without random between-trial variability: the racing diffusion model of speeded decision making. </a:t>
            </a:r>
            <a:r>
              <a:rPr lang="en-GB" i="1" dirty="0"/>
              <a:t>Psychonomic Bulletin &amp; Review</a:t>
            </a:r>
            <a:r>
              <a:rPr lang="en-GB" dirty="0"/>
              <a:t>, </a:t>
            </a:r>
            <a:r>
              <a:rPr lang="en-GB" i="1" dirty="0"/>
              <a:t>27</a:t>
            </a:r>
            <a:r>
              <a:rPr lang="en-GB" dirty="0"/>
              <a:t>(5), 911–936.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56959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1447801"/>
            <a:ext cx="108150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Suppose a </a:t>
            </a:r>
            <a:r>
              <a:rPr lang="en-AU" b="1" dirty="0"/>
              <a:t>linear accumulator </a:t>
            </a:r>
            <a:r>
              <a:rPr lang="en-AU" dirty="0"/>
              <a:t>starts a distance </a:t>
            </a:r>
            <a:r>
              <a:rPr lang="en-AU" i="1" dirty="0"/>
              <a:t>d</a:t>
            </a:r>
            <a:r>
              <a:rPr lang="en-AU" dirty="0"/>
              <a:t> from a </a:t>
            </a:r>
            <a:r>
              <a:rPr lang="en-AU" b="1" dirty="0"/>
              <a:t>threshold </a:t>
            </a:r>
            <a:r>
              <a:rPr lang="en-AU" dirty="0"/>
              <a:t>and increases in activation </a:t>
            </a:r>
            <a:r>
              <a:rPr lang="en-AU" b="1" dirty="0"/>
              <a:t>linearly</a:t>
            </a:r>
            <a:r>
              <a:rPr lang="en-AU" dirty="0"/>
              <a:t> with rate </a:t>
            </a:r>
            <a:r>
              <a:rPr lang="en-AU" i="1" dirty="0"/>
              <a:t>v</a:t>
            </a:r>
            <a:r>
              <a:rPr lang="en-AU" dirty="0"/>
              <a:t>.  Hence, the time to reach the threshold is </a:t>
            </a:r>
            <a:r>
              <a:rPr lang="en-AU" b="1" i="1" dirty="0"/>
              <a:t>t</a:t>
            </a:r>
            <a:r>
              <a:rPr lang="en-AU" b="1" dirty="0"/>
              <a:t>=</a:t>
            </a:r>
            <a:r>
              <a:rPr lang="en-AU" b="1" i="1" dirty="0"/>
              <a:t>d</a:t>
            </a:r>
            <a:r>
              <a:rPr lang="en-AU" b="1" dirty="0"/>
              <a:t>/</a:t>
            </a:r>
            <a:r>
              <a:rPr lang="en-AU" b="1" i="1" dirty="0"/>
              <a:t>v</a:t>
            </a:r>
            <a:r>
              <a:rPr lang="en-AU" dirty="0"/>
              <a:t>. </a:t>
            </a:r>
          </a:p>
          <a:p>
            <a:endParaRPr lang="en-AU" sz="800" dirty="0"/>
          </a:p>
          <a:p>
            <a:r>
              <a:rPr lang="en-AU" dirty="0"/>
              <a:t>Suppose both the distance and rate have Lognormal distributions from trial to trial, Where N(</a:t>
            </a:r>
            <a:r>
              <a:rPr lang="en-AU" dirty="0" err="1"/>
              <a:t>μ</a:t>
            </a:r>
            <a:r>
              <a:rPr lang="en-AU" dirty="0"/>
              <a:t>, </a:t>
            </a:r>
            <a:r>
              <a:rPr lang="en-AU" dirty="0" err="1"/>
              <a:t>σ</a:t>
            </a:r>
            <a:r>
              <a:rPr lang="en-AU" dirty="0">
                <a:sym typeface="Symbol"/>
              </a:rPr>
              <a:t> </a:t>
            </a:r>
            <a:r>
              <a:rPr lang="en-AU" baseline="30000" dirty="0"/>
              <a:t>2</a:t>
            </a:r>
            <a:r>
              <a:rPr lang="en-AU" dirty="0"/>
              <a:t>) is a normal random variable with mean </a:t>
            </a:r>
            <a:r>
              <a:rPr lang="en-AU" dirty="0" err="1"/>
              <a:t>μ</a:t>
            </a:r>
            <a:r>
              <a:rPr lang="en-AU" dirty="0"/>
              <a:t> and variance σ</a:t>
            </a:r>
            <a:r>
              <a:rPr lang="en-AU" baseline="30000" dirty="0"/>
              <a:t>2 </a:t>
            </a:r>
            <a:r>
              <a:rPr lang="en-AU" dirty="0"/>
              <a:t>:</a:t>
            </a:r>
            <a:endParaRPr lang="en-US" dirty="0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121" name="Object 1"/>
          <p:cNvGraphicFramePr>
            <a:graphicFrameLocks noChangeAspect="1"/>
          </p:cNvGraphicFramePr>
          <p:nvPr/>
        </p:nvGraphicFramePr>
        <p:xfrm>
          <a:off x="6586314" y="2525171"/>
          <a:ext cx="189827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90170" imgH="279279" progId="Equation.3">
                  <p:embed/>
                </p:oleObj>
              </mc:Choice>
              <mc:Fallback>
                <p:oleObj name="Equation" r:id="rId2" imgW="990170" imgH="279279" progId="Equation.3">
                  <p:embed/>
                  <p:pic>
                    <p:nvPicPr>
                      <p:cNvPr id="512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6314" y="2525171"/>
                        <a:ext cx="1898277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9142771" y="2510933"/>
          <a:ext cx="185233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39800" imgH="279400" progId="Equation.3">
                  <p:embed/>
                </p:oleObj>
              </mc:Choice>
              <mc:Fallback>
                <p:oleObj name="Equation" r:id="rId4" imgW="939800" imgH="279400" progId="Equation.3">
                  <p:embed/>
                  <p:pic>
                    <p:nvPicPr>
                      <p:cNvPr id="512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2771" y="2510933"/>
                        <a:ext cx="1852332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838198" y="3281383"/>
            <a:ext cx="108150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We assume from here that </a:t>
            </a:r>
            <a:r>
              <a:rPr lang="en-AU" i="1" dirty="0"/>
              <a:t>d</a:t>
            </a:r>
            <a:r>
              <a:rPr lang="en-AU" dirty="0"/>
              <a:t> and </a:t>
            </a:r>
            <a:r>
              <a:rPr lang="en-AU" i="1" dirty="0"/>
              <a:t>v</a:t>
            </a:r>
            <a:r>
              <a:rPr lang="en-AU" dirty="0"/>
              <a:t> are independent, in which case:</a:t>
            </a:r>
            <a:endParaRPr lang="en-US" dirty="0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7090133" y="3561829"/>
          <a:ext cx="4105275" cy="5840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68500" imgH="279400" progId="Equation.3">
                  <p:embed/>
                </p:oleObj>
              </mc:Choice>
              <mc:Fallback>
                <p:oleObj name="Equation" r:id="rId6" imgW="1968500" imgH="279400" progId="Equation.3">
                  <p:embed/>
                  <p:pic>
                    <p:nvPicPr>
                      <p:cNvPr id="51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0133" y="3561829"/>
                        <a:ext cx="4105275" cy="58401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838198" y="4421810"/>
            <a:ext cx="109958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That is, the time for the accumulator to achieve threshold also has an exact Lognormal (LN) distribution.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3CAB10-B081-013C-2D50-C4FBD793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Lognormal Race (LNR)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BC18A6-9509-53E6-58F3-F7855C03DD4D}"/>
              </a:ext>
            </a:extLst>
          </p:cNvPr>
          <p:cNvSpPr/>
          <p:nvPr/>
        </p:nvSpPr>
        <p:spPr>
          <a:xfrm>
            <a:off x="838197" y="5087033"/>
            <a:ext cx="108150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The LNR likelihood (</a:t>
            </a:r>
            <a:r>
              <a:rPr lang="en-AU" b="1" dirty="0"/>
              <a:t>also LBA and RDM</a:t>
            </a:r>
            <a:r>
              <a:rPr lang="en-AU" dirty="0"/>
              <a:t>) follows from the </a:t>
            </a:r>
            <a:r>
              <a:rPr lang="en-AU" b="1" dirty="0"/>
              <a:t>independent race equation</a:t>
            </a:r>
            <a:r>
              <a:rPr lang="en-AU" dirty="0"/>
              <a:t>: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41D32A-1744-FC5B-8B66-CBAE4E9DB7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5663" y="5518409"/>
            <a:ext cx="4292600" cy="101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8D3766-FCA3-8097-82FC-BF8437B03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7F825A-2750-C05B-06B5-2D8D52B2B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28AD29-D5A8-B329-6412-2B354E7B6F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1045" r="-1" b="-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B2E564-A8D7-8C85-99FF-BE57CBDD07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7956" y="274147"/>
            <a:ext cx="7854779" cy="5116560"/>
          </a:xfrm>
        </p:spPr>
        <p:txBody>
          <a:bodyPr>
            <a:normAutofit/>
          </a:bodyPr>
          <a:lstStyle/>
          <a:p>
            <a:r>
              <a:rPr lang="en-GB" sz="5100" dirty="0">
                <a:solidFill>
                  <a:schemeClr val="bg1"/>
                </a:solidFill>
              </a:rPr>
              <a:t>Model-Based Neuroscience </a:t>
            </a: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&amp; </a:t>
            </a: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Cognition </a:t>
            </a: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Summer School</a:t>
            </a: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2026</a:t>
            </a:r>
            <a:br>
              <a:rPr lang="en-GB" sz="5100" dirty="0">
                <a:solidFill>
                  <a:schemeClr val="bg1"/>
                </a:solidFill>
              </a:rPr>
            </a:b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Fitting the DDM</a:t>
            </a:r>
            <a:endParaRPr lang="en-NL" sz="5100" dirty="0">
              <a:solidFill>
                <a:schemeClr val="bg1"/>
              </a:solidFill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221CBCC-3E84-B0CE-B5B1-02A774BA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19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Flanker Task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13700"/>
            <a:ext cx="6675120" cy="16969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collect data on yourself performing a “Flanker” task, then analyse it with the FlankerAnalysis.R script.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an array of arrows and indicate whether the </a:t>
            </a:r>
            <a:r>
              <a:rPr lang="en-US" sz="16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arrow points left or right. Correct responses earn points; in some blocks fast responses earn a bonus.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80960" y="1262075"/>
            <a:ext cx="3931920" cy="1051560"/>
          </a:xfrm>
          <a:prstGeom prst="roundRect">
            <a:avLst>
              <a:gd name="adj" fmla="val 5217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80960" y="1307795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kern="0" spc="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680960" y="1938731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Congruent  –  flankers match the target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80960" y="3063232"/>
            <a:ext cx="3931920" cy="1051560"/>
          </a:xfrm>
          <a:prstGeom prst="roundRect">
            <a:avLst>
              <a:gd name="adj" fmla="val 5217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680960" y="310895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kern="0" spc="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&gt;&gt;&lt;&gt;&gt;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680960" y="37398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Incongruent  –  flankers oppose the target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10656"/>
            <a:ext cx="6675120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22960" y="2916504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3108960" y="29507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in total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2 × 2 design  ·  100 trials per cell</a:t>
            </a:r>
            <a:endParaRPr lang="en-US" sz="17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B73093F3-BAB9-2238-1517-61BC34FD7879}"/>
              </a:ext>
            </a:extLst>
          </p:cNvPr>
          <p:cNvSpPr/>
          <p:nvPr/>
        </p:nvSpPr>
        <p:spPr>
          <a:xfrm>
            <a:off x="2377440" y="5844300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</a:t>
            </a:r>
            <a:endParaRPr lang="en-US" sz="2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to focus on accuracy (more points for correct answers) or on speed (a bonus for responding fast).</a:t>
            </a:r>
            <a:endParaRPr lang="en-US" sz="20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DAF93B18-93AB-0823-887D-2BE25EB337E3}"/>
              </a:ext>
            </a:extLst>
          </p:cNvPr>
          <p:cNvSpPr/>
          <p:nvPr/>
        </p:nvSpPr>
        <p:spPr>
          <a:xfrm>
            <a:off x="2377440" y="4484349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</a:t>
            </a:r>
            <a:endParaRPr lang="en-US" sz="2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target (middle) arrow pointing to the left or to the right?</a:t>
            </a:r>
            <a:endParaRPr lang="en-US" sz="20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2474F2C-0288-2E1D-49D9-C5C608876186}"/>
              </a:ext>
            </a:extLst>
          </p:cNvPr>
          <p:cNvSpPr/>
          <p:nvPr/>
        </p:nvSpPr>
        <p:spPr>
          <a:xfrm>
            <a:off x="2377440" y="5169660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Congruent / Incongruent</a:t>
            </a:r>
            <a:endParaRPr lang="en-US" sz="2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surrounding arrows point the same way as the target (congruent) or the opposite way (incongruent)?</a:t>
            </a:r>
            <a:endParaRPr lang="en-US" sz="20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28030DE1-ADF0-29D5-D154-CAE298FB27B2}"/>
              </a:ext>
            </a:extLst>
          </p:cNvPr>
          <p:cNvSpPr/>
          <p:nvPr/>
        </p:nvSpPr>
        <p:spPr>
          <a:xfrm>
            <a:off x="410419" y="5091212"/>
            <a:ext cx="164166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Factors</a:t>
            </a:r>
            <a:endParaRPr lang="en-US" sz="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Familiarize yourself with the task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RStudio, source the task, and run a short practice: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85800" y="1764792"/>
            <a:ext cx="10789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source("FlankerTask.R")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&lt;- doExperiment("your name", nblocks=4, ntrials=4) </a:t>
            </a:r>
            <a:r>
              <a:rPr lang="en-US" sz="1400" i="1" dirty="0">
                <a:solidFill>
                  <a:srgbClr val="3B7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4 blocks of 4 trials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NB1  </a:t>
            </a:r>
            <a:r>
              <a:rPr lang="en-US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 the console window before you respond.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35387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NB2  </a:t>
            </a:r>
            <a:r>
              <a:rPr lang="en-US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plot window large enough to see displays clearly.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8640" y="41056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NB3  </a:t>
            </a:r>
            <a:r>
              <a:rPr lang="en-US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press a key twice — it becomes the next trial's response.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8640" y="4672584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NB4  </a:t>
            </a:r>
            <a:r>
              <a:rPr lang="en-US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respond with the z and m keys by default (adjustable in FlankerTask.R).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8640" y="528523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of the practice data frame is one trial: condition (E, S, CI), response (R), RT in seconds, and score.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Your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experiment (about one hour):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85800" y="1581912"/>
            <a:ext cx="10789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&lt;- doExperiment("your name") </a:t>
            </a:r>
            <a:r>
              <a:rPr lang="en-US" sz="1300" i="1" dirty="0">
                <a:solidFill>
                  <a:srgbClr val="3B7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10 blocks of 80 trials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split it into shorter sessions, then merge: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1064240" cy="1783080"/>
          </a:xfrm>
          <a:prstGeom prst="roundRect">
            <a:avLst>
              <a:gd name="adj" fmla="val 3077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85800" y="2542032"/>
            <a:ext cx="1078992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data1 &lt;- doExperiment("your name", ntrials=40) </a:t>
            </a:r>
            <a:r>
              <a:rPr lang="en-US" sz="1300" i="1" dirty="0">
                <a:solidFill>
                  <a:srgbClr val="3B7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10 blocks of 40 trials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data2 &lt;- doExperiment("your name", ntrials=40) </a:t>
            </a:r>
            <a:r>
              <a:rPr lang="en-US" sz="1300" i="1" dirty="0">
                <a:solidFill>
                  <a:srgbClr val="3B7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another 10 blocks of 40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3B7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— or split by blocks instead —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data1 &lt;- doExperiment("your name", nblocks=5)  </a:t>
            </a:r>
            <a:r>
              <a:rPr lang="en-US" sz="1300" i="1" dirty="0">
                <a:solidFill>
                  <a:srgbClr val="3B7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5 blocks of 80 trials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data2 &lt;- doExperiment("your name", nblocks=5)  </a:t>
            </a:r>
            <a:r>
              <a:rPr lang="en-US" sz="1300" i="1" dirty="0">
                <a:solidFill>
                  <a:srgbClr val="3B7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another 5 blocks of 80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 &lt;- rbind(data1, data2)                   </a:t>
            </a:r>
            <a:r>
              <a:rPr lang="en-US" sz="1300" i="1" dirty="0">
                <a:solidFill>
                  <a:srgbClr val="3B7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merge the sessions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data to disk: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85800" y="4782312"/>
            <a:ext cx="10789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save(data, file = "MyFlankerData.RData")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6667"/>
            </a:avLst>
          </a:prstGeom>
          <a:solidFill>
            <a:srgbClr val="FCEF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77240" y="54406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A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400" b="1" dirty="0">
                <a:solidFill>
                  <a:srgbClr val="7A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per trial. </a:t>
            </a:r>
            <a:r>
              <a:rPr lang="en-US" sz="1400" dirty="0">
                <a:solidFill>
                  <a:srgbClr val="7A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double press is read as the next trial's response — a spuriously fast RT.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Conflict Tasks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2142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experiment code defines other conflict tasks via its arguments.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98297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Stroop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48734"/>
            <a:ext cx="5532120" cy="1957454"/>
          </a:xfrm>
          <a:prstGeom prst="roundRect">
            <a:avLst>
              <a:gd name="adj" fmla="val 1364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85800" y="2421886"/>
            <a:ext cx="5257800" cy="1756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3B7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Stroop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doExperiment("ajh", 4, 4,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instruction = "Choose the colour in which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the word is printed.",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stim      = c("RED","GREEN","RED","GREEN"),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stimcol   = c("red","green","green","red"),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responses = c("red","green"),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correct   = c("red","green","green","red"),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jitter = FALSE, fastrt = 0.6)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55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Simon (easy / practice)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703473" y="955867"/>
            <a:ext cx="5257800" cy="2053147"/>
          </a:xfrm>
          <a:prstGeom prst="roundRect">
            <a:avLst>
              <a:gd name="adj" fmla="val 1364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967160" y="1082927"/>
            <a:ext cx="4983480" cy="1973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3B7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Simon (easy / practice)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doExperiment("ajh", 4, 4,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instruction = "Choose left for red and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right for green.",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stim      = c("XXX","XXX","XXX","XXX"),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stimcol   = c("red","green","red","green"),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responses = c("red","green"),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correct   = c("red","green","red","green"),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offset    = c(-.3,.3,.3,-.3),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jitter = FALSE, fastrt = 0.6)</a:t>
            </a:r>
            <a:endParaRPr lang="en-US" sz="11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6768E13F-46BA-78CE-CB27-1BBB086FF6BB}"/>
              </a:ext>
            </a:extLst>
          </p:cNvPr>
          <p:cNvSpPr/>
          <p:nvPr/>
        </p:nvSpPr>
        <p:spPr>
          <a:xfrm>
            <a:off x="6636495" y="3040381"/>
            <a:ext cx="536555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Simon — Remembered Mapping (harder)</a:t>
            </a:r>
            <a:endParaRPr lang="en-US" sz="2000" dirty="0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D3BDD4EB-7A27-4DDD-E9EB-6EFA7C467705}"/>
              </a:ext>
            </a:extLst>
          </p:cNvPr>
          <p:cNvSpPr/>
          <p:nvPr/>
        </p:nvSpPr>
        <p:spPr>
          <a:xfrm>
            <a:off x="6669452" y="3923414"/>
            <a:ext cx="5158208" cy="2477386"/>
          </a:xfrm>
          <a:prstGeom prst="roundRect">
            <a:avLst>
              <a:gd name="adj" fmla="val 1714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7277A821-E77D-B4B7-303F-8EE79E21944A}"/>
              </a:ext>
            </a:extLst>
          </p:cNvPr>
          <p:cNvSpPr/>
          <p:nvPr/>
        </p:nvSpPr>
        <p:spPr>
          <a:xfrm>
            <a:off x="6636495" y="3996566"/>
            <a:ext cx="5158208" cy="230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3B7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Simon where the labels must be remembered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3B7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(hard / experiment version)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doExperiment("ajh", 4, 4,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instruction = "Choose left for red and right for green.",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stim      = c("XXX","XXX","XXX","XXX"),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stimcol   = c("red","green","red","green"),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responses = c("left","right"),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correct   = c("left","right","left","right"),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offset    = c(-.3,.3,.3,-.3),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jitter = FALSE, fastrt = 0.6)</a:t>
            </a:r>
            <a:endParaRPr lang="en-US" sz="11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EE1C1DDC-810C-1A2D-2DE5-49F0B8DDB2A1}"/>
              </a:ext>
            </a:extLst>
          </p:cNvPr>
          <p:cNvSpPr/>
          <p:nvPr/>
        </p:nvSpPr>
        <p:spPr>
          <a:xfrm>
            <a:off x="1637414" y="4983480"/>
            <a:ext cx="445858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display as the easy Simon, but </a:t>
            </a:r>
            <a:r>
              <a:rPr lang="en-US" sz="13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responses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dirty="0">
                <a:solidFill>
                  <a:srgbClr val="233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left / right instead of the colour names — so the colour→side mapping must be held in memory.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E869C-19EA-B5C2-0106-3760F294A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6181" y="76625"/>
            <a:ext cx="3622158" cy="1143000"/>
          </a:xfrm>
        </p:spPr>
        <p:txBody>
          <a:bodyPr/>
          <a:lstStyle/>
          <a:p>
            <a:r>
              <a:rPr lang="en-US" dirty="0"/>
              <a:t>Linear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28A69-FE09-4864-B0F2-8D8ED388A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953" y="1194816"/>
            <a:ext cx="11238614" cy="5510784"/>
          </a:xfrm>
        </p:spPr>
        <p:txBody>
          <a:bodyPr>
            <a:normAutofit fontScale="55000" lnSpcReduction="20000"/>
          </a:bodyPr>
          <a:lstStyle/>
          <a:p>
            <a:r>
              <a:rPr lang="en-US" sz="3800" dirty="0"/>
              <a:t>We will make extensive use of R’s linear model language for specifying designs, e.g., two main effects and an interaction:</a:t>
            </a:r>
          </a:p>
          <a:p>
            <a:pPr marL="0" indent="0" algn="ctr">
              <a:buNone/>
            </a:pPr>
            <a:r>
              <a:rPr lang="en-US" sz="3800" dirty="0"/>
              <a:t>y ~ A + B + A:B  </a:t>
            </a:r>
          </a:p>
          <a:p>
            <a:pPr marL="0" indent="0" algn="ctr">
              <a:buNone/>
            </a:pPr>
            <a:r>
              <a:rPr lang="en-US" sz="3800" dirty="0"/>
              <a:t>which is the same as y ~ A*B</a:t>
            </a:r>
          </a:p>
          <a:p>
            <a:pPr marL="0" indent="0">
              <a:buNone/>
            </a:pPr>
            <a:endParaRPr lang="en-GB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Wilkinson, G. N., &amp; Rogers, C. E. (1973). Symbolic description of factorial models for analysis of variance. </a:t>
            </a:r>
            <a:r>
              <a:rPr lang="en-GB" sz="2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Journal of the Royal Statistical Society: Series C (Applied Statistics)</a:t>
            </a: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2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22</a:t>
            </a: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392–399. </a:t>
            </a:r>
          </a:p>
          <a:p>
            <a:pPr marL="0" indent="0">
              <a:buNone/>
            </a:pPr>
            <a:endParaRPr lang="en-US" sz="1900" dirty="0"/>
          </a:p>
          <a:p>
            <a:r>
              <a:rPr lang="en-US" sz="3800" b="1" dirty="0"/>
              <a:t>Marginality</a:t>
            </a:r>
            <a:r>
              <a:rPr lang="en-US" sz="3800" dirty="0"/>
              <a:t>: a higher order term can only be included if its constituents are also included. </a:t>
            </a:r>
          </a:p>
          <a:p>
            <a:pPr marL="0" indent="0" algn="ctr">
              <a:buNone/>
            </a:pPr>
            <a:r>
              <a:rPr lang="en-US" sz="3800" dirty="0"/>
              <a:t>e.g.,  y ~ A + B is OK but y ~ A + A:B is not</a:t>
            </a:r>
          </a:p>
          <a:p>
            <a:pPr marL="0" indent="0" algn="ctr">
              <a:buNone/>
            </a:pPr>
            <a:endParaRPr lang="en-US" sz="1300" dirty="0"/>
          </a:p>
          <a:p>
            <a:r>
              <a:rPr lang="en-US" sz="3800" dirty="0"/>
              <a:t>My take on marginality</a:t>
            </a:r>
          </a:p>
          <a:p>
            <a:pPr marL="0" indent="0">
              <a:buNone/>
            </a:pPr>
            <a:r>
              <a:rPr lang="en-US" sz="2600" dirty="0"/>
              <a:t>Heathcote, A. &amp; Matzke, D. (2023). The limits of marginality. Computational Brain &amp; Behavior, 6, 28–34. </a:t>
            </a:r>
            <a:r>
              <a:rPr lang="en-US" sz="2600" dirty="0">
                <a:hlinkClick r:id="rId2"/>
              </a:rPr>
              <a:t>https://link.springer.com/content/pdf/10.1007/s42113-021-00120-3.pdf</a:t>
            </a:r>
            <a:endParaRPr lang="en-US" sz="2600" dirty="0"/>
          </a:p>
          <a:p>
            <a:pPr marL="0" indent="0">
              <a:buNone/>
            </a:pPr>
            <a:endParaRPr lang="en-US" sz="2100" dirty="0"/>
          </a:p>
          <a:p>
            <a:r>
              <a:rPr lang="en-US" dirty="0"/>
              <a:t>The wider debate</a:t>
            </a:r>
          </a:p>
          <a:p>
            <a:pPr marL="0" indent="0">
              <a:buNone/>
            </a:pPr>
            <a:r>
              <a:rPr lang="en-US" sz="2600" dirty="0">
                <a:hlinkClick r:id="rId3"/>
              </a:rPr>
              <a:t>https://link.springer.com/article/10.1007/s42113-021-00113-2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hlinkClick r:id="rId4"/>
              </a:rPr>
              <a:t>https://link.springer.com/article/10.1007/s42113-022-00160-3</a:t>
            </a:r>
            <a:endParaRPr lang="en-US" sz="2600" dirty="0"/>
          </a:p>
          <a:p>
            <a:pPr marL="0" indent="0">
              <a:buNone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303312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4197-1C11-DB3C-9778-8AC285CCD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EMC2 Workflow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19FBB2-2291-83BE-277E-2F1A529B7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237" y="1497860"/>
            <a:ext cx="8945526" cy="51995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BD4F88-64CE-2906-A369-F33D88F02034}"/>
              </a:ext>
            </a:extLst>
          </p:cNvPr>
          <p:cNvSpPr txBox="1"/>
          <p:nvPr/>
        </p:nvSpPr>
        <p:spPr>
          <a:xfrm>
            <a:off x="5618421" y="5849310"/>
            <a:ext cx="4471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osf.io</a:t>
            </a:r>
            <a:r>
              <a:rPr lang="en-GB" dirty="0"/>
              <a:t>/preprints/</a:t>
            </a:r>
            <a:r>
              <a:rPr lang="en-GB" dirty="0" err="1"/>
              <a:t>psyarxiv</a:t>
            </a:r>
            <a:r>
              <a:rPr lang="en-GB" dirty="0"/>
              <a:t>/2e4dq_v4</a:t>
            </a:r>
          </a:p>
        </p:txBody>
      </p:sp>
    </p:spTree>
    <p:extLst>
      <p:ext uri="{BB962C8B-B14F-4D97-AF65-F5344CB8AC3E}">
        <p14:creationId xmlns:p14="http://schemas.microsoft.com/office/powerpoint/2010/main" val="3097212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04A96-9EA4-2B78-49A2-765F8165E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C4CAE-CA55-2CB5-4CCD-9116B52F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979" y="190148"/>
            <a:ext cx="4068148" cy="1274759"/>
          </a:xfrm>
        </p:spPr>
        <p:txBody>
          <a:bodyPr>
            <a:normAutofit/>
          </a:bodyPr>
          <a:lstStyle/>
          <a:p>
            <a:r>
              <a:rPr lang="en-US" dirty="0"/>
              <a:t>The “Full" DDM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4EE662-D831-97B8-BB27-967856965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875" y="111368"/>
            <a:ext cx="5047861" cy="47453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DCFD24-D945-63ED-89F7-ACAD9CD39BCB}"/>
              </a:ext>
            </a:extLst>
          </p:cNvPr>
          <p:cNvSpPr txBox="1"/>
          <p:nvPr/>
        </p:nvSpPr>
        <p:spPr>
          <a:xfrm>
            <a:off x="1775928" y="1587329"/>
            <a:ext cx="3704253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Three between-trial parameter variabilities.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Expensive to compute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Hard to estimate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Necessary to capture key benchmark patterns (except perhaps st0).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0B4855-FB71-3B32-DBC0-4D528494D462}"/>
              </a:ext>
            </a:extLst>
          </p:cNvPr>
          <p:cNvSpPr txBox="1"/>
          <p:nvPr/>
        </p:nvSpPr>
        <p:spPr>
          <a:xfrm>
            <a:off x="1596711" y="4776862"/>
            <a:ext cx="1016069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1600" dirty="0"/>
              <a:t>Voss, A., &amp; Voss, J. (2007). Fast-dm: A free program for efficient diffusion model analysis. </a:t>
            </a:r>
            <a:r>
              <a:rPr lang="en-AU" sz="1600" i="1" dirty="0" err="1"/>
              <a:t>Behavior</a:t>
            </a:r>
            <a:r>
              <a:rPr lang="en-AU" sz="1600" i="1" dirty="0"/>
              <a:t> Research Methods</a:t>
            </a:r>
            <a:r>
              <a:rPr lang="en-AU" sz="1600" dirty="0"/>
              <a:t>, </a:t>
            </a:r>
            <a:r>
              <a:rPr lang="en-AU" sz="1600" i="1" dirty="0"/>
              <a:t>39</a:t>
            </a:r>
            <a:r>
              <a:rPr lang="en-AU" sz="1600" dirty="0"/>
              <a:t>(4), 767–775.</a:t>
            </a:r>
          </a:p>
          <a:p>
            <a:pPr>
              <a:spcAft>
                <a:spcPts val="600"/>
              </a:spcAft>
            </a:pPr>
            <a:r>
              <a:rPr lang="en-AU" sz="1600" dirty="0"/>
              <a:t>Boehm, U., </a:t>
            </a:r>
            <a:r>
              <a:rPr lang="en-AU" sz="1600" dirty="0" err="1"/>
              <a:t>Annis</a:t>
            </a:r>
            <a:r>
              <a:rPr lang="en-AU" sz="1600" dirty="0"/>
              <a:t>, J., Frank, M.J., Hawkins, G.E., Heathcote, A., Kellen, D., …, Matzke, D., &amp; </a:t>
            </a:r>
            <a:r>
              <a:rPr lang="en-AU" sz="1600" dirty="0" err="1"/>
              <a:t>Wagenmakers</a:t>
            </a:r>
            <a:r>
              <a:rPr lang="en-AU" sz="1600" dirty="0"/>
              <a:t>, E.-J. (2018). </a:t>
            </a:r>
            <a:r>
              <a:rPr lang="en-AU" sz="1600" dirty="0">
                <a:hlinkClick r:id="rId3"/>
              </a:rPr>
              <a:t>Estimating between-trial variability parameters of the diffusion decision model: Expert advice and recommendations.</a:t>
            </a:r>
            <a:r>
              <a:rPr lang="en-AU" sz="1600" dirty="0"/>
              <a:t> </a:t>
            </a:r>
            <a:r>
              <a:rPr lang="en-AU" sz="1600" i="1" dirty="0"/>
              <a:t>Journal of Mathematical Psychology, 87, </a:t>
            </a:r>
            <a:r>
              <a:rPr lang="en-AU" sz="1600" dirty="0"/>
              <a:t>46-75. </a:t>
            </a:r>
          </a:p>
          <a:p>
            <a:pPr>
              <a:spcAft>
                <a:spcPts val="600"/>
              </a:spcAft>
            </a:pPr>
            <a:r>
              <a:rPr lang="en-AU" sz="1600" dirty="0"/>
              <a:t>Ratcliff, R., &amp; </a:t>
            </a:r>
            <a:r>
              <a:rPr lang="en-AU" sz="1600" dirty="0" err="1"/>
              <a:t>Rouder</a:t>
            </a:r>
            <a:r>
              <a:rPr lang="en-AU" sz="1600" dirty="0"/>
              <a:t>, J. N. (1998). </a:t>
            </a:r>
            <a:r>
              <a:rPr lang="en-AU" sz="1600" dirty="0" err="1"/>
              <a:t>Modeling</a:t>
            </a:r>
            <a:r>
              <a:rPr lang="en-AU" sz="1600" dirty="0"/>
              <a:t> response times for two-choice decisions. </a:t>
            </a:r>
            <a:r>
              <a:rPr lang="en-AU" sz="1600" i="1" dirty="0"/>
              <a:t>Psychological Science</a:t>
            </a:r>
            <a:r>
              <a:rPr lang="en-AU" sz="1600" dirty="0"/>
              <a:t>, </a:t>
            </a:r>
            <a:r>
              <a:rPr lang="en-AU" sz="1600" i="1" dirty="0"/>
              <a:t>9</a:t>
            </a:r>
            <a:r>
              <a:rPr lang="en-AU" sz="1600" dirty="0"/>
              <a:t>(5), 347–356. </a:t>
            </a:r>
          </a:p>
        </p:txBody>
      </p:sp>
    </p:spTree>
    <p:extLst>
      <p:ext uri="{BB962C8B-B14F-4D97-AF65-F5344CB8AC3E}">
        <p14:creationId xmlns:p14="http://schemas.microsoft.com/office/powerpoint/2010/main" val="3106767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F273BF-507A-90BA-70B4-A926C551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06EA1E-4BE5-8B05-AC9B-7CE3BB0E5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54ADC8-A149-DCA8-8805-5624E7B3F8A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1045" r="-1" b="-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00519C-8D61-493A-5734-CD1B57B38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7956" y="274147"/>
            <a:ext cx="7854779" cy="5807676"/>
          </a:xfrm>
        </p:spPr>
        <p:txBody>
          <a:bodyPr>
            <a:normAutofit/>
          </a:bodyPr>
          <a:lstStyle/>
          <a:p>
            <a:r>
              <a:rPr lang="en-GB" sz="5100" dirty="0">
                <a:solidFill>
                  <a:schemeClr val="bg1"/>
                </a:solidFill>
              </a:rPr>
              <a:t>Model-Based Neuroscience </a:t>
            </a: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&amp; </a:t>
            </a: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Cognition </a:t>
            </a: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Summer School</a:t>
            </a: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2026</a:t>
            </a:r>
            <a:br>
              <a:rPr lang="en-GB" sz="5100" dirty="0">
                <a:solidFill>
                  <a:schemeClr val="bg1"/>
                </a:solidFill>
              </a:rPr>
            </a:br>
            <a:br>
              <a:rPr lang="en-GB" sz="5100" dirty="0">
                <a:solidFill>
                  <a:schemeClr val="bg1"/>
                </a:solidFill>
              </a:rPr>
            </a:b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Model Comparison</a:t>
            </a:r>
            <a:endParaRPr lang="en-NL" sz="5100" dirty="0">
              <a:solidFill>
                <a:schemeClr val="bg1"/>
              </a:solidFill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E7E7752B-0DAE-FC25-2C65-C54567BBA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720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84944-1397-A34E-956D-22FB0D3B2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1408" cy="1325563"/>
          </a:xfrm>
        </p:spPr>
        <p:txBody>
          <a:bodyPr>
            <a:normAutofit/>
          </a:bodyPr>
          <a:lstStyle/>
          <a:p>
            <a:r>
              <a:rPr lang="en-US" sz="4000" dirty="0"/>
              <a:t>Likelihood: The key to Bayesian cognitive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2CF1-F0C8-AA4A-A965-CE7627BFB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241" y="1690688"/>
            <a:ext cx="10921409" cy="480218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Likelihood = probability of the parameters given the data.</a:t>
            </a:r>
          </a:p>
          <a:p>
            <a:r>
              <a:rPr lang="en-US" dirty="0"/>
              <a:t>We will focus on cases in which the likelihood can be computed directly.</a:t>
            </a:r>
          </a:p>
          <a:p>
            <a:r>
              <a:rPr lang="en-US" dirty="0"/>
              <a:t>When this is not the case you can use simulation-based methods if your model is generative. </a:t>
            </a:r>
          </a:p>
          <a:p>
            <a:r>
              <a:rPr lang="en-US" dirty="0"/>
              <a:t>An early approach used functions like R’s “density” to get an approximate likelihood, as in these papers.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Turner, B. M., </a:t>
            </a:r>
            <a:r>
              <a:rPr lang="en-US" sz="1700" dirty="0" err="1"/>
              <a:t>Sederberg</a:t>
            </a:r>
            <a:r>
              <a:rPr lang="en-US" sz="1700" dirty="0"/>
              <a:t>, P. B., &amp; McClelland, J. L. (2016). Bayesian analysis of simulation-based models. Journal of Mathematical Psychology, 72, 191–199. </a:t>
            </a:r>
          </a:p>
          <a:p>
            <a:pPr marL="0" indent="0">
              <a:buNone/>
            </a:pPr>
            <a:r>
              <a:rPr lang="en-US" sz="1700" dirty="0"/>
              <a:t>Holmes, W. R. (2015). A practical guide to the Probability Density Approximation (PDA) with improved implementation and error characterization. Journal of Mathematical Psychology, 68, 13–24. </a:t>
            </a:r>
            <a:endParaRPr lang="en-US" dirty="0"/>
          </a:p>
          <a:p>
            <a:endParaRPr lang="en-US" dirty="0"/>
          </a:p>
          <a:p>
            <a:r>
              <a:rPr lang="en-US" dirty="0"/>
              <a:t>However, this has been superseded by methods based on neural networks (e.g., ”</a:t>
            </a:r>
            <a:r>
              <a:rPr lang="en-US" dirty="0" err="1"/>
              <a:t>BayesFlow</a:t>
            </a:r>
            <a:r>
              <a:rPr lang="en-US" dirty="0"/>
              <a:t>”, see </a:t>
            </a:r>
            <a:r>
              <a:rPr lang="en-US" dirty="0">
                <a:hlinkClick r:id="rId2"/>
              </a:rPr>
              <a:t>https://arxiv.org/abs/2003.06281</a:t>
            </a:r>
            <a:r>
              <a:rPr lang="en-US" dirty="0"/>
              <a:t>) taught on the final day. Some of this has been integrated into EMC2 and will be released over the next year.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86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726A-239B-774E-AC9D-1E8EB3F68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“All models are wrong, but some are useful”</a:t>
            </a:r>
            <a:r>
              <a:rPr lang="en-US" baseline="30000" dirty="0"/>
              <a:t>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CC82C-F2A8-744C-A754-E7E62EA5B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960" y="1152962"/>
            <a:ext cx="10933387" cy="500862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Models of complex systems are necessarily approximations that ignore some aspects a system, e.g., the Gas Law</a:t>
            </a:r>
          </a:p>
          <a:p>
            <a:pPr marL="0" indent="0" algn="ctr">
              <a:spcBef>
                <a:spcPts val="1600"/>
              </a:spcBef>
              <a:buNone/>
            </a:pPr>
            <a:r>
              <a:rPr lang="en-US" dirty="0"/>
              <a:t>   </a:t>
            </a:r>
            <a:r>
              <a:rPr lang="en-US" b="1" dirty="0"/>
              <a:t>Pressure</a:t>
            </a:r>
            <a:r>
              <a:rPr lang="en-US" dirty="0"/>
              <a:t> x </a:t>
            </a:r>
            <a:r>
              <a:rPr lang="en-US" b="1" dirty="0"/>
              <a:t>Volum</a:t>
            </a:r>
            <a:r>
              <a:rPr lang="en-US" dirty="0"/>
              <a:t>e = </a:t>
            </a:r>
            <a:r>
              <a:rPr lang="en-US" b="1" dirty="0"/>
              <a:t>n</a:t>
            </a:r>
            <a:r>
              <a:rPr lang="en-US" dirty="0"/>
              <a:t> x </a:t>
            </a:r>
            <a:r>
              <a:rPr lang="en-US" b="1" dirty="0"/>
              <a:t>R</a:t>
            </a:r>
            <a:r>
              <a:rPr lang="en-US" dirty="0"/>
              <a:t> x </a:t>
            </a:r>
            <a:r>
              <a:rPr lang="en-US" b="1" dirty="0"/>
              <a:t>Temperature</a:t>
            </a:r>
            <a:r>
              <a:rPr lang="en-US" dirty="0"/>
              <a:t> </a:t>
            </a:r>
            <a:r>
              <a:rPr lang="en-US" sz="2000" dirty="0">
                <a:solidFill>
                  <a:prstClr val="black"/>
                </a:solidFill>
              </a:rPr>
              <a:t>(n: # molecules, R: gas constant)</a:t>
            </a:r>
          </a:p>
          <a:p>
            <a:pPr marL="0" indent="0" algn="ctr">
              <a:buNone/>
            </a:pPr>
            <a:endParaRPr lang="en-US" sz="2000" dirty="0">
              <a:solidFill>
                <a:prstClr val="black"/>
              </a:solidFill>
            </a:endParaRP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r>
              <a:rPr lang="en-US" dirty="0"/>
              <a:t> Such approximate models can be useful in two key senses.</a:t>
            </a:r>
          </a:p>
          <a:p>
            <a:r>
              <a:rPr lang="en-US" dirty="0"/>
              <a:t>Foregrounding the main constants and variables that determine how a complex system acts, promoting </a:t>
            </a:r>
            <a:r>
              <a:rPr lang="en-US" b="1" dirty="0"/>
              <a:t>understanding</a:t>
            </a:r>
            <a:r>
              <a:rPr lang="en-US" dirty="0"/>
              <a:t> and </a:t>
            </a:r>
            <a:r>
              <a:rPr lang="en-US" b="1" dirty="0"/>
              <a:t>explanation</a:t>
            </a:r>
            <a:r>
              <a:rPr lang="en-US" dirty="0"/>
              <a:t>.</a:t>
            </a:r>
          </a:p>
          <a:p>
            <a:r>
              <a:rPr lang="en-US" dirty="0"/>
              <a:t>Accurately </a:t>
            </a:r>
            <a:r>
              <a:rPr lang="en-US" b="1" dirty="0"/>
              <a:t>predicting</a:t>
            </a:r>
            <a:r>
              <a:rPr lang="en-US" dirty="0"/>
              <a:t> new data (i.e., “out-of-sample” data).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17032A-D008-074E-BC5B-860AB1945611}"/>
              </a:ext>
            </a:extLst>
          </p:cNvPr>
          <p:cNvSpPr/>
          <p:nvPr/>
        </p:nvSpPr>
        <p:spPr>
          <a:xfrm>
            <a:off x="471653" y="5838418"/>
            <a:ext cx="114983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i="1" baseline="30000" dirty="0"/>
              <a:t>1</a:t>
            </a:r>
            <a:r>
              <a:rPr lang="en-AU" i="1" dirty="0"/>
              <a:t>Box, G. E. P. (1979), "Robustness in the strategy of scientific model building", in </a:t>
            </a:r>
            <a:r>
              <a:rPr lang="en-AU" i="1" dirty="0" err="1"/>
              <a:t>Launer</a:t>
            </a:r>
            <a:r>
              <a:rPr lang="en-AU" i="1" dirty="0"/>
              <a:t>, R. L.; Wilkinson, G. N. (eds.), </a:t>
            </a:r>
            <a:r>
              <a:rPr lang="en-AU" i="1" dirty="0">
                <a:hlinkClick r:id="rId2"/>
              </a:rPr>
              <a:t>Robustness in Statistics</a:t>
            </a:r>
            <a:r>
              <a:rPr lang="en-AU" i="1" dirty="0"/>
              <a:t>, </a:t>
            </a:r>
            <a:r>
              <a:rPr lang="en-AU" i="1" dirty="0">
                <a:hlinkClick r:id="rId3" tooltip="Academic Press"/>
              </a:rPr>
              <a:t>Academic Press</a:t>
            </a:r>
            <a:r>
              <a:rPr lang="en-AU" i="1" dirty="0"/>
              <a:t>, pp. 201–236, </a:t>
            </a:r>
            <a:r>
              <a:rPr lang="en-AU" i="1" dirty="0">
                <a:hlinkClick r:id="rId4" tooltip="Doi (identifier)"/>
              </a:rPr>
              <a:t>doi</a:t>
            </a:r>
            <a:r>
              <a:rPr lang="en-AU" i="1" dirty="0"/>
              <a:t>:</a:t>
            </a:r>
            <a:r>
              <a:rPr lang="en-AU" i="1" dirty="0">
                <a:hlinkClick r:id="rId5"/>
              </a:rPr>
              <a:t>10.1016/B978-0-12-438150-6.50018-2</a:t>
            </a:r>
            <a:r>
              <a:rPr lang="en-AU" i="1" dirty="0"/>
              <a:t>, </a:t>
            </a:r>
            <a:r>
              <a:rPr lang="en-AU" i="1" dirty="0">
                <a:hlinkClick r:id="rId6" tooltip="ISBN (identifier)"/>
              </a:rPr>
              <a:t>ISBN</a:t>
            </a:r>
            <a:r>
              <a:rPr lang="en-AU" i="1" dirty="0"/>
              <a:t> </a:t>
            </a:r>
            <a:r>
              <a:rPr lang="en-AU" i="1" dirty="0">
                <a:hlinkClick r:id="rId7" tooltip="Special:BookSources/9781483263366"/>
              </a:rPr>
              <a:t>9781483263366</a:t>
            </a:r>
            <a:r>
              <a:rPr lang="en-AU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0EDA6E-18E4-2D44-B6E8-4ACBA0FC910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3074" r="7454"/>
          <a:stretch/>
        </p:blipFill>
        <p:spPr>
          <a:xfrm>
            <a:off x="3065607" y="2581147"/>
            <a:ext cx="5118539" cy="117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158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68577-9C10-324D-895B-445FF0014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124" y="114136"/>
            <a:ext cx="7780227" cy="1001467"/>
          </a:xfrm>
        </p:spPr>
        <p:txBody>
          <a:bodyPr/>
          <a:lstStyle/>
          <a:p>
            <a:r>
              <a:rPr lang="en-US" dirty="0"/>
              <a:t>Model Complexity</a:t>
            </a:r>
          </a:p>
        </p:txBody>
      </p:sp>
      <p:pic>
        <p:nvPicPr>
          <p:cNvPr id="5" name="Content Placeholder 4" descr="A picture containing text, device, barometer&#10;&#10;Description automatically generated">
            <a:extLst>
              <a:ext uri="{FF2B5EF4-FFF2-40B4-BE49-F238E27FC236}">
                <a16:creationId xmlns:a16="http://schemas.microsoft.com/office/drawing/2014/main" id="{A580DBFD-2DFD-1B44-988A-9DCA865E1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98769" y="1193740"/>
            <a:ext cx="3858318" cy="39497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9B1C332-1C10-744D-BAEC-BF7D3ED53357}"/>
              </a:ext>
            </a:extLst>
          </p:cNvPr>
          <p:cNvSpPr/>
          <p:nvPr/>
        </p:nvSpPr>
        <p:spPr>
          <a:xfrm>
            <a:off x="333702" y="1115603"/>
            <a:ext cx="7317799" cy="263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prstClr val="black"/>
                </a:solidFill>
              </a:rPr>
              <a:t>Useful models tend to be </a:t>
            </a:r>
            <a:r>
              <a:rPr lang="en-US" sz="2600" b="1" dirty="0">
                <a:solidFill>
                  <a:prstClr val="black"/>
                </a:solidFill>
              </a:rPr>
              <a:t>parsimonious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prstClr val="black"/>
                </a:solidFill>
              </a:rPr>
              <a:t>Occam’s Razor: “</a:t>
            </a:r>
            <a:r>
              <a:rPr lang="en-AU" sz="2600" dirty="0">
                <a:solidFill>
                  <a:prstClr val="black"/>
                </a:solidFill>
              </a:rPr>
              <a:t>entities should not be multiplied beyond necessity”</a:t>
            </a:r>
            <a:r>
              <a:rPr lang="en-AU" sz="2600" baseline="30000" dirty="0">
                <a:solidFill>
                  <a:prstClr val="black"/>
                </a:solidFill>
              </a:rPr>
              <a:t>1</a:t>
            </a:r>
            <a:r>
              <a:rPr lang="en-AU" sz="2600" dirty="0">
                <a:solidFill>
                  <a:prstClr val="black"/>
                </a:solidFill>
              </a:rPr>
              <a:t> e.g., Ptolemaic epicycles.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AU" sz="2600" b="1" dirty="0">
                <a:solidFill>
                  <a:prstClr val="black"/>
                </a:solidFill>
              </a:rPr>
              <a:t>Overfitting</a:t>
            </a:r>
            <a:r>
              <a:rPr lang="en-AU" sz="2600" dirty="0">
                <a:solidFill>
                  <a:prstClr val="black"/>
                </a:solidFill>
              </a:rPr>
              <a:t>: adjusting many parameters to get a very accurate fit causes poor prediction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600" dirty="0">
              <a:solidFill>
                <a:prstClr val="black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FA5ECF-2DD7-DC47-AB61-06B85AB3F389}"/>
              </a:ext>
            </a:extLst>
          </p:cNvPr>
          <p:cNvSpPr/>
          <p:nvPr/>
        </p:nvSpPr>
        <p:spPr>
          <a:xfrm>
            <a:off x="7772400" y="192273"/>
            <a:ext cx="43110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aseline="30000" dirty="0"/>
              <a:t>1</a:t>
            </a:r>
            <a:r>
              <a:rPr lang="en-US" dirty="0"/>
              <a:t>Probably not his actual words: https://</a:t>
            </a:r>
            <a:r>
              <a:rPr lang="en-US" dirty="0" err="1"/>
              <a:t>www.irishphilosophy.com</a:t>
            </a:r>
            <a:r>
              <a:rPr lang="en-US" dirty="0"/>
              <a:t>/ 2014/</a:t>
            </a:r>
          </a:p>
          <a:p>
            <a:r>
              <a:rPr lang="en-US" dirty="0"/>
              <a:t>05/27/who-sharpened-</a:t>
            </a:r>
            <a:r>
              <a:rPr lang="en-US" dirty="0" err="1"/>
              <a:t>occams</a:t>
            </a:r>
            <a:r>
              <a:rPr lang="en-US" dirty="0"/>
              <a:t>-razor/</a:t>
            </a:r>
            <a:r>
              <a:rPr lang="en-US" baseline="30000" dirty="0"/>
              <a:t> </a:t>
            </a:r>
          </a:p>
        </p:txBody>
      </p:sp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FDF9AABD-B7C6-6244-B5D8-A031CC685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02" y="3295635"/>
            <a:ext cx="5970971" cy="354013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27ABE53-1043-EA47-8F8C-C7A911E5CA11}"/>
              </a:ext>
            </a:extLst>
          </p:cNvPr>
          <p:cNvSpPr/>
          <p:nvPr/>
        </p:nvSpPr>
        <p:spPr>
          <a:xfrm>
            <a:off x="6410961" y="5236618"/>
            <a:ext cx="4770038" cy="14291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sz="2600" b="1" dirty="0">
                <a:solidFill>
                  <a:prstClr val="black"/>
                </a:solidFill>
              </a:rPr>
              <a:t>Model Selection Metrics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AU" sz="2600" dirty="0">
                <a:solidFill>
                  <a:prstClr val="black"/>
                </a:solidFill>
              </a:rPr>
              <a:t>Out-of-sample prediction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AU" sz="2600" dirty="0">
                <a:solidFill>
                  <a:prstClr val="black"/>
                </a:solidFill>
              </a:rPr>
              <a:t>deviance + complexity penalty</a:t>
            </a:r>
            <a:endParaRPr lang="en-US" sz="2600" dirty="0">
              <a:solidFill>
                <a:prstClr val="black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5B7703-6838-A149-A1EC-9279CE0A12C0}"/>
              </a:ext>
            </a:extLst>
          </p:cNvPr>
          <p:cNvSpPr/>
          <p:nvPr/>
        </p:nvSpPr>
        <p:spPr>
          <a:xfrm>
            <a:off x="685108" y="6077537"/>
            <a:ext cx="5099004" cy="426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sz="2400" dirty="0">
                <a:solidFill>
                  <a:prstClr val="black"/>
                </a:solidFill>
              </a:rPr>
              <a:t>Observed data = structure + noise </a:t>
            </a:r>
          </a:p>
        </p:txBody>
      </p:sp>
    </p:spTree>
    <p:extLst>
      <p:ext uri="{BB962C8B-B14F-4D97-AF65-F5344CB8AC3E}">
        <p14:creationId xmlns:p14="http://schemas.microsoft.com/office/powerpoint/2010/main" val="271306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ECF90-B8A9-617E-FEF7-91577B8FC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Likelihood and 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E822-72E9-11D4-A36C-F6D1A3E0C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8816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Rather than the likelihood we often work with its logarithm (more numerically stable) and:</a:t>
            </a:r>
          </a:p>
          <a:p>
            <a:pPr marL="0" indent="0" algn="ctr">
              <a:buNone/>
            </a:pPr>
            <a:r>
              <a:rPr lang="en-US" sz="2400" dirty="0"/>
              <a:t>Deviance = - 2 x Log Likelihood</a:t>
            </a:r>
          </a:p>
          <a:p>
            <a:pPr marL="0" indent="0">
              <a:buNone/>
            </a:pPr>
            <a:r>
              <a:rPr lang="en-US" sz="2400" dirty="0"/>
              <a:t>Measure of </a:t>
            </a:r>
            <a:r>
              <a:rPr lang="en-US" sz="2400" b="1" dirty="0"/>
              <a:t>misfit</a:t>
            </a:r>
            <a:r>
              <a:rPr lang="en-US" sz="2400" dirty="0"/>
              <a:t>, smaller = better fit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Point-estimate complexity penalties:</a:t>
            </a:r>
          </a:p>
          <a:p>
            <a:r>
              <a:rPr lang="en-US" sz="2400" dirty="0"/>
              <a:t>AIC (Akaike Information Criterion) </a:t>
            </a:r>
          </a:p>
          <a:p>
            <a:pPr marL="0" indent="0">
              <a:buNone/>
            </a:pPr>
            <a:r>
              <a:rPr lang="en-US" sz="2400" dirty="0"/>
              <a:t>Minimum Deviance + 2 x # parameters</a:t>
            </a:r>
          </a:p>
          <a:p>
            <a:r>
              <a:rPr lang="en-US" sz="2400" dirty="0"/>
              <a:t>BIC (Bayesian Information Criterion)</a:t>
            </a:r>
          </a:p>
          <a:p>
            <a:pPr marL="0" indent="0">
              <a:buNone/>
            </a:pPr>
            <a:r>
              <a:rPr lang="en-US" sz="2400" dirty="0"/>
              <a:t>Minimum Deviance +  # parameters x log(# data points) </a:t>
            </a:r>
          </a:p>
          <a:p>
            <a:r>
              <a:rPr lang="en-US" sz="2400" dirty="0"/>
              <a:t>ICs can be turned into weights (0-1 scale)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99373F-B7C4-31F0-C6E7-171DE075B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219" y="3406634"/>
            <a:ext cx="3234999" cy="135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734" y="779528"/>
            <a:ext cx="2644727" cy="2923606"/>
          </a:xfrm>
        </p:spPr>
        <p:txBody>
          <a:bodyPr>
            <a:normAutofit/>
          </a:bodyPr>
          <a:lstStyle/>
          <a:p>
            <a:r>
              <a:rPr lang="en-AU" dirty="0"/>
              <a:t>Correlated (sloppy) posteriors.</a:t>
            </a:r>
          </a:p>
        </p:txBody>
      </p:sp>
      <p:pic>
        <p:nvPicPr>
          <p:cNvPr id="4" name="Picture 3"/>
          <p:cNvPicPr>
            <a:picLocks/>
          </p:cNvPicPr>
          <p:nvPr/>
        </p:nvPicPr>
        <p:blipFill rotWithShape="1">
          <a:blip r:embed="rId2"/>
          <a:srcRect t="10342" b="9037"/>
          <a:stretch/>
        </p:blipFill>
        <p:spPr>
          <a:xfrm>
            <a:off x="3855307" y="1013254"/>
            <a:ext cx="6840845" cy="58447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74E56C-CCA8-6C61-0AA9-73888DBEC879}"/>
              </a:ext>
            </a:extLst>
          </p:cNvPr>
          <p:cNvSpPr txBox="1"/>
          <p:nvPr/>
        </p:nvSpPr>
        <p:spPr>
          <a:xfrm>
            <a:off x="456734" y="3935627"/>
            <a:ext cx="30326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Complexity is not just parameter counting: Need to take account of “functional form complexity”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8B869D2-5C3F-0298-3D22-48426125B4B7}"/>
              </a:ext>
            </a:extLst>
          </p:cNvPr>
          <p:cNvSpPr txBox="1">
            <a:spLocks/>
          </p:cNvSpPr>
          <p:nvPr/>
        </p:nvSpPr>
        <p:spPr>
          <a:xfrm>
            <a:off x="1364998" y="0"/>
            <a:ext cx="10065002" cy="1099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Model selection for cognitive models</a:t>
            </a:r>
          </a:p>
        </p:txBody>
      </p:sp>
    </p:spTree>
    <p:extLst>
      <p:ext uri="{BB962C8B-B14F-4D97-AF65-F5344CB8AC3E}">
        <p14:creationId xmlns:p14="http://schemas.microsoft.com/office/powerpoint/2010/main" val="398369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05FB0-59C0-0B06-FBDC-B9D3E7A6A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103"/>
            <a:ext cx="10515600" cy="933915"/>
          </a:xfrm>
        </p:spPr>
        <p:txBody>
          <a:bodyPr/>
          <a:lstStyle/>
          <a:p>
            <a:r>
              <a:rPr lang="en-US" dirty="0"/>
              <a:t>Bayesian Information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18DB4-0604-9222-9B62-7AF177969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141" y="867274"/>
            <a:ext cx="10754710" cy="322406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b="1" dirty="0"/>
              <a:t>Bayesian ICs are based on </a:t>
            </a:r>
            <a:r>
              <a:rPr lang="en-US" b="1" i="1" dirty="0"/>
              <a:t>posterior</a:t>
            </a:r>
            <a:r>
              <a:rPr lang="en-US" b="1" dirty="0"/>
              <a:t> deviance</a:t>
            </a:r>
          </a:p>
          <a:p>
            <a:r>
              <a:rPr lang="en-US" dirty="0"/>
              <a:t>Deviance of mean of posterior parameters (</a:t>
            </a:r>
            <a:r>
              <a:rPr lang="en-US" b="1" dirty="0" err="1"/>
              <a:t>Dmean</a:t>
            </a:r>
            <a:r>
              <a:rPr lang="en-US" dirty="0"/>
              <a:t>): = best fit (</a:t>
            </a:r>
            <a:r>
              <a:rPr lang="en-US" b="1" dirty="0"/>
              <a:t>sometimes min(D) better</a:t>
            </a:r>
            <a:r>
              <a:rPr lang="en-US" dirty="0"/>
              <a:t>)</a:t>
            </a:r>
          </a:p>
          <a:p>
            <a:r>
              <a:rPr lang="en-US" dirty="0"/>
              <a:t>Mean of posterior deviances (</a:t>
            </a:r>
            <a:r>
              <a:rPr lang="en-US" b="1" dirty="0" err="1"/>
              <a:t>meanD</a:t>
            </a:r>
            <a:r>
              <a:rPr lang="en-US" dirty="0"/>
              <a:t>): slightly penalized fit</a:t>
            </a:r>
          </a:p>
          <a:p>
            <a:r>
              <a:rPr lang="en-US" dirty="0"/>
              <a:t>Effective number of parameters </a:t>
            </a:r>
            <a:r>
              <a:rPr lang="en-US" b="1" dirty="0" err="1"/>
              <a:t>pD</a:t>
            </a:r>
            <a:r>
              <a:rPr lang="en-US" dirty="0"/>
              <a:t> = </a:t>
            </a:r>
            <a:r>
              <a:rPr lang="en-US" dirty="0" err="1"/>
              <a:t>meanD</a:t>
            </a:r>
            <a:r>
              <a:rPr lang="en-US" dirty="0"/>
              <a:t> – </a:t>
            </a:r>
            <a:r>
              <a:rPr lang="en-US" dirty="0" err="1"/>
              <a:t>dMean</a:t>
            </a:r>
            <a:endParaRPr lang="en-US" dirty="0"/>
          </a:p>
          <a:p>
            <a:r>
              <a:rPr lang="en-US" dirty="0"/>
              <a:t>Deviance Information Criterion:</a:t>
            </a:r>
            <a:r>
              <a:rPr lang="en-US" b="1" dirty="0"/>
              <a:t> DIC </a:t>
            </a:r>
            <a:r>
              <a:rPr lang="en-US" dirty="0"/>
              <a:t>=</a:t>
            </a:r>
            <a:r>
              <a:rPr lang="en-US" b="1" dirty="0"/>
              <a:t> </a:t>
            </a:r>
            <a:r>
              <a:rPr lang="en-US" dirty="0" err="1"/>
              <a:t>meanD</a:t>
            </a:r>
            <a:r>
              <a:rPr lang="en-US" dirty="0"/>
              <a:t> + </a:t>
            </a:r>
            <a:r>
              <a:rPr lang="en-US" dirty="0" err="1"/>
              <a:t>pD</a:t>
            </a:r>
            <a:endParaRPr lang="en-US" dirty="0"/>
          </a:p>
          <a:p>
            <a:r>
              <a:rPr lang="en-US" dirty="0"/>
              <a:t>Bayesian Predictive Information Criterion:</a:t>
            </a:r>
            <a:r>
              <a:rPr lang="en-US" b="1" dirty="0"/>
              <a:t> BPIC </a:t>
            </a:r>
            <a:r>
              <a:rPr lang="en-US" dirty="0"/>
              <a:t>= </a:t>
            </a:r>
            <a:r>
              <a:rPr lang="en-US" dirty="0" err="1"/>
              <a:t>meanD</a:t>
            </a:r>
            <a:r>
              <a:rPr lang="en-US" dirty="0"/>
              <a:t> + 2*</a:t>
            </a:r>
            <a:r>
              <a:rPr lang="en-US" dirty="0" err="1"/>
              <a:t>pD</a:t>
            </a:r>
            <a:endParaRPr lang="en-US" dirty="0"/>
          </a:p>
          <a:p>
            <a:r>
              <a:rPr lang="en-US" dirty="0"/>
              <a:t>ICs for a set of models can be turned into model weights/probabilities:</a:t>
            </a:r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8A2166-3A06-1454-C298-F5524F1BE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7879" y="1854465"/>
            <a:ext cx="3234999" cy="13592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587DA0-994B-47EB-5D37-149F40E6ACBA}"/>
              </a:ext>
            </a:extLst>
          </p:cNvPr>
          <p:cNvSpPr txBox="1"/>
          <p:nvPr/>
        </p:nvSpPr>
        <p:spPr>
          <a:xfrm>
            <a:off x="455141" y="4167574"/>
            <a:ext cx="84366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DIC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wDIC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BPIC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wBPIC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EffectiveN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Dmean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WDM   -1439 0.000 -1428 0.000         11 -1450 -1458 -1460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SZ    -1506 0.000 -1491 0.000         15 -1521 -1530 -1536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st0   -1638 0.297 -1619 0.282         19 -1657 -1666 -1676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-1502 0.000 -1490 0.000         12 -1514 -1521 -1525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SZsv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-1504 0.000 -1489 0.000         15 -1519 -1530 -1534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SZst0 -1638 0.348 -1619 0.344         19 -1657 -1667 -1676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st0sv -1638 0.311 -1619 0.360         19 -1657 -1666 -1675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DDM   -1634 0.045 -1613 0.014         21 -1655 -1667 -1677</a:t>
            </a:r>
          </a:p>
        </p:txBody>
      </p:sp>
    </p:spTree>
    <p:extLst>
      <p:ext uri="{BB962C8B-B14F-4D97-AF65-F5344CB8AC3E}">
        <p14:creationId xmlns:p14="http://schemas.microsoft.com/office/powerpoint/2010/main" val="1270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05FB0-59C0-0B06-FBDC-B9D3E7A6A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103"/>
            <a:ext cx="10515600" cy="933915"/>
          </a:xfrm>
        </p:spPr>
        <p:txBody>
          <a:bodyPr/>
          <a:lstStyle/>
          <a:p>
            <a:r>
              <a:rPr lang="en-US" dirty="0"/>
              <a:t>Bayes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18DB4-0604-9222-9B62-7AF177969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54" y="683862"/>
            <a:ext cx="10754710" cy="275799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2400" b="1" dirty="0"/>
              <a:t>Bayesian Factors are based on the marginal likelihood</a:t>
            </a:r>
            <a:endParaRPr lang="en-US" sz="2400" dirty="0"/>
          </a:p>
          <a:p>
            <a:r>
              <a:rPr lang="en-US" sz="2000" dirty="0"/>
              <a:t>As the  marginal likelihood is the probability of the data given the</a:t>
            </a:r>
          </a:p>
          <a:p>
            <a:pPr marL="0" indent="0">
              <a:buNone/>
            </a:pPr>
            <a:r>
              <a:rPr lang="en-US" sz="2000" dirty="0"/>
              <a:t>model integrated over the prior , unlike the ICs it is intrinsically sensitive to the prior</a:t>
            </a:r>
          </a:p>
          <a:p>
            <a:r>
              <a:rPr lang="en-US" sz="2000" dirty="0"/>
              <a:t>EMC2 reports the marginal deviance (MD=-2 x marginal likelihood)</a:t>
            </a:r>
          </a:p>
          <a:p>
            <a:r>
              <a:rPr lang="en-US" sz="2000" dirty="0"/>
              <a:t>Bayes factors are the ratios of marginal deviances (or likelihoods)</a:t>
            </a:r>
          </a:p>
          <a:p>
            <a:r>
              <a:rPr lang="en-US" sz="2000" dirty="0"/>
              <a:t>Just as with the ICs they can be turned into weights/posterior model probabilities.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8A2166-3A06-1454-C298-F5524F1BE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5228" y="1994078"/>
            <a:ext cx="2779841" cy="116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587DA0-994B-47EB-5D37-149F40E6ACBA}"/>
              </a:ext>
            </a:extLst>
          </p:cNvPr>
          <p:cNvSpPr txBox="1"/>
          <p:nvPr/>
        </p:nvSpPr>
        <p:spPr>
          <a:xfrm>
            <a:off x="535837" y="3435029"/>
            <a:ext cx="88393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                      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MD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DIC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wDIC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BPIC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wBPIC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EffectiveN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Dmean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WDM   -1382 0.000 -1439 0.000 -1428 0.000         11 -1450 -1458 -1460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SZ    -1447 0.000 -1506 0.000 -1491 0.000         15 -1521 -1530 -1536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st0   -1573 0.540 -1638 0.297 -1619 0.282         19 -1657 -1666 -1676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-1444 0.000 -1502 0.000 -1490 0.000         12 -1514 -1521 -1525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SZsv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-1445 0.000 -1504 0.000 -1489 0.000         15 -1519 -1530 -1534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SZst0 -1570 0.117 -1638 0.348 -1619 0.344         19 -1657 -1667 -1676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st0sv -1572 0.284 -1638 0.311 -1619 0.360         19 -1657 -1666 -1675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DDM   -1568 0.059 -1634 0.045 -1613 0.014         21 -1655 -1667 -1677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3E6E90-9CE8-CA1B-4A1D-910AD2BB5AEA}"/>
                  </a:ext>
                </a:extLst>
              </p:cNvPr>
              <p:cNvSpPr txBox="1"/>
              <p:nvPr/>
            </p:nvSpPr>
            <p:spPr>
              <a:xfrm flipH="1">
                <a:off x="8573959" y="642612"/>
                <a:ext cx="2779841" cy="1060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l-G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3E6E90-9CE8-CA1B-4A1D-910AD2BB5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573959" y="642612"/>
                <a:ext cx="2779841" cy="1060931"/>
              </a:xfrm>
              <a:prstGeom prst="rect">
                <a:avLst/>
              </a:prstGeom>
              <a:blipFill>
                <a:blip r:embed="rId3"/>
                <a:stretch>
                  <a:fillRect l="-43891" t="-140476" r="-905" b="-195238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C9A23E4-4B16-8E4C-5FF0-A1664527B03B}"/>
              </a:ext>
            </a:extLst>
          </p:cNvPr>
          <p:cNvSpPr txBox="1"/>
          <p:nvPr/>
        </p:nvSpPr>
        <p:spPr>
          <a:xfrm>
            <a:off x="9522373" y="3572749"/>
            <a:ext cx="24909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dirty="0"/>
              <a:t>It has only recently become practical to calculate marginal likelihoods for cogntive models, with bridge sampling being the prefered technique.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2667A-3A30-1FCF-8C38-E90C137F24D2}"/>
              </a:ext>
            </a:extLst>
          </p:cNvPr>
          <p:cNvSpPr txBox="1"/>
          <p:nvPr/>
        </p:nvSpPr>
        <p:spPr>
          <a:xfrm>
            <a:off x="476162" y="5894609"/>
            <a:ext cx="115371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/>
            <a:r>
              <a:rPr lang="en-A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Boehm, U., Evans, N. J, </a:t>
            </a:r>
            <a:r>
              <a:rPr lang="en-AU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Gronau</a:t>
            </a:r>
            <a:r>
              <a:rPr lang="en-A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Q. F., Matzke, M., </a:t>
            </a:r>
            <a:r>
              <a:rPr lang="en-AU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Wagenmakers</a:t>
            </a:r>
            <a:r>
              <a:rPr lang="en-A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E-J., &amp; Heathcote, A. (2023). Inclusion Bayes factors for mixed </a:t>
            </a:r>
          </a:p>
          <a:p>
            <a:pPr indent="-457200"/>
            <a:r>
              <a:rPr lang="en-A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A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hierarchical diffusion decision models. </a:t>
            </a:r>
            <a:r>
              <a:rPr lang="nl-NL" sz="16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Psychological</a:t>
            </a:r>
            <a:r>
              <a:rPr lang="nl-NL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6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Methods</a:t>
            </a:r>
            <a:r>
              <a:rPr lang="nl-NL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nl-NL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https</a:t>
            </a:r>
            <a:r>
              <a:rPr lang="nl-NL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://</a:t>
            </a:r>
            <a:r>
              <a:rPr lang="nl-NL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doi.org</a:t>
            </a:r>
            <a:r>
              <a:rPr lang="nl-NL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/10.1037/met0000582</a:t>
            </a:r>
            <a:r>
              <a:rPr lang="en-NL" sz="1600" dirty="0">
                <a:effectLst/>
              </a:rPr>
              <a:t> </a:t>
            </a:r>
            <a:endParaRPr lang="en-NL" sz="1600" dirty="0"/>
          </a:p>
        </p:txBody>
      </p:sp>
    </p:spTree>
    <p:extLst>
      <p:ext uri="{BB962C8B-B14F-4D97-AF65-F5344CB8AC3E}">
        <p14:creationId xmlns:p14="http://schemas.microsoft.com/office/powerpoint/2010/main" val="326296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3072</Words>
  <Application>Microsoft Macintosh PowerPoint</Application>
  <PresentationFormat>Widescreen</PresentationFormat>
  <Paragraphs>235</Paragraphs>
  <Slides>23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Cambria</vt:lpstr>
      <vt:lpstr>Cambria Math</vt:lpstr>
      <vt:lpstr>Courier New</vt:lpstr>
      <vt:lpstr>Symbol</vt:lpstr>
      <vt:lpstr>Times New Roman</vt:lpstr>
      <vt:lpstr>Office Theme</vt:lpstr>
      <vt:lpstr>Equation</vt:lpstr>
      <vt:lpstr>Model-Based Neuroscience  &amp;  Cognition  Summer School 2026   Evidence-accumulation models (EAMs)</vt:lpstr>
      <vt:lpstr>Formal Generative Models: Definitions</vt:lpstr>
      <vt:lpstr>Uncertainty &amp; Noise in  Dynamic Models of Choice</vt:lpstr>
      <vt:lpstr>The “Full" DDM</vt:lpstr>
      <vt:lpstr>The Linear Ballistic Accumulator (LBA)</vt:lpstr>
      <vt:lpstr>Racing Diffusion Model (RDM)</vt:lpstr>
      <vt:lpstr>Lognormal Race (LNR)</vt:lpstr>
      <vt:lpstr>Model-Based Neuroscience  &amp;  Cognition  Summer School 2026  Fitting the DDM</vt:lpstr>
      <vt:lpstr>PowerPoint Presentation</vt:lpstr>
      <vt:lpstr>PowerPoint Presentation</vt:lpstr>
      <vt:lpstr>PowerPoint Presentation</vt:lpstr>
      <vt:lpstr>PowerPoint Presentation</vt:lpstr>
      <vt:lpstr>Linear Designs</vt:lpstr>
      <vt:lpstr>EMC2 Workflow</vt:lpstr>
      <vt:lpstr>The “Full" DDM</vt:lpstr>
      <vt:lpstr>Model-Based Neuroscience  &amp;  Cognition  Summer School 2026   Model Comparison</vt:lpstr>
      <vt:lpstr>Likelihood: The key to Bayesian cognitive modeling</vt:lpstr>
      <vt:lpstr>“All models are wrong, but some are useful”1</vt:lpstr>
      <vt:lpstr>Model Complexity</vt:lpstr>
      <vt:lpstr>Likelihood and Model Selection</vt:lpstr>
      <vt:lpstr>Correlated (sloppy) posteriors.</vt:lpstr>
      <vt:lpstr>Bayesian Information Criteria</vt:lpstr>
      <vt:lpstr>Bayes Factors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Heathcote</dc:creator>
  <cp:lastModifiedBy>Andrew Heathcote</cp:lastModifiedBy>
  <cp:revision>15</cp:revision>
  <dcterms:created xsi:type="dcterms:W3CDTF">2024-07-27T08:36:27Z</dcterms:created>
  <dcterms:modified xsi:type="dcterms:W3CDTF">2026-08-06T11:14:51Z</dcterms:modified>
</cp:coreProperties>
</file>