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8" r:id="rId10"/>
    <p:sldId id="283" r:id="rId11"/>
    <p:sldId id="280" r:id="rId12"/>
    <p:sldId id="279" r:id="rId13"/>
    <p:sldId id="281" r:id="rId14"/>
    <p:sldId id="282" r:id="rId15"/>
    <p:sldId id="263" r:id="rId16"/>
    <p:sldId id="264" r:id="rId17"/>
    <p:sldId id="265" r:id="rId18"/>
    <p:sldId id="270" r:id="rId19"/>
    <p:sldId id="271" r:id="rId20"/>
    <p:sldId id="272" r:id="rId21"/>
  </p:sldIdLst>
  <p:sldSz cx="9144000" cy="5143500" type="screen16x9"/>
  <p:notesSz cx="6858000" cy="9144000"/>
  <p:embeddedFontLst>
    <p:embeddedFont>
      <p:font typeface="Proxima Nova" panose="02000506030000020004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9"/>
  </p:normalViewPr>
  <p:slideViewPr>
    <p:cSldViewPr snapToGrid="0">
      <p:cViewPr>
        <p:scale>
          <a:sx n="195" d="100"/>
          <a:sy n="195" d="100"/>
        </p:scale>
        <p:origin x="296" y="3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3379e889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3379e889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0c808cc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0c808cc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2aa9483e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2aa9483e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0f2002cf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0f2002cf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0c808cc2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0c808cc2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0f2002c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0f2002c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7B980E91-0D47-17B6-4438-A892A77D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5B262B73-6F12-E7BD-6A6E-D3A85390E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4A94C968-0DF4-7E73-0C12-FC4F2BC109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4408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4194F0CE-3CF9-4A8E-25EF-2120E908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628BCD71-7F6D-30E5-D090-30C67C9B7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E2A452E2-BA3D-DE73-791D-E02778B15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166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7723D9E-C4A0-2AF7-FE55-B452D9D2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41FB37B4-9742-81F7-5D14-52BB1A3EF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AECEB89F-059B-885A-231D-38FE8A6747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8551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A92FF91-5034-C1A6-A776-ACB5E2B0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639A9792-D301-A6A4-69B9-109A284E6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216845EC-D4C2-004D-C83D-FC0863C8F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5764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967EC06-7C15-F9A1-74FE-3660B49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B064D39B-4C96-D317-BE9D-C278502C8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E910B5D5-9084-6186-84F1-E27E58900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3257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E5B51AF-104D-EC26-26B4-2126AFED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0f2002cf3_1_93:notes">
            <a:extLst>
              <a:ext uri="{FF2B5EF4-FFF2-40B4-BE49-F238E27FC236}">
                <a16:creationId xmlns:a16="http://schemas.microsoft.com/office/drawing/2014/main" id="{FA7B38E0-122F-9F8D-41B1-C879E2D34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0f2002cf3_1_93:notes">
            <a:extLst>
              <a:ext uri="{FF2B5EF4-FFF2-40B4-BE49-F238E27FC236}">
                <a16:creationId xmlns:a16="http://schemas.microsoft.com/office/drawing/2014/main" id="{C68F7FDC-C0AE-4D77-3A8A-B6AD6F14A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508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0f2002cf3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0f2002cf3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0f2002cf3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0f2002cf3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0f2002cf3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0f2002cf3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0f2002cf3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0f2002cf3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0f2002cf3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0f2002cf3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0f2002cf3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0f2002cf3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nl" sz="3290" dirty="0"/>
              <a:t>Model-Based Neuroscience</a:t>
            </a:r>
            <a:endParaRPr sz="329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nl" sz="3290" dirty="0"/>
              <a:t>&amp; Cognition</a:t>
            </a:r>
            <a:endParaRPr sz="329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nl" sz="3290" dirty="0"/>
              <a:t>Summer School</a:t>
            </a:r>
            <a:endParaRPr sz="329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3290" dirty="0"/>
              <a:t>2026</a:t>
            </a:r>
            <a:endParaRPr sz="3380" dirty="0"/>
          </a:p>
        </p:txBody>
      </p:sp>
      <p:sp>
        <p:nvSpPr>
          <p:cNvPr id="105" name="Google Shape;105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Niek Stevenson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Joint models</a:t>
            </a:r>
            <a:endParaRPr sz="3000"/>
          </a:p>
        </p:txBody>
      </p:sp>
      <p:sp>
        <p:nvSpPr>
          <p:cNvPr id="111" name="Google Shape;11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Joint models</a:t>
            </a:r>
            <a:endParaRPr sz="3000"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Model that links data from multiple modalities</a:t>
            </a:r>
            <a:endParaRPr sz="21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Different data sets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Behavior-fMRI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Behavior-EEG</a:t>
            </a:r>
            <a:endParaRPr sz="17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Joint models</a:t>
            </a:r>
            <a:endParaRPr sz="3000"/>
          </a:p>
        </p:txBody>
      </p:sp>
      <p:sp>
        <p:nvSpPr>
          <p:cNvPr id="123" name="Google Shape;123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Model that links data from multiple modalities</a:t>
            </a:r>
            <a:endParaRPr sz="21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Different data sets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Behavior-fMRI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Behavior-EEG</a:t>
            </a:r>
            <a:endParaRPr sz="17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 formal model-based link between modalities</a:t>
            </a:r>
            <a:endParaRPr sz="21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3000"/>
              <a:t>Joint models</a:t>
            </a:r>
            <a:endParaRPr sz="3000"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Model that links data from multiple modalities</a:t>
            </a:r>
            <a:endParaRPr sz="21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Different data sets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Behavior-fMRI</a:t>
            </a: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nl" sz="1700">
                <a:solidFill>
                  <a:schemeClr val="dk1"/>
                </a:solidFill>
              </a:rPr>
              <a:t>Behavior-EEG</a:t>
            </a:r>
            <a:endParaRPr sz="17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 formal model-based link between modalities</a:t>
            </a:r>
            <a:endParaRPr sz="21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000" y="2966625"/>
            <a:ext cx="4572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9"/>
          <p:cNvSpPr txBox="1"/>
          <p:nvPr/>
        </p:nvSpPr>
        <p:spPr>
          <a:xfrm>
            <a:off x="6017400" y="4519300"/>
            <a:ext cx="20226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Turner et al.</a:t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Joint Models</a:t>
            </a:r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 formal model-based link between modalities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Joint Models</a:t>
            </a:r>
            <a:endParaRPr/>
          </a:p>
        </p:txBody>
      </p:sp>
      <p:sp>
        <p:nvSpPr>
          <p:cNvPr id="143" name="Google Shape;14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nl" sz="1400" dirty="0">
                <a:solidFill>
                  <a:schemeClr val="dk1"/>
                </a:solidFill>
              </a:rPr>
              <a:t>A formal model-based link between modalities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 dirty="0">
                <a:solidFill>
                  <a:schemeClr val="dk1"/>
                </a:solidFill>
              </a:rPr>
              <a:t>A statistically principled link between modalities:</a:t>
            </a:r>
          </a:p>
          <a:p>
            <a:pPr lvl="1" indent="-361950">
              <a:buClr>
                <a:schemeClr val="dk1"/>
              </a:buClr>
              <a:buSzPts val="2100"/>
              <a:buChar char="●"/>
            </a:pPr>
            <a:r>
              <a:rPr lang="nl" sz="1700" dirty="0">
                <a:solidFill>
                  <a:schemeClr val="dk1"/>
                </a:solidFill>
              </a:rPr>
              <a:t>Joint models: include the hypothesis in the model to propagate uncertainty</a:t>
            </a:r>
            <a:endParaRPr sz="1700" dirty="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19193F1F-1874-C274-7906-F964B29B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77B19013-4461-8959-B849-6969A06B88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Behavior-behavior joint models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71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A9900F50-CAA6-3D78-06CF-9FDA563D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80B92253-692C-5C4D-5E23-6189ADA2F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Behavior-behavior joint models</a:t>
            </a:r>
            <a:endParaRPr dirty="0"/>
          </a:p>
        </p:txBody>
      </p:sp>
      <p:pic>
        <p:nvPicPr>
          <p:cNvPr id="3" name="Google Shape;245;p44">
            <a:extLst>
              <a:ext uri="{FF2B5EF4-FFF2-40B4-BE49-F238E27FC236}">
                <a16:creationId xmlns:a16="http://schemas.microsoft.com/office/drawing/2014/main" id="{BD578AC9-1733-3383-811D-7DFE223074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70758"/>
          <a:stretch/>
        </p:blipFill>
        <p:spPr>
          <a:xfrm>
            <a:off x="1243950" y="1292175"/>
            <a:ext cx="2584724" cy="2753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4356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774BC6B-727C-7AEF-1806-6CFB87BC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A240CA46-41FB-C782-ECFE-F5402EC8D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Behavior-behavior joint models</a:t>
            </a:r>
            <a:endParaRPr dirty="0"/>
          </a:p>
        </p:txBody>
      </p:sp>
      <p:sp>
        <p:nvSpPr>
          <p:cNvPr id="2" name="Google Shape;143;p31">
            <a:extLst>
              <a:ext uri="{FF2B5EF4-FFF2-40B4-BE49-F238E27FC236}">
                <a16:creationId xmlns:a16="http://schemas.microsoft.com/office/drawing/2014/main" id="{253AE1A3-F106-8D3E-4C14-C95099A67565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Theory driven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i="1" dirty="0">
                <a:solidFill>
                  <a:schemeClr val="dk1"/>
                </a:solidFill>
                <a:latin typeface="+mj-lt"/>
              </a:rPr>
              <a:t>v ~ stimulus*task </a:t>
            </a:r>
            <a:r>
              <a:rPr lang="en-US" sz="1700" dirty="0">
                <a:solidFill>
                  <a:schemeClr val="dk1"/>
                </a:solidFill>
                <a:latin typeface="+mj-lt"/>
              </a:rPr>
              <a:t>(only drift rates differ by task)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  <a:latin typeface="+mj-lt"/>
              </a:rPr>
              <a:t>Correlate v1 with v2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  <a:latin typeface="+mj-lt"/>
              </a:rPr>
              <a:t>Strong assumption that model is otherwise equivalent</a:t>
            </a:r>
          </a:p>
          <a:p>
            <a:pPr marL="914400" indent="0">
              <a:spcBef>
                <a:spcPts val="1200"/>
              </a:spcBef>
              <a:spcAft>
                <a:spcPts val="1200"/>
              </a:spcAft>
              <a:buFont typeface="Proxima Nova"/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0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D6D57E6-88BB-F9AB-105E-0E38633C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9FAE37A7-B1B7-F2C9-F018-9544A2189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Behavior-behavior joint models</a:t>
            </a:r>
            <a:endParaRPr dirty="0"/>
          </a:p>
        </p:txBody>
      </p:sp>
      <p:sp>
        <p:nvSpPr>
          <p:cNvPr id="2" name="Google Shape;143;p31">
            <a:extLst>
              <a:ext uri="{FF2B5EF4-FFF2-40B4-BE49-F238E27FC236}">
                <a16:creationId xmlns:a16="http://schemas.microsoft.com/office/drawing/2014/main" id="{37888B3A-3D15-8A6C-8723-BFE72283766D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Theory driven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i="1" dirty="0">
                <a:solidFill>
                  <a:schemeClr val="dk1"/>
                </a:solidFill>
                <a:latin typeface="+mj-lt"/>
              </a:rPr>
              <a:t>v ~ stimulus*task </a:t>
            </a:r>
            <a:r>
              <a:rPr lang="en-US" sz="1700" dirty="0">
                <a:solidFill>
                  <a:schemeClr val="dk1"/>
                </a:solidFill>
                <a:latin typeface="+mj-lt"/>
              </a:rPr>
              <a:t>(only drift rates differ by task)</a:t>
            </a:r>
            <a:endParaRPr lang="en-US" sz="1700" i="1" dirty="0">
              <a:solidFill>
                <a:schemeClr val="dk1"/>
              </a:solidFill>
              <a:latin typeface="+mj-lt"/>
            </a:endParaRP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  <a:latin typeface="+mj-lt"/>
              </a:rPr>
              <a:t>Strong assumption that model is otherwise equivalent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  <a:latin typeface="+mj-lt"/>
              </a:rPr>
              <a:t>Correlate v1 with v2</a:t>
            </a:r>
          </a:p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Agnostic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Drift rates on task 1 correlate with learning rate on task 2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Works with completely different task models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Commensurability is important!</a:t>
            </a:r>
            <a:br>
              <a:rPr lang="en-US" sz="1700" dirty="0">
                <a:solidFill>
                  <a:schemeClr val="dk1"/>
                </a:solidFill>
              </a:rPr>
            </a:br>
            <a:br>
              <a:rPr lang="en-US" sz="1700" dirty="0">
                <a:solidFill>
                  <a:schemeClr val="dk1"/>
                </a:solidFill>
              </a:rPr>
            </a:br>
            <a:r>
              <a:rPr lang="en-US" sz="1700" dirty="0">
                <a:solidFill>
                  <a:schemeClr val="dk1"/>
                </a:solidFill>
              </a:rPr>
              <a:t>*Theory driven is ‘nested’ in Agnostic, they live on a continuum</a:t>
            </a:r>
            <a:br>
              <a:rPr lang="en-US" sz="1700" dirty="0">
                <a:solidFill>
                  <a:schemeClr val="dk1"/>
                </a:solidFill>
              </a:rPr>
            </a:br>
            <a:br>
              <a:rPr lang="en-US" sz="1700" dirty="0">
                <a:solidFill>
                  <a:schemeClr val="dk1"/>
                </a:solidFill>
              </a:rPr>
            </a:br>
            <a:endParaRPr lang="en-US" sz="1700" dirty="0">
              <a:solidFill>
                <a:schemeClr val="dk1"/>
              </a:solidFill>
            </a:endParaRPr>
          </a:p>
          <a:p>
            <a:pPr lvl="1" indent="-361950">
              <a:buClr>
                <a:schemeClr val="dk1"/>
              </a:buClr>
              <a:buSzPts val="2100"/>
            </a:pPr>
            <a:endParaRPr lang="en-US" sz="1700" dirty="0">
              <a:solidFill>
                <a:schemeClr val="dk1"/>
              </a:solidFill>
            </a:endParaRPr>
          </a:p>
          <a:p>
            <a:pPr marL="914400" indent="0">
              <a:spcBef>
                <a:spcPts val="1200"/>
              </a:spcBef>
              <a:spcAft>
                <a:spcPts val="1200"/>
              </a:spcAft>
              <a:buFont typeface="Proxima Nova"/>
              <a:buNone/>
            </a:pPr>
            <a:endParaRPr lang="en-US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7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EF5A5D69-CADE-3EF4-12B1-4585E0B9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6AD4E0DC-C65C-12C4-39C8-DC019C0E0B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EEG joint models</a:t>
            </a:r>
            <a:endParaRPr dirty="0"/>
          </a:p>
        </p:txBody>
      </p:sp>
      <p:sp>
        <p:nvSpPr>
          <p:cNvPr id="2" name="Google Shape;143;p31">
            <a:extLst>
              <a:ext uri="{FF2B5EF4-FFF2-40B4-BE49-F238E27FC236}">
                <a16:creationId xmlns:a16="http://schemas.microsoft.com/office/drawing/2014/main" id="{D593D8DA-618E-651A-CE44-E978DAC6752D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Either very easy: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 ~ EEG</a:t>
            </a:r>
            <a:b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it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= v0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+ B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</a:t>
            </a:r>
            <a:r>
              <a:rPr kumimoji="0" lang="en-US" sz="1300" b="0" i="1" u="none" strike="noStrike" kern="0" cap="none" spc="0" normalizeH="0" baseline="0" noProof="0" dirty="0" err="1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EEG</a:t>
            </a:r>
            <a:r>
              <a:rPr kumimoji="0" lang="en-US" sz="1300" b="0" i="1" u="none" strike="noStrike" kern="0" cap="none" spc="0" normalizeH="0" baseline="-25000" noProof="0" dirty="0" err="1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it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 (subject </a:t>
            </a:r>
            <a:r>
              <a:rPr lang="en-US" sz="1300" i="1" dirty="0" err="1">
                <a:solidFill>
                  <a:srgbClr val="202729"/>
                </a:solidFill>
                <a:latin typeface="Arial"/>
                <a:cs typeface="Arial"/>
                <a:sym typeface="Arial"/>
              </a:rPr>
              <a:t>i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, trial t)</a:t>
            </a:r>
            <a:endParaRPr kumimoji="0" lang="en-US" sz="1300" b="0" i="1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Or very hard: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it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= v0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+ B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*z</a:t>
            </a:r>
            <a: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it</a:t>
            </a:r>
            <a:br>
              <a:rPr kumimoji="0" lang="en-US" sz="1300" b="0" i="1" u="none" strike="noStrike" kern="0" cap="none" spc="0" normalizeH="0" baseline="-2500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lang="en-US" sz="1300" i="1" dirty="0" err="1">
                <a:solidFill>
                  <a:srgbClr val="202729"/>
                </a:solidFill>
                <a:latin typeface="Arial"/>
                <a:cs typeface="Arial"/>
                <a:sym typeface="Arial"/>
              </a:rPr>
              <a:t>EEG</a:t>
            </a:r>
            <a:r>
              <a:rPr lang="en-US" sz="1300" i="1" baseline="-25000" dirty="0" err="1">
                <a:solidFill>
                  <a:srgbClr val="202729"/>
                </a:solidFill>
                <a:latin typeface="Arial"/>
                <a:cs typeface="Arial"/>
                <a:sym typeface="Arial"/>
              </a:rPr>
              <a:t>it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 </a:t>
            </a:r>
            <a:r>
              <a:rPr kumimoji="0" lang="en-US" sz="1300" b="0" i="1" u="none" strike="noStrike" kern="0" cap="none" spc="0" normalizeH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~ N(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z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it,</a:t>
            </a:r>
            <a:r>
              <a:rPr kumimoji="0" lang="en-US" sz="13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r>
              <a:rPr lang="el-GR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σ</a:t>
            </a:r>
            <a:r>
              <a:rPr lang="en-US" sz="1300" i="1" baseline="-25000" dirty="0" err="1">
                <a:solidFill>
                  <a:srgbClr val="202729"/>
                </a:solidFill>
                <a:latin typeface="Arial"/>
                <a:cs typeface="Arial"/>
                <a:sym typeface="Arial"/>
              </a:rPr>
              <a:t>ei</a:t>
            </a:r>
            <a:r>
              <a:rPr lang="el-GR" sz="1300" i="1" baseline="30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2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)</a:t>
            </a:r>
            <a:b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</a:b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z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it 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~ N(m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i,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 </a:t>
            </a:r>
            <a:r>
              <a:rPr lang="el-GR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σ</a:t>
            </a:r>
            <a:r>
              <a:rPr lang="en-US" sz="1300" i="1" baseline="-25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i</a:t>
            </a:r>
            <a:r>
              <a:rPr lang="el-GR" sz="1300" i="1" baseline="30000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2</a:t>
            </a:r>
            <a: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  <a:t>)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dirty="0">
                <a:solidFill>
                  <a:schemeClr val="dk1"/>
                </a:solidFill>
              </a:rPr>
              <a:t>This accounts for measurement error in the EEG (</a:t>
            </a: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Ghaderi-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Kangavari</a:t>
            </a: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et al., 2023)</a:t>
            </a:r>
            <a:endParaRPr lang="en-US" dirty="0">
              <a:solidFill>
                <a:schemeClr val="dk1"/>
              </a:solidFill>
            </a:endParaRPr>
          </a:p>
          <a:p>
            <a:pPr marL="552450" lvl="1" indent="0">
              <a:buClr>
                <a:schemeClr val="dk1"/>
              </a:buClr>
              <a:buSzPts val="2100"/>
              <a:buNone/>
            </a:pPr>
            <a:b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</a:br>
            <a:endParaRPr lang="en-US" sz="1700" dirty="0">
              <a:solidFill>
                <a:schemeClr val="dk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0325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CE11E1B-38A3-E5E0-E58F-858FDCFB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1">
            <a:extLst>
              <a:ext uri="{FF2B5EF4-FFF2-40B4-BE49-F238E27FC236}">
                <a16:creationId xmlns:a16="http://schemas.microsoft.com/office/drawing/2014/main" id="{C3B60B16-A5E4-B4A6-F3AA-CEFBC3972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fMRI joint models</a:t>
            </a:r>
            <a:endParaRPr dirty="0"/>
          </a:p>
        </p:txBody>
      </p:sp>
      <p:sp>
        <p:nvSpPr>
          <p:cNvPr id="2" name="Google Shape;143;p31">
            <a:extLst>
              <a:ext uri="{FF2B5EF4-FFF2-40B4-BE49-F238E27FC236}">
                <a16:creationId xmlns:a16="http://schemas.microsoft.com/office/drawing/2014/main" id="{72926F06-14DC-A22F-0C6D-95800932D710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Hard: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Joint at the covariance matrix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Estimate fMRI GLM and cognitive model simultaneously</a:t>
            </a:r>
          </a:p>
          <a:p>
            <a:pPr indent="-361950"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</a:rPr>
              <a:t>Harder: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Joint at the trial-level (and covariance matrix)</a:t>
            </a:r>
          </a:p>
          <a:p>
            <a:pPr lvl="1" indent="-361950">
              <a:buClr>
                <a:schemeClr val="dk1"/>
              </a:buClr>
              <a:buSzPts val="2100"/>
            </a:pPr>
            <a:r>
              <a:rPr lang="en-US" sz="1700" dirty="0">
                <a:solidFill>
                  <a:schemeClr val="dk1"/>
                </a:solidFill>
              </a:rPr>
              <a:t>Requires trial-level fMRI mapping</a:t>
            </a:r>
            <a:br>
              <a:rPr lang="en-US" sz="1300" i="1" dirty="0">
                <a:solidFill>
                  <a:srgbClr val="202729"/>
                </a:solidFill>
                <a:latin typeface="Arial"/>
                <a:cs typeface="Arial"/>
                <a:sym typeface="Arial"/>
              </a:rPr>
            </a:br>
            <a:endParaRPr lang="en-US" sz="1700" dirty="0">
              <a:solidFill>
                <a:schemeClr val="dk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588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models</a:t>
            </a:r>
            <a:endParaRPr/>
          </a:p>
        </p:txBody>
      </p:sp>
      <p:sp>
        <p:nvSpPr>
          <p:cNvPr id="149" name="Google Shape;14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Account for uncertainty at all data-levels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models</a:t>
            </a:r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Account for uncertainty at all data-levels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Two-step model ignores uncertainty in participant level estimates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Hierarchical models</a:t>
            </a:r>
            <a:endParaRPr/>
          </a:p>
        </p:txBody>
      </p:sp>
      <p:sp>
        <p:nvSpPr>
          <p:cNvPr id="161" name="Google Shape;161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Account for uncertainty at all data-levels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Two-step model ignores uncertainty in participant level estimates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That unaccounted variance dilutes relationship estimates:</a:t>
            </a:r>
            <a:endParaRPr sz="2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nl" sz="2100" i="1">
                <a:solidFill>
                  <a:schemeClr val="dk1"/>
                </a:solidFill>
              </a:rPr>
              <a:t>attenuation</a:t>
            </a:r>
            <a:endParaRPr sz="2100"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09" name="Google Shape;209;p39"/>
          <p:cNvSpPr txBox="1"/>
          <p:nvPr/>
        </p:nvSpPr>
        <p:spPr>
          <a:xfrm>
            <a:off x="4572000" y="4319525"/>
            <a:ext cx="31293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With </a:t>
            </a:r>
            <a:r>
              <a:rPr lang="nl" sz="1800" i="1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nl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 of trials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0" name="Google Shape;210;p39" title="[67,67,67,&quot;https://www.codecogs.com/eqnedit.php?latex=%5Clambda%20%3D%20%5Cfrac%7B%5Ctext%7BSE%7D_%7B%5Ctext%7Btrue%7D%7D%7D%7B%5Ctext%7BSE%7D_%7B%5Ctext%7Bobs%7D%7D%7D%20%3D%20%5Csqrt%7B%5Cfrac%7B%5Csigma_g%5E2%7D%7B%5Csigma_g%5E2%20%2B%20%5Cfrac%7B%5Csigma_%7B%5Cepsilon%7D%5E2%7D%7BL%7D%7D%7D#0&quot;]"/>
          <p:cNvPicPr preferRelativeResize="0"/>
          <p:nvPr/>
        </p:nvPicPr>
        <p:blipFill rotWithShape="1">
          <a:blip r:embed="rId3">
            <a:alphaModFix/>
          </a:blip>
          <a:srcRect l="54924"/>
          <a:stretch/>
        </p:blipFill>
        <p:spPr>
          <a:xfrm>
            <a:off x="4490226" y="2262150"/>
            <a:ext cx="2193477" cy="142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9" title="[67,67,67,&quot;https://www.codecogs.com/eqnedit.php?latex=%5Clambda%20%3D%20%5Cfrac%7B%5Ctext%7BSE%7D_%7B%5Ctext%7Btrue%7D%7D%7D%7B%5Ctext%7BSE%7D_%7B%5Ctext%7Bobs%7D%7D%7D%20%3D%20%5Csqrt%7B%5Cfrac%7B%5Csigma_g%5E2%7D%7B%5Csigma_g%5E2%20%2B%20%5Cfrac%7B%5Csigma_%7B%5Cepsilon%7D%5E2%7D%7BL%7D%7D%7D#0&quot;]"/>
          <p:cNvPicPr preferRelativeResize="0"/>
          <p:nvPr/>
        </p:nvPicPr>
        <p:blipFill rotWithShape="1">
          <a:blip r:embed="rId3">
            <a:alphaModFix/>
          </a:blip>
          <a:srcRect r="83043"/>
          <a:stretch/>
        </p:blipFill>
        <p:spPr>
          <a:xfrm>
            <a:off x="3541047" y="2307075"/>
            <a:ext cx="825148" cy="142484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Attenuation factor</a:t>
            </a:r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nl" sz="2100">
                <a:solidFill>
                  <a:schemeClr val="dk1"/>
                </a:solidFill>
              </a:rPr>
              <a:t>How much lower is my two-step estimate?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Attenuation factor</a:t>
            </a:r>
            <a:endParaRPr/>
          </a:p>
        </p:txBody>
      </p:sp>
      <p:sp>
        <p:nvSpPr>
          <p:cNvPr id="219" name="Google Shape;21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Shows up </a:t>
            </a:r>
            <a:r>
              <a:rPr lang="nl" b="1" i="1">
                <a:solidFill>
                  <a:schemeClr val="dk1"/>
                </a:solidFill>
              </a:rPr>
              <a:t>everywhere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In fMRI-behavior joint models:</a:t>
            </a:r>
            <a:br>
              <a:rPr lang="n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20" name="Google Shape;2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25" y="1823750"/>
            <a:ext cx="7613573" cy="331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Attenuation factor</a:t>
            </a:r>
            <a:endParaRPr/>
          </a:p>
        </p:txBody>
      </p:sp>
      <p:sp>
        <p:nvSpPr>
          <p:cNvPr id="226" name="Google Shape;226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33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dirty="0">
                <a:solidFill>
                  <a:schemeClr val="dk1"/>
                </a:solidFill>
              </a:rPr>
              <a:t>Shows up </a:t>
            </a:r>
            <a:r>
              <a:rPr lang="nl" b="1" i="1" dirty="0">
                <a:solidFill>
                  <a:schemeClr val="dk1"/>
                </a:solidFill>
              </a:rPr>
              <a:t>everywhere</a:t>
            </a:r>
            <a:endParaRPr b="1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dirty="0">
                <a:solidFill>
                  <a:schemeClr val="dk1"/>
                </a:solidFill>
              </a:rPr>
              <a:t>In fMRI-behavior joint models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dirty="0">
                <a:solidFill>
                  <a:schemeClr val="dk1"/>
                </a:solidFill>
              </a:rPr>
              <a:t>In behavior-behavior joint models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 dirty="0">
                <a:solidFill>
                  <a:schemeClr val="dk1"/>
                </a:solidFill>
              </a:rPr>
              <a:t>Also in trial-wise brain links!</a:t>
            </a:r>
            <a:br>
              <a:rPr lang="nl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411</Words>
  <Application>Microsoft Macintosh PowerPoint</Application>
  <PresentationFormat>On-screen Show (16:9)</PresentationFormat>
  <Paragraphs>81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Aptos</vt:lpstr>
      <vt:lpstr>Proxima Nova</vt:lpstr>
      <vt:lpstr>Times New Roman</vt:lpstr>
      <vt:lpstr>Spearmint</vt:lpstr>
      <vt:lpstr>Simple Light</vt:lpstr>
      <vt:lpstr>Model-Based Neuroscience &amp; Cognition Summer School 2026</vt:lpstr>
      <vt:lpstr>Joint models</vt:lpstr>
      <vt:lpstr>Joint models</vt:lpstr>
      <vt:lpstr>Joint models</vt:lpstr>
      <vt:lpstr>Joint models</vt:lpstr>
      <vt:lpstr>Joint Models</vt:lpstr>
      <vt:lpstr>Joint Models</vt:lpstr>
      <vt:lpstr>Behavior-behavior joint models</vt:lpstr>
      <vt:lpstr>Behavior-behavior joint models</vt:lpstr>
      <vt:lpstr>Behavior-behavior joint models</vt:lpstr>
      <vt:lpstr>Behavior-behavior joint models</vt:lpstr>
      <vt:lpstr>EEG joint models</vt:lpstr>
      <vt:lpstr>fMRI joint models</vt:lpstr>
      <vt:lpstr>Hierarchical models</vt:lpstr>
      <vt:lpstr>Hierarchical models</vt:lpstr>
      <vt:lpstr>Hierarchical models</vt:lpstr>
      <vt:lpstr>Attenuation factor</vt:lpstr>
      <vt:lpstr>Attenuation factor</vt:lpstr>
      <vt:lpstr>Attenuation factor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Niek Stevenson</cp:lastModifiedBy>
  <cp:revision>2</cp:revision>
  <dcterms:modified xsi:type="dcterms:W3CDTF">2026-08-12T09:50:17Z</dcterms:modified>
</cp:coreProperties>
</file>