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85147-85F3-8E4C-83AA-2237EA37A800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A19A9-CFE5-DF45-8B1F-BBA594DDC0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048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DBF4-B7B1-D7F3-84BE-912367B5F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24D22-F48C-7EB9-E8DD-F1A714C9B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2D183-121E-6392-6797-EA5487BD9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12/08/2026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B1846-C037-394B-7F8E-8EE2D938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D4248-F0A1-071E-BA71-253C890E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40409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F716-F79A-86E3-E339-0DC9EB90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7F4A-A262-66C1-3AB8-DFCA3A196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5C11D-F8C4-D826-F5C4-7E5FD0AA5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12/08/2026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D0C09-1EFB-16F0-CDDF-C414F32A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62B42-4AF5-76D1-FB1A-9994D2FE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175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F491-4A08-CA06-3DD6-94C6438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099C3-EB5E-C446-16C6-C9552063D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76CF8-A1D7-AD0F-E45A-8FD01906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12/08/2026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9CD9B-5EEE-E5BB-5BEC-1FC3D6542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512F8-A8EA-87D9-BBD4-6A1397C9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26857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A0146-D2D6-AE4E-AC12-316E4D9B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23219-C349-0D3B-741C-F07DDA960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19309-4E04-B73E-71ED-417F60F99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48934-E35A-CD74-BFD3-5304B3D1E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12/08/2026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97088-8141-FA39-6452-21B458D8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5A844-D1A3-A3AB-2027-7EF4166D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59693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749E-EB0B-6C6A-6FD9-F00EB3D65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E9F1A-D0AD-4807-276B-B75C7A3E0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4FDA7-EC0B-AB9A-0BB1-8B5F5F3AD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17CA1-351E-E2A5-B8F0-83667255A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3AD2C7-4E07-256E-1E42-612D42635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C9C314-D6F7-281D-A3F2-DA8DD63E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12/08/2026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B98E22-F2A8-1532-7284-DB5854A0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8701A6-8C48-2A77-7ACC-5A81E703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666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AAB76-2FFC-0CD0-FEC0-2D64FB35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17447-3418-0F75-7EB6-DD3F3B61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12/08/2026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ABF16-7D3F-F7F0-D3F0-D5205C3B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C3460-948B-29A6-0001-0666611B1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47478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DD4E5-E62F-AEE6-FE1E-4B3EC7D21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12/08/2026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CB60D-B4F8-7905-B53B-DE21935C0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02E66-DF1E-0002-DC69-797E1B856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828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176D-A8A1-B7B0-7A9B-5EF379CCB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87082-4CE7-AB54-ED74-FDB2730EE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0E867-1CBA-90E2-9F6D-63C58598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78837-7379-0E61-78F9-F10274A2B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12/08/2026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9DDB5-3158-9B1D-F0CF-A37183A6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E1268-9ACC-6F73-EA2B-E7469F61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1059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230F3-747C-982F-68FD-47E61896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DAA78-9BA5-614A-19BA-9488F2C774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BA5D8-9F9D-96AE-299B-B646859C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58FD2-9FA1-3BDF-D420-3C3FF2FCD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12/08/2026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54460-44DC-9AF6-28F2-C7ECCDA5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819E1-086A-810D-8847-EFC9A87F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1190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A446F-AA6E-DABD-0275-EAA6D49BD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31317-CFC4-2DCE-EE0A-DBCB18967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41597-7B35-D24B-5021-816F18F39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12/08/2026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D3E9A-309C-4C2A-E300-C4CAC23A6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D7E38-A4AF-2F81-7EA4-F6BF3AEA1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9315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9D7718-121D-3E7B-52F6-8440FAD2E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9B2B3-9B20-1713-6ECC-53440BEE8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F151C-5BA9-A104-0FD6-31A14EA4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11E5-0D6A-014C-A3A7-6369A403B998}" type="datetimeFigureOut">
              <a:rPr lang="en-NL" smtClean="0"/>
              <a:t>12/08/2026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99CD7-A364-F8E1-E4D1-544A3AB6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6B357-6988-ACAB-6A29-FD893D62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9563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4247E3-DCB2-823B-17C2-325F89FC0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F3490-6C47-9675-5F3A-A15627B0E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216EF-8580-50E7-0176-BAA0490A5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611E5-0D6A-014C-A3A7-6369A403B998}" type="datetimeFigureOut">
              <a:rPr lang="en-NL" smtClean="0"/>
              <a:t>12/08/2026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ADA1E-77FA-F3E5-F7F4-2C41FF097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2AFE5-D269-2977-BA2B-4B1161A56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5CE186-EA83-CD47-BC66-D9353DCA761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5911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5E6A5-8ACD-E6C4-CCD7-65049E5498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045" r="-1" b="-1"/>
          <a:stretch/>
        </p:blipFill>
        <p:spPr>
          <a:xfrm>
            <a:off x="-2" y="274146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47085D-0B23-179C-2350-71EC37F84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7956" y="274146"/>
            <a:ext cx="7854779" cy="6158551"/>
          </a:xfrm>
        </p:spPr>
        <p:txBody>
          <a:bodyPr>
            <a:normAutofit fontScale="90000"/>
          </a:bodyPr>
          <a:lstStyle/>
          <a:p>
            <a:r>
              <a:rPr lang="en-GB" sz="5100" dirty="0">
                <a:solidFill>
                  <a:schemeClr val="bg1"/>
                </a:solidFill>
              </a:rPr>
              <a:t>Model-Based Neuroscience 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&amp; 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Cognition 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Summer School</a:t>
            </a: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2026</a:t>
            </a:r>
            <a:br>
              <a:rPr lang="en-GB" sz="5100" dirty="0">
                <a:solidFill>
                  <a:schemeClr val="bg1"/>
                </a:solidFill>
              </a:rPr>
            </a:br>
            <a:br>
              <a:rPr lang="en-GB" sz="5100" dirty="0">
                <a:solidFill>
                  <a:schemeClr val="bg1"/>
                </a:solidFill>
              </a:rPr>
            </a:br>
            <a:br>
              <a:rPr lang="en-GB" sz="5100" dirty="0">
                <a:solidFill>
                  <a:schemeClr val="bg1"/>
                </a:solidFill>
              </a:rPr>
            </a:br>
            <a:r>
              <a:rPr lang="en-GB" sz="5100" dirty="0">
                <a:solidFill>
                  <a:schemeClr val="bg1"/>
                </a:solidFill>
              </a:rPr>
              <a:t>Expressing Psychological Theories with EAMs</a:t>
            </a:r>
            <a:endParaRPr lang="en-NL" sz="5100" dirty="0">
              <a:solidFill>
                <a:schemeClr val="bg1"/>
              </a:solidFill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73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51E63-3A79-9030-2292-34A5E116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3106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Prospective Memory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9400C-8D8F-19AE-A1C2-0412171FA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1281514"/>
            <a:ext cx="7772400" cy="33212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AF7DFA-96B2-6D3C-6AE2-20A3C44E0AB6}"/>
              </a:ext>
            </a:extLst>
          </p:cNvPr>
          <p:cNvSpPr txBox="1"/>
          <p:nvPr/>
        </p:nvSpPr>
        <p:spPr>
          <a:xfrm>
            <a:off x="422272" y="4685146"/>
            <a:ext cx="113474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 Ongoing-task quality (</a:t>
            </a:r>
            <a:r>
              <a:rPr lang="en-GB" b="1" dirty="0"/>
              <a:t>qual</a:t>
            </a:r>
            <a:r>
              <a:rPr lang="en-GB" dirty="0"/>
              <a:t>):</a:t>
            </a:r>
          </a:p>
          <a:p>
            <a:r>
              <a:rPr lang="en-GB" dirty="0"/>
              <a:t>  - The difference between the matching ("correct") ongoing task accumulation rate and mismatching </a:t>
            </a:r>
          </a:p>
          <a:p>
            <a:r>
              <a:rPr lang="en-GB" dirty="0"/>
              <a:t>     accumulation rate. Indexes how good ongoing-task processing is (discrimination quality)</a:t>
            </a:r>
          </a:p>
          <a:p>
            <a:endParaRPr lang="en-GB" dirty="0"/>
          </a:p>
          <a:p>
            <a:r>
              <a:rPr lang="en-GB" dirty="0"/>
              <a:t>  Ongoing-task urgency (</a:t>
            </a:r>
            <a:r>
              <a:rPr lang="en-GB" b="1" dirty="0" err="1"/>
              <a:t>urg</a:t>
            </a:r>
            <a:r>
              <a:rPr lang="en-GB" dirty="0"/>
              <a:t>):</a:t>
            </a:r>
          </a:p>
          <a:p>
            <a:r>
              <a:rPr lang="en-GB" dirty="0"/>
              <a:t>  - The sum of matching and mismatching ongoing-task accumulation rates. Indexes how fast processing is.</a:t>
            </a:r>
          </a:p>
        </p:txBody>
      </p:sp>
    </p:spTree>
    <p:extLst>
      <p:ext uri="{BB962C8B-B14F-4D97-AF65-F5344CB8AC3E}">
        <p14:creationId xmlns:p14="http://schemas.microsoft.com/office/powerpoint/2010/main" val="143121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1B53-2A93-5C28-94BE-74C36C3A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2438" cy="1325563"/>
          </a:xfrm>
        </p:spPr>
        <p:txBody>
          <a:bodyPr/>
          <a:lstStyle/>
          <a:p>
            <a:r>
              <a:rPr lang="en-GB" dirty="0"/>
              <a:t>Prospective Memory Decision Control   (PMDC)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334722-2FED-42BA-1A33-D2730B34B9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18"/>
          <a:stretch>
            <a:fillRect/>
          </a:stretch>
        </p:blipFill>
        <p:spPr>
          <a:xfrm>
            <a:off x="4720281" y="1317285"/>
            <a:ext cx="7471719" cy="53728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CC4341-18A8-73DC-0DD7-5B05E3F37D09}"/>
              </a:ext>
            </a:extLst>
          </p:cNvPr>
          <p:cNvSpPr txBox="1"/>
          <p:nvPr/>
        </p:nvSpPr>
        <p:spPr>
          <a:xfrm>
            <a:off x="241890" y="3036271"/>
            <a:ext cx="43939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 Proactive Control</a:t>
            </a:r>
          </a:p>
          <a:p>
            <a:r>
              <a:rPr lang="en-GB" dirty="0"/>
              <a:t>  - For example, an increase in ongoing-</a:t>
            </a:r>
          </a:p>
          <a:p>
            <a:r>
              <a:rPr lang="en-GB" dirty="0"/>
              <a:t>    task thresholds in PM conditions</a:t>
            </a:r>
          </a:p>
          <a:p>
            <a:r>
              <a:rPr lang="en-GB" dirty="0"/>
              <a:t>    relative to control.</a:t>
            </a:r>
          </a:p>
          <a:p>
            <a:endParaRPr lang="en-GB" dirty="0"/>
          </a:p>
          <a:p>
            <a:r>
              <a:rPr lang="en-GB" dirty="0"/>
              <a:t>  - Measures how participants strategically </a:t>
            </a:r>
          </a:p>
          <a:p>
            <a:r>
              <a:rPr lang="en-GB" dirty="0"/>
              <a:t>    delay ongoing-task responding to make   </a:t>
            </a:r>
          </a:p>
          <a:p>
            <a:r>
              <a:rPr lang="en-GB" dirty="0"/>
              <a:t>    more time for PM accumulation/retrieval</a:t>
            </a:r>
          </a:p>
        </p:txBody>
      </p:sp>
    </p:spTree>
    <p:extLst>
      <p:ext uri="{BB962C8B-B14F-4D97-AF65-F5344CB8AC3E}">
        <p14:creationId xmlns:p14="http://schemas.microsoft.com/office/powerpoint/2010/main" val="253208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E148-399C-9737-B301-11E3AB6D2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Reactive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27EF7F-16B6-EC3C-7A2A-9334370A6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481" y="652848"/>
            <a:ext cx="6851136" cy="59947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C3B001-FD77-04D7-6721-20E4D406DDE0}"/>
              </a:ext>
            </a:extLst>
          </p:cNvPr>
          <p:cNvSpPr txBox="1"/>
          <p:nvPr/>
        </p:nvSpPr>
        <p:spPr>
          <a:xfrm>
            <a:off x="412012" y="2911556"/>
            <a:ext cx="39260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Feedforward inhibition induced by PM inputs (</a:t>
            </a:r>
            <a:r>
              <a:rPr lang="en-GB" b="1" dirty="0" err="1"/>
              <a:t>inh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  - The difference between ongoing-</a:t>
            </a:r>
          </a:p>
          <a:p>
            <a:r>
              <a:rPr lang="en-GB" dirty="0"/>
              <a:t>     task accumulation rates in non-PM </a:t>
            </a:r>
          </a:p>
          <a:p>
            <a:r>
              <a:rPr lang="en-GB" dirty="0"/>
              <a:t>     vs. PM trials.</a:t>
            </a:r>
          </a:p>
          <a:p>
            <a:endParaRPr lang="en-GB" dirty="0"/>
          </a:p>
          <a:p>
            <a:r>
              <a:rPr lang="en-GB" dirty="0"/>
              <a:t>  - Indexes the extent to which PM    </a:t>
            </a:r>
          </a:p>
          <a:p>
            <a:r>
              <a:rPr lang="en-GB" dirty="0"/>
              <a:t>    inputs slow the accumulation of the </a:t>
            </a:r>
          </a:p>
          <a:p>
            <a:r>
              <a:rPr lang="en-GB" dirty="0"/>
              <a:t>    on-going task.</a:t>
            </a:r>
          </a:p>
        </p:txBody>
      </p:sp>
    </p:spTree>
    <p:extLst>
      <p:ext uri="{BB962C8B-B14F-4D97-AF65-F5344CB8AC3E}">
        <p14:creationId xmlns:p14="http://schemas.microsoft.com/office/powerpoint/2010/main" val="84601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179</Words>
  <Application>Microsoft Macintosh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Model-Based Neuroscience  &amp;  Cognition  Summer School 2026   Expressing Psychological Theories with EAMs</vt:lpstr>
      <vt:lpstr>Prospective Memory</vt:lpstr>
      <vt:lpstr>Prospective Memory Decision Control   (PMDC)</vt:lpstr>
      <vt:lpstr>Reactive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Heathcote</dc:creator>
  <cp:lastModifiedBy>Andrew Heathcote</cp:lastModifiedBy>
  <cp:revision>17</cp:revision>
  <dcterms:created xsi:type="dcterms:W3CDTF">2024-07-27T08:36:27Z</dcterms:created>
  <dcterms:modified xsi:type="dcterms:W3CDTF">2026-08-12T05:43:29Z</dcterms:modified>
</cp:coreProperties>
</file>